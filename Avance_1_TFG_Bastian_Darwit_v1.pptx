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  <p:sldMasterId id="2147483682" r:id="rId3"/>
  </p:sldMasterIdLst>
  <p:notesMasterIdLst>
    <p:notesMasterId r:id="rId11"/>
  </p:notesMasterIdLst>
  <p:handoutMasterIdLst>
    <p:handoutMasterId r:id="rId12"/>
  </p:handoutMasterIdLst>
  <p:sldIdLst>
    <p:sldId id="300" r:id="rId100"/>
    <p:sldId id="301" r:id="rId101"/>
    <p:sldId id="302" r:id="rId102"/>
    <p:sldId id="303" r:id="rId103"/>
    <p:sldId id="304" r:id="rId104"/>
    <p:sldId id="305" r:id="rId105"/>
    <p:sldId id="306" r:id="rId106"/>
    <p:sldId id="307" r:id="rId107"/>
    <p:sldId id="308" r:id="rId108"/>
  </p:sldIdLst>
  <p:sldSz cx="9144000" cy="6858000" type="screen4x3"/>
  <p:notesSz cx="7053263" cy="9309100"/>
  <p:defaultTextStyle>
    <a:defPPr>
      <a:defRPr lang="es-CL"/>
    </a:defPPr>
    <a:lvl1pPr marL="0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6980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3961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0940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7921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4899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1882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8861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5840" algn="l" defTabSz="913961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Estilo claro 3 - Acento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4" d="100"/>
          <a:sy n="114" d="100"/>
        </p:scale>
        <p:origin x="-1470" y="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notesMaster" Target="notesMasters/notesMaster1.xml"/><Relationship Id="rId15" Type="http://schemas.openxmlformats.org/officeDocument/2006/relationships/theme" Target="theme/theme1.xml"/><Relationship Id="rId14" Type="http://schemas.openxmlformats.org/officeDocument/2006/relationships/viewProps" Target="viewProps.xml"/><Relationship Id="rId100" Type="http://schemas.openxmlformats.org/officeDocument/2006/relationships/slide" Target="slides/slide1.xml"/><Relationship Id="rId101" Type="http://schemas.openxmlformats.org/officeDocument/2006/relationships/slide" Target="slides/slide2.xml"/><Relationship Id="rId102" Type="http://schemas.openxmlformats.org/officeDocument/2006/relationships/slide" Target="slides/slide3.xml"/><Relationship Id="rId103" Type="http://schemas.openxmlformats.org/officeDocument/2006/relationships/slide" Target="slides/slide4.xml"/><Relationship Id="rId104" Type="http://schemas.openxmlformats.org/officeDocument/2006/relationships/slide" Target="slides/slide5.xml"/><Relationship Id="rId105" Type="http://schemas.openxmlformats.org/officeDocument/2006/relationships/slide" Target="slides/slide6.xml"/><Relationship Id="rId106" Type="http://schemas.openxmlformats.org/officeDocument/2006/relationships/slide" Target="slides/slide7.xml"/><Relationship Id="rId107" Type="http://schemas.openxmlformats.org/officeDocument/2006/relationships/slide" Target="slides/slide8.xml"/><Relationship Id="rId108" Type="http://schemas.openxmlformats.org/officeDocument/2006/relationships/slide" Target="slides/slide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995217" y="0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/>
          <a:lstStyle>
            <a:lvl1pPr algn="r">
              <a:defRPr sz="1200"/>
            </a:lvl1pPr>
          </a:lstStyle>
          <a:p>
            <a:fld id="{F7441441-8FC0-4A30-89C4-F31D5A1C1895}" type="datetimeFigureOut">
              <a:rPr lang="es-CL" smtClean="0"/>
              <a:t>09-08-2017</a:t>
            </a:fld>
            <a:endParaRPr lang="es-CL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995217" y="8842029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 anchor="b"/>
          <a:lstStyle>
            <a:lvl1pPr algn="r">
              <a:defRPr sz="1200"/>
            </a:lvl1pPr>
          </a:lstStyle>
          <a:p>
            <a:fld id="{36487FEA-E5F0-44EA-AEEE-18FE56B89470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401294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995217" y="0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/>
          <a:lstStyle>
            <a:lvl1pPr algn="r">
              <a:defRPr sz="1200"/>
            </a:lvl1pPr>
          </a:lstStyle>
          <a:p>
            <a:fld id="{931033AC-E193-49D3-90A8-424EF36BA0C9}" type="datetimeFigureOut">
              <a:rPr lang="es-CL" smtClean="0"/>
              <a:t>09-08-2017</a:t>
            </a:fld>
            <a:endParaRPr lang="es-CL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497" tIns="46749" rIns="93497" bIns="46749" rtlCol="0" anchor="ctr"/>
          <a:lstStyle/>
          <a:p>
            <a:endParaRPr lang="es-CL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705327" y="4421823"/>
            <a:ext cx="5642610" cy="4189095"/>
          </a:xfrm>
          <a:prstGeom prst="rect">
            <a:avLst/>
          </a:prstGeom>
        </p:spPr>
        <p:txBody>
          <a:bodyPr vert="horz" lIns="93497" tIns="46749" rIns="93497" bIns="46749" rtlCol="0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995217" y="8842029"/>
            <a:ext cx="3056414" cy="465455"/>
          </a:xfrm>
          <a:prstGeom prst="rect">
            <a:avLst/>
          </a:prstGeom>
        </p:spPr>
        <p:txBody>
          <a:bodyPr vert="horz" lIns="93497" tIns="46749" rIns="93497" bIns="46749" rtlCol="0" anchor="b"/>
          <a:lstStyle>
            <a:lvl1pPr algn="r">
              <a:defRPr sz="1200"/>
            </a:lvl1pPr>
          </a:lstStyle>
          <a:p>
            <a:fld id="{724653D3-67DB-4300-BF3B-A2F64A35162B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40270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7"/>
            <a:ext cx="7772400" cy="1470025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0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1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2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3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4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1545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4369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5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05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10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1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21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2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32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37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4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0800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2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2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435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053" indent="0">
              <a:buNone/>
              <a:defRPr sz="2000" b="1"/>
            </a:lvl2pPr>
            <a:lvl3pPr marL="914107" indent="0">
              <a:buNone/>
              <a:defRPr sz="1800" b="1"/>
            </a:lvl3pPr>
            <a:lvl4pPr marL="1371160" indent="0">
              <a:buNone/>
              <a:defRPr sz="1600" b="1"/>
            </a:lvl4pPr>
            <a:lvl5pPr marL="1828214" indent="0">
              <a:buNone/>
              <a:defRPr sz="1600" b="1"/>
            </a:lvl5pPr>
            <a:lvl6pPr marL="2285266" indent="0">
              <a:buNone/>
              <a:defRPr sz="1600" b="1"/>
            </a:lvl6pPr>
            <a:lvl7pPr marL="2742321" indent="0">
              <a:buNone/>
              <a:defRPr sz="1600" b="1"/>
            </a:lvl7pPr>
            <a:lvl8pPr marL="3199374" indent="0">
              <a:buNone/>
              <a:defRPr sz="1600" b="1"/>
            </a:lvl8pPr>
            <a:lvl9pPr marL="3656426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053" indent="0">
              <a:buNone/>
              <a:defRPr sz="2000" b="1"/>
            </a:lvl2pPr>
            <a:lvl3pPr marL="914107" indent="0">
              <a:buNone/>
              <a:defRPr sz="1800" b="1"/>
            </a:lvl3pPr>
            <a:lvl4pPr marL="1371160" indent="0">
              <a:buNone/>
              <a:defRPr sz="1600" b="1"/>
            </a:lvl4pPr>
            <a:lvl5pPr marL="1828214" indent="0">
              <a:buNone/>
              <a:defRPr sz="1600" b="1"/>
            </a:lvl5pPr>
            <a:lvl6pPr marL="2285266" indent="0">
              <a:buNone/>
              <a:defRPr sz="1600" b="1"/>
            </a:lvl6pPr>
            <a:lvl7pPr marL="2742321" indent="0">
              <a:buNone/>
              <a:defRPr sz="1600" b="1"/>
            </a:lvl7pPr>
            <a:lvl8pPr marL="3199374" indent="0">
              <a:buNone/>
              <a:defRPr sz="1600" b="1"/>
            </a:lvl8pPr>
            <a:lvl9pPr marL="3656426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3234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6" name="5 Imagen" descr="ACADÉMICA 1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14087" y="0"/>
            <a:ext cx="91158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4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17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2" y="273051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2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053" indent="0">
              <a:buNone/>
              <a:defRPr sz="1200"/>
            </a:lvl2pPr>
            <a:lvl3pPr marL="914107" indent="0">
              <a:buNone/>
              <a:defRPr sz="1000"/>
            </a:lvl3pPr>
            <a:lvl4pPr marL="1371160" indent="0">
              <a:buNone/>
              <a:defRPr sz="900"/>
            </a:lvl4pPr>
            <a:lvl5pPr marL="1828214" indent="0">
              <a:buNone/>
              <a:defRPr sz="900"/>
            </a:lvl5pPr>
            <a:lvl6pPr marL="2285266" indent="0">
              <a:buNone/>
              <a:defRPr sz="900"/>
            </a:lvl6pPr>
            <a:lvl7pPr marL="2742321" indent="0">
              <a:buNone/>
              <a:defRPr sz="900"/>
            </a:lvl7pPr>
            <a:lvl8pPr marL="3199374" indent="0">
              <a:buNone/>
              <a:defRPr sz="900"/>
            </a:lvl8pPr>
            <a:lvl9pPr marL="3656426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9473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053" indent="0">
              <a:buNone/>
              <a:defRPr sz="2800"/>
            </a:lvl2pPr>
            <a:lvl3pPr marL="914107" indent="0">
              <a:buNone/>
              <a:defRPr sz="2400"/>
            </a:lvl3pPr>
            <a:lvl4pPr marL="1371160" indent="0">
              <a:buNone/>
              <a:defRPr sz="2000"/>
            </a:lvl4pPr>
            <a:lvl5pPr marL="1828214" indent="0">
              <a:buNone/>
              <a:defRPr sz="2000"/>
            </a:lvl5pPr>
            <a:lvl6pPr marL="2285266" indent="0">
              <a:buNone/>
              <a:defRPr sz="2000"/>
            </a:lvl6pPr>
            <a:lvl7pPr marL="2742321" indent="0">
              <a:buNone/>
              <a:defRPr sz="2000"/>
            </a:lvl7pPr>
            <a:lvl8pPr marL="3199374" indent="0">
              <a:buNone/>
              <a:defRPr sz="2000"/>
            </a:lvl8pPr>
            <a:lvl9pPr marL="3656426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053" indent="0">
              <a:buNone/>
              <a:defRPr sz="1200"/>
            </a:lvl2pPr>
            <a:lvl3pPr marL="914107" indent="0">
              <a:buNone/>
              <a:defRPr sz="1000"/>
            </a:lvl3pPr>
            <a:lvl4pPr marL="1371160" indent="0">
              <a:buNone/>
              <a:defRPr sz="900"/>
            </a:lvl4pPr>
            <a:lvl5pPr marL="1828214" indent="0">
              <a:buNone/>
              <a:defRPr sz="900"/>
            </a:lvl5pPr>
            <a:lvl6pPr marL="2285266" indent="0">
              <a:buNone/>
              <a:defRPr sz="900"/>
            </a:lvl6pPr>
            <a:lvl7pPr marL="2742321" indent="0">
              <a:buNone/>
              <a:defRPr sz="900"/>
            </a:lvl7pPr>
            <a:lvl8pPr marL="3199374" indent="0">
              <a:buNone/>
              <a:defRPr sz="900"/>
            </a:lvl8pPr>
            <a:lvl9pPr marL="3656426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5409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404" y="2130085"/>
            <a:ext cx="7773193" cy="1470472"/>
          </a:xfrm>
        </p:spPr>
        <p:txBody>
          <a:bodyPr/>
          <a:lstStyle/>
          <a:p>
            <a:r>
              <a:rPr lang="es-ES" dirty="0" smtClean="0"/>
              <a:t>Haga clic para modificar el estilo de título del patrón</a:t>
            </a:r>
            <a:endParaRPr lang="es-CL" dirty="0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2250" y="3886248"/>
            <a:ext cx="6399501" cy="175196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01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0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04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05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0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0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70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81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dirty="0" smtClean="0"/>
              <a:t>Haga clic para modificar el estilo de subtítulo del patrón</a:t>
            </a:r>
            <a:endParaRPr lang="es-CL" dirty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752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91938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921" y="4407215"/>
            <a:ext cx="7771750" cy="1361237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921" y="2907333"/>
            <a:ext cx="7771750" cy="1499881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101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2026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3040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4053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5067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46080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87093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281073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12585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417" y="1600715"/>
            <a:ext cx="4044600" cy="4524851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0540" y="1600715"/>
            <a:ext cx="4046043" cy="4524851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8288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418" y="1534892"/>
            <a:ext cx="4040271" cy="6400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134" indent="0">
              <a:buNone/>
              <a:defRPr sz="1800" b="1"/>
            </a:lvl2pPr>
            <a:lvl3pPr marL="820269" indent="0">
              <a:buNone/>
              <a:defRPr sz="1600" b="1"/>
            </a:lvl3pPr>
            <a:lvl4pPr marL="1230403" indent="0">
              <a:buNone/>
              <a:defRPr sz="1400" b="1"/>
            </a:lvl4pPr>
            <a:lvl5pPr marL="1640536" indent="0">
              <a:buNone/>
              <a:defRPr sz="1400" b="1"/>
            </a:lvl5pPr>
            <a:lvl6pPr marL="2050670" indent="0">
              <a:buNone/>
              <a:defRPr sz="1400" b="1"/>
            </a:lvl6pPr>
            <a:lvl7pPr marL="2460804" indent="0">
              <a:buNone/>
              <a:defRPr sz="1400" b="1"/>
            </a:lvl7pPr>
            <a:lvl8pPr marL="2870939" indent="0">
              <a:buNone/>
              <a:defRPr sz="1400" b="1"/>
            </a:lvl8pPr>
            <a:lvl9pPr marL="3281073" indent="0">
              <a:buNone/>
              <a:defRPr sz="14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418" y="2174899"/>
            <a:ext cx="4040271" cy="395066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4871" y="1534892"/>
            <a:ext cx="4041714" cy="6400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134" indent="0">
              <a:buNone/>
              <a:defRPr sz="1800" b="1"/>
            </a:lvl2pPr>
            <a:lvl3pPr marL="820269" indent="0">
              <a:buNone/>
              <a:defRPr sz="1600" b="1"/>
            </a:lvl3pPr>
            <a:lvl4pPr marL="1230403" indent="0">
              <a:buNone/>
              <a:defRPr sz="1400" b="1"/>
            </a:lvl4pPr>
            <a:lvl5pPr marL="1640536" indent="0">
              <a:buNone/>
              <a:defRPr sz="1400" b="1"/>
            </a:lvl5pPr>
            <a:lvl6pPr marL="2050670" indent="0">
              <a:buNone/>
              <a:defRPr sz="1400" b="1"/>
            </a:lvl6pPr>
            <a:lvl7pPr marL="2460804" indent="0">
              <a:buNone/>
              <a:defRPr sz="1400" b="1"/>
            </a:lvl7pPr>
            <a:lvl8pPr marL="2870939" indent="0">
              <a:buNone/>
              <a:defRPr sz="1400" b="1"/>
            </a:lvl8pPr>
            <a:lvl9pPr marL="3281073" indent="0">
              <a:buNone/>
              <a:defRPr sz="14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4871" y="2174899"/>
            <a:ext cx="4041714" cy="395066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51738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01910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0374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418" y="273089"/>
            <a:ext cx="3008559" cy="1162373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642" y="273089"/>
            <a:ext cx="5110943" cy="5852477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418" y="1435461"/>
            <a:ext cx="3008559" cy="4690104"/>
          </a:xfrm>
        </p:spPr>
        <p:txBody>
          <a:bodyPr/>
          <a:lstStyle>
            <a:lvl1pPr marL="0" indent="0">
              <a:buNone/>
              <a:defRPr sz="1300"/>
            </a:lvl1pPr>
            <a:lvl2pPr marL="410134" indent="0">
              <a:buNone/>
              <a:defRPr sz="1100"/>
            </a:lvl2pPr>
            <a:lvl3pPr marL="820269" indent="0">
              <a:buNone/>
              <a:defRPr sz="900"/>
            </a:lvl3pPr>
            <a:lvl4pPr marL="1230403" indent="0">
              <a:buNone/>
              <a:defRPr sz="800"/>
            </a:lvl4pPr>
            <a:lvl5pPr marL="1640536" indent="0">
              <a:buNone/>
              <a:defRPr sz="800"/>
            </a:lvl5pPr>
            <a:lvl6pPr marL="2050670" indent="0">
              <a:buNone/>
              <a:defRPr sz="800"/>
            </a:lvl6pPr>
            <a:lvl7pPr marL="2460804" indent="0">
              <a:buNone/>
              <a:defRPr sz="800"/>
            </a:lvl7pPr>
            <a:lvl8pPr marL="2870939" indent="0">
              <a:buNone/>
              <a:defRPr sz="800"/>
            </a:lvl8pPr>
            <a:lvl9pPr marL="3281073" indent="0">
              <a:buNone/>
              <a:defRPr sz="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12237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150" y="4800740"/>
            <a:ext cx="5486111" cy="56718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150" y="613398"/>
            <a:ext cx="5486111" cy="4114520"/>
          </a:xfrm>
        </p:spPr>
        <p:txBody>
          <a:bodyPr/>
          <a:lstStyle>
            <a:lvl1pPr marL="0" indent="0">
              <a:buNone/>
              <a:defRPr sz="2900"/>
            </a:lvl1pPr>
            <a:lvl2pPr marL="410134" indent="0">
              <a:buNone/>
              <a:defRPr sz="2500"/>
            </a:lvl2pPr>
            <a:lvl3pPr marL="820269" indent="0">
              <a:buNone/>
              <a:defRPr sz="2200"/>
            </a:lvl3pPr>
            <a:lvl4pPr marL="1230403" indent="0">
              <a:buNone/>
              <a:defRPr sz="1800"/>
            </a:lvl4pPr>
            <a:lvl5pPr marL="1640536" indent="0">
              <a:buNone/>
              <a:defRPr sz="1800"/>
            </a:lvl5pPr>
            <a:lvl6pPr marL="2050670" indent="0">
              <a:buNone/>
              <a:defRPr sz="1800"/>
            </a:lvl6pPr>
            <a:lvl7pPr marL="2460804" indent="0">
              <a:buNone/>
              <a:defRPr sz="1800"/>
            </a:lvl7pPr>
            <a:lvl8pPr marL="2870939" indent="0">
              <a:buNone/>
              <a:defRPr sz="1800"/>
            </a:lvl8pPr>
            <a:lvl9pPr marL="3281073" indent="0">
              <a:buNone/>
              <a:defRPr sz="1800"/>
            </a:lvl9pPr>
          </a:lstStyle>
          <a:p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150" y="5367922"/>
            <a:ext cx="5486111" cy="803858"/>
          </a:xfrm>
        </p:spPr>
        <p:txBody>
          <a:bodyPr/>
          <a:lstStyle>
            <a:lvl1pPr marL="0" indent="0">
              <a:buNone/>
              <a:defRPr sz="1300"/>
            </a:lvl1pPr>
            <a:lvl2pPr marL="410134" indent="0">
              <a:buNone/>
              <a:defRPr sz="1100"/>
            </a:lvl2pPr>
            <a:lvl3pPr marL="820269" indent="0">
              <a:buNone/>
              <a:defRPr sz="900"/>
            </a:lvl3pPr>
            <a:lvl4pPr marL="1230403" indent="0">
              <a:buNone/>
              <a:defRPr sz="800"/>
            </a:lvl4pPr>
            <a:lvl5pPr marL="1640536" indent="0">
              <a:buNone/>
              <a:defRPr sz="800"/>
            </a:lvl5pPr>
            <a:lvl6pPr marL="2050670" indent="0">
              <a:buNone/>
              <a:defRPr sz="800"/>
            </a:lvl6pPr>
            <a:lvl7pPr marL="2460804" indent="0">
              <a:buNone/>
              <a:defRPr sz="800"/>
            </a:lvl7pPr>
            <a:lvl8pPr marL="2870939" indent="0">
              <a:buNone/>
              <a:defRPr sz="800"/>
            </a:lvl8pPr>
            <a:lvl9pPr marL="3281073" indent="0">
              <a:buNone/>
              <a:defRPr sz="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512476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4966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30376" y="274489"/>
            <a:ext cx="2056209" cy="5851077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417" y="274489"/>
            <a:ext cx="6034434" cy="5851077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70648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404" y="2130084"/>
            <a:ext cx="7773193" cy="1470472"/>
          </a:xfrm>
        </p:spPr>
        <p:txBody>
          <a:bodyPr/>
          <a:lstStyle/>
          <a:p>
            <a:r>
              <a:rPr lang="es-ES" dirty="0" smtClean="0"/>
              <a:t>Haga clic para modificar el estilo de título del patrón</a:t>
            </a:r>
            <a:endParaRPr lang="es-CL" dirty="0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2250" y="3886247"/>
            <a:ext cx="6399501" cy="175196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0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30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407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509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61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713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815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dirty="0" smtClean="0"/>
              <a:t>Haga clic para modificar el estilo de subtítulo del patrón</a:t>
            </a:r>
            <a:endParaRPr lang="es-CL" dirty="0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46760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24076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921" y="4407214"/>
            <a:ext cx="7771750" cy="1361237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921" y="2907333"/>
            <a:ext cx="7771750" cy="1499881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10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2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306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407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0509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4611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8713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281599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737934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417" y="1600714"/>
            <a:ext cx="4044600" cy="4524851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0540" y="1600714"/>
            <a:ext cx="4046043" cy="4524851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46000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417" y="1534892"/>
            <a:ext cx="4040271" cy="6400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200" indent="0">
              <a:buNone/>
              <a:defRPr sz="1800" b="1"/>
            </a:lvl2pPr>
            <a:lvl3pPr marL="820400" indent="0">
              <a:buNone/>
              <a:defRPr sz="1600" b="1"/>
            </a:lvl3pPr>
            <a:lvl4pPr marL="1230600" indent="0">
              <a:buNone/>
              <a:defRPr sz="1400" b="1"/>
            </a:lvl4pPr>
            <a:lvl5pPr marL="1640799" indent="0">
              <a:buNone/>
              <a:defRPr sz="1400" b="1"/>
            </a:lvl5pPr>
            <a:lvl6pPr marL="2050999" indent="0">
              <a:buNone/>
              <a:defRPr sz="1400" b="1"/>
            </a:lvl6pPr>
            <a:lvl7pPr marL="2461199" indent="0">
              <a:buNone/>
              <a:defRPr sz="1400" b="1"/>
            </a:lvl7pPr>
            <a:lvl8pPr marL="2871399" indent="0">
              <a:buNone/>
              <a:defRPr sz="1400" b="1"/>
            </a:lvl8pPr>
            <a:lvl9pPr marL="3281599" indent="0">
              <a:buNone/>
              <a:defRPr sz="14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417" y="2174898"/>
            <a:ext cx="4040271" cy="395066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4870" y="1534892"/>
            <a:ext cx="4041714" cy="640006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0200" indent="0">
              <a:buNone/>
              <a:defRPr sz="1800" b="1"/>
            </a:lvl2pPr>
            <a:lvl3pPr marL="820400" indent="0">
              <a:buNone/>
              <a:defRPr sz="1600" b="1"/>
            </a:lvl3pPr>
            <a:lvl4pPr marL="1230600" indent="0">
              <a:buNone/>
              <a:defRPr sz="1400" b="1"/>
            </a:lvl4pPr>
            <a:lvl5pPr marL="1640799" indent="0">
              <a:buNone/>
              <a:defRPr sz="1400" b="1"/>
            </a:lvl5pPr>
            <a:lvl6pPr marL="2050999" indent="0">
              <a:buNone/>
              <a:defRPr sz="1400" b="1"/>
            </a:lvl6pPr>
            <a:lvl7pPr marL="2461199" indent="0">
              <a:buNone/>
              <a:defRPr sz="1400" b="1"/>
            </a:lvl7pPr>
            <a:lvl8pPr marL="2871399" indent="0">
              <a:buNone/>
              <a:defRPr sz="1400" b="1"/>
            </a:lvl8pPr>
            <a:lvl9pPr marL="3281599" indent="0">
              <a:buNone/>
              <a:defRPr sz="14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4870" y="2174898"/>
            <a:ext cx="4041714" cy="3950667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979471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544215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58548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417" y="273088"/>
            <a:ext cx="3008559" cy="1162373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641" y="273088"/>
            <a:ext cx="5110943" cy="5852477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417" y="1435461"/>
            <a:ext cx="3008559" cy="4690104"/>
          </a:xfrm>
        </p:spPr>
        <p:txBody>
          <a:bodyPr/>
          <a:lstStyle>
            <a:lvl1pPr marL="0" indent="0">
              <a:buNone/>
              <a:defRPr sz="1300"/>
            </a:lvl1pPr>
            <a:lvl2pPr marL="410200" indent="0">
              <a:buNone/>
              <a:defRPr sz="1100"/>
            </a:lvl2pPr>
            <a:lvl3pPr marL="820400" indent="0">
              <a:buNone/>
              <a:defRPr sz="900"/>
            </a:lvl3pPr>
            <a:lvl4pPr marL="1230600" indent="0">
              <a:buNone/>
              <a:defRPr sz="800"/>
            </a:lvl4pPr>
            <a:lvl5pPr marL="1640799" indent="0">
              <a:buNone/>
              <a:defRPr sz="800"/>
            </a:lvl5pPr>
            <a:lvl6pPr marL="2050999" indent="0">
              <a:buNone/>
              <a:defRPr sz="800"/>
            </a:lvl6pPr>
            <a:lvl7pPr marL="2461199" indent="0">
              <a:buNone/>
              <a:defRPr sz="800"/>
            </a:lvl7pPr>
            <a:lvl8pPr marL="2871399" indent="0">
              <a:buNone/>
              <a:defRPr sz="800"/>
            </a:lvl8pPr>
            <a:lvl9pPr marL="3281599" indent="0">
              <a:buNone/>
              <a:defRPr sz="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48275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149" y="4800740"/>
            <a:ext cx="5486111" cy="56718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149" y="613397"/>
            <a:ext cx="5486111" cy="4114520"/>
          </a:xfrm>
        </p:spPr>
        <p:txBody>
          <a:bodyPr/>
          <a:lstStyle>
            <a:lvl1pPr marL="0" indent="0">
              <a:buNone/>
              <a:defRPr sz="2900"/>
            </a:lvl1pPr>
            <a:lvl2pPr marL="410200" indent="0">
              <a:buNone/>
              <a:defRPr sz="2500"/>
            </a:lvl2pPr>
            <a:lvl3pPr marL="820400" indent="0">
              <a:buNone/>
              <a:defRPr sz="2200"/>
            </a:lvl3pPr>
            <a:lvl4pPr marL="1230600" indent="0">
              <a:buNone/>
              <a:defRPr sz="1800"/>
            </a:lvl4pPr>
            <a:lvl5pPr marL="1640799" indent="0">
              <a:buNone/>
              <a:defRPr sz="1800"/>
            </a:lvl5pPr>
            <a:lvl6pPr marL="2050999" indent="0">
              <a:buNone/>
              <a:defRPr sz="1800"/>
            </a:lvl6pPr>
            <a:lvl7pPr marL="2461199" indent="0">
              <a:buNone/>
              <a:defRPr sz="1800"/>
            </a:lvl7pPr>
            <a:lvl8pPr marL="2871399" indent="0">
              <a:buNone/>
              <a:defRPr sz="1800"/>
            </a:lvl8pPr>
            <a:lvl9pPr marL="3281599" indent="0">
              <a:buNone/>
              <a:defRPr sz="1800"/>
            </a:lvl9pPr>
          </a:lstStyle>
          <a:p>
            <a:endParaRPr lang="es-CL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149" y="5367922"/>
            <a:ext cx="5486111" cy="803858"/>
          </a:xfrm>
        </p:spPr>
        <p:txBody>
          <a:bodyPr/>
          <a:lstStyle>
            <a:lvl1pPr marL="0" indent="0">
              <a:buNone/>
              <a:defRPr sz="1300"/>
            </a:lvl1pPr>
            <a:lvl2pPr marL="410200" indent="0">
              <a:buNone/>
              <a:defRPr sz="1100"/>
            </a:lvl2pPr>
            <a:lvl3pPr marL="820400" indent="0">
              <a:buNone/>
              <a:defRPr sz="900"/>
            </a:lvl3pPr>
            <a:lvl4pPr marL="1230600" indent="0">
              <a:buNone/>
              <a:defRPr sz="800"/>
            </a:lvl4pPr>
            <a:lvl5pPr marL="1640799" indent="0">
              <a:buNone/>
              <a:defRPr sz="800"/>
            </a:lvl5pPr>
            <a:lvl6pPr marL="2050999" indent="0">
              <a:buNone/>
              <a:defRPr sz="800"/>
            </a:lvl6pPr>
            <a:lvl7pPr marL="2461199" indent="0">
              <a:buNone/>
              <a:defRPr sz="800"/>
            </a:lvl7pPr>
            <a:lvl8pPr marL="2871399" indent="0">
              <a:buNone/>
              <a:defRPr sz="800"/>
            </a:lvl8pPr>
            <a:lvl9pPr marL="3281599" indent="0">
              <a:buNone/>
              <a:defRPr sz="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1883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4866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30375" y="274488"/>
            <a:ext cx="2056209" cy="5851077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417" y="274488"/>
            <a:ext cx="6034434" cy="5851077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7462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hyperlink" Target="http://www.ufro.cl/" TargetMode="Externa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hyperlink" Target="http://www.ufro.cl/" TargetMode="Externa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image" Target="../media/image3.jpeg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hyperlink" Target="http://www.ufro.cl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2" y="274639"/>
            <a:ext cx="8229600" cy="1143000"/>
          </a:xfrm>
          <a:prstGeom prst="rect">
            <a:avLst/>
          </a:prstGeom>
        </p:spPr>
        <p:txBody>
          <a:bodyPr vert="horz" lIns="91411" tIns="45704" rIns="91411" bIns="45704" rtlCol="0" anchor="ctr">
            <a:normAutofit/>
          </a:bodyPr>
          <a:lstStyle/>
          <a:p>
            <a:r>
              <a:rPr lang="es-ES" dirty="0" smtClean="0"/>
              <a:t>Haga clic para modificar el estilo de título del patrón</a:t>
            </a:r>
            <a:endParaRPr lang="es-CL" dirty="0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2" y="1600202"/>
            <a:ext cx="8229600" cy="4525963"/>
          </a:xfrm>
          <a:prstGeom prst="rect">
            <a:avLst/>
          </a:prstGeom>
        </p:spPr>
        <p:txBody>
          <a:bodyPr vert="horz" lIns="91411" tIns="45704" rIns="91411" bIns="45704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2"/>
            <a:ext cx="2133600" cy="365125"/>
          </a:xfrm>
          <a:prstGeom prst="rect">
            <a:avLst/>
          </a:prstGeom>
        </p:spPr>
        <p:txBody>
          <a:bodyPr vert="horz" lIns="91411" tIns="45704" rIns="91411" bIns="45704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fld id="{109A6D5B-B4A4-483F-9CD3-3E3D1DF6D3BC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107"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2" y="6356352"/>
            <a:ext cx="2895600" cy="365125"/>
          </a:xfrm>
          <a:prstGeom prst="rect">
            <a:avLst/>
          </a:prstGeom>
        </p:spPr>
        <p:txBody>
          <a:bodyPr vert="horz" lIns="91411" tIns="45704" rIns="91411" bIns="45704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2" y="6356352"/>
            <a:ext cx="2133600" cy="365125"/>
          </a:xfrm>
          <a:prstGeom prst="rect">
            <a:avLst/>
          </a:prstGeom>
        </p:spPr>
        <p:txBody>
          <a:bodyPr vert="horz" lIns="91411" tIns="45704" rIns="91411" bIns="45704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fld id="{D0C98D3C-C1FD-49F7-AE1B-30D0118F83EB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107"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8" name="7 Imagen" descr="ACADÉMICA 1.jpg"/>
          <p:cNvPicPr>
            <a:picLocks noChangeAspect="1"/>
          </p:cNvPicPr>
          <p:nvPr userDrawn="1"/>
        </p:nvPicPr>
        <p:blipFill>
          <a:blip r:embed="rId11" cstate="print"/>
          <a:stretch>
            <a:fillRect/>
          </a:stretch>
        </p:blipFill>
        <p:spPr>
          <a:xfrm>
            <a:off x="14089" y="2"/>
            <a:ext cx="9115825" cy="6857999"/>
          </a:xfrm>
          <a:prstGeom prst="rect">
            <a:avLst/>
          </a:prstGeom>
        </p:spPr>
      </p:pic>
      <p:sp>
        <p:nvSpPr>
          <p:cNvPr id="9" name="8 CuadroTexto">
            <a:hlinkClick r:id="rId12"/>
          </p:cNvPr>
          <p:cNvSpPr txBox="1"/>
          <p:nvPr userDrawn="1"/>
        </p:nvSpPr>
        <p:spPr>
          <a:xfrm>
            <a:off x="4117466" y="2483691"/>
            <a:ext cx="1038934" cy="282884"/>
          </a:xfrm>
          <a:prstGeom prst="rect">
            <a:avLst/>
          </a:prstGeom>
          <a:noFill/>
        </p:spPr>
        <p:txBody>
          <a:bodyPr wrap="square" lIns="82027" tIns="41014" rIns="82027" bIns="41014" rtlCol="0">
            <a:spAutoFit/>
          </a:bodyPr>
          <a:lstStyle/>
          <a:p>
            <a:pPr algn="ctr" defTabSz="914107"/>
            <a:r>
              <a:rPr lang="es-ES" sz="1300" b="1" dirty="0" smtClean="0">
                <a:solidFill>
                  <a:srgbClr val="1F497D">
                    <a:lumMod val="75000"/>
                  </a:srgbClr>
                </a:solidFill>
                <a:cs typeface="Calibri" pitchFamily="34" charset="0"/>
              </a:rPr>
              <a:t>www.ufro.cl</a:t>
            </a:r>
            <a:endParaRPr lang="es-CL" sz="1300" b="1" dirty="0">
              <a:solidFill>
                <a:srgbClr val="1F497D">
                  <a:lumMod val="75000"/>
                </a:srgbClr>
              </a:solidFill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8317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ctr" defTabSz="914107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0" indent="-342790" algn="l" defTabSz="914107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711" indent="-285659" algn="l" defTabSz="914107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634" indent="-228527" algn="l" defTabSz="91410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688" indent="-228527" algn="l" defTabSz="91410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741" indent="-228527" algn="l" defTabSz="91410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794" indent="-228527" algn="l" defTabSz="91410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847" indent="-228527" algn="l" defTabSz="91410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902" indent="-228527" algn="l" defTabSz="91410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954" indent="-228527" algn="l" defTabSz="914107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3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7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60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14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66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21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74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26" algn="l" defTabSz="9141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417" y="274489"/>
            <a:ext cx="8229166" cy="1142767"/>
          </a:xfrm>
          <a:prstGeom prst="rect">
            <a:avLst/>
          </a:prstGeom>
        </p:spPr>
        <p:txBody>
          <a:bodyPr vert="horz" lIns="82027" tIns="41014" rIns="82027" bIns="41014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417" y="1600715"/>
            <a:ext cx="8229166" cy="4524851"/>
          </a:xfrm>
          <a:prstGeom prst="rect">
            <a:avLst/>
          </a:prstGeom>
        </p:spPr>
        <p:txBody>
          <a:bodyPr vert="horz" lIns="82027" tIns="41014" rIns="82027" bIns="41014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417" y="6356641"/>
            <a:ext cx="2132686" cy="365517"/>
          </a:xfrm>
          <a:prstGeom prst="rect">
            <a:avLst/>
          </a:prstGeom>
        </p:spPr>
        <p:txBody>
          <a:bodyPr vert="horz" lIns="82027" tIns="41014" rIns="82027" bIns="41014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107"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3996" y="6356641"/>
            <a:ext cx="2896008" cy="365517"/>
          </a:xfrm>
          <a:prstGeom prst="rect">
            <a:avLst/>
          </a:prstGeom>
        </p:spPr>
        <p:txBody>
          <a:bodyPr vert="horz" lIns="82027" tIns="41014" rIns="82027" bIns="41014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898" y="6356641"/>
            <a:ext cx="2132686" cy="365517"/>
          </a:xfrm>
          <a:prstGeom prst="rect">
            <a:avLst/>
          </a:prstGeom>
        </p:spPr>
        <p:txBody>
          <a:bodyPr vert="horz" lIns="82027" tIns="41014" rIns="82027" bIns="41014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107"/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107"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7" name="6 Imagen" descr="ACADÉMICA 2.jpg"/>
          <p:cNvPicPr>
            <a:picLocks noChangeAspect="1"/>
          </p:cNvPicPr>
          <p:nvPr userDrawn="1"/>
        </p:nvPicPr>
        <p:blipFill>
          <a:blip r:embed="rId13" cstate="print"/>
          <a:stretch>
            <a:fillRect/>
          </a:stretch>
        </p:blipFill>
        <p:spPr>
          <a:xfrm>
            <a:off x="14087" y="2"/>
            <a:ext cx="9115824" cy="6857999"/>
          </a:xfrm>
          <a:prstGeom prst="rect">
            <a:avLst/>
          </a:prstGeom>
        </p:spPr>
      </p:pic>
      <p:sp>
        <p:nvSpPr>
          <p:cNvPr id="8" name="7 CuadroTexto">
            <a:hlinkClick r:id="rId14"/>
          </p:cNvPr>
          <p:cNvSpPr txBox="1"/>
          <p:nvPr userDrawn="1"/>
        </p:nvSpPr>
        <p:spPr>
          <a:xfrm>
            <a:off x="6909602" y="6517013"/>
            <a:ext cx="1038934" cy="282884"/>
          </a:xfrm>
          <a:prstGeom prst="rect">
            <a:avLst/>
          </a:prstGeom>
          <a:noFill/>
        </p:spPr>
        <p:txBody>
          <a:bodyPr wrap="square" lIns="82027" tIns="41014" rIns="82027" bIns="41014" rtlCol="0">
            <a:spAutoFit/>
          </a:bodyPr>
          <a:lstStyle/>
          <a:p>
            <a:pPr algn="ctr" defTabSz="914107"/>
            <a:r>
              <a:rPr lang="es-ES" sz="1300" b="1" dirty="0" smtClean="0">
                <a:solidFill>
                  <a:prstClr val="white"/>
                </a:solidFill>
                <a:cs typeface="Calibri" pitchFamily="34" charset="0"/>
              </a:rPr>
              <a:t>www.ufro.cl</a:t>
            </a:r>
            <a:endParaRPr lang="es-CL" sz="1300" b="1" dirty="0">
              <a:solidFill>
                <a:prstClr val="white"/>
              </a:solidFill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4036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txStyles>
    <p:titleStyle>
      <a:lvl1pPr algn="ctr" defTabSz="820269" rtl="0" eaLnBrk="1" latinLnBrk="0" hangingPunct="1">
        <a:spcBef>
          <a:spcPct val="0"/>
        </a:spcBef>
        <a:buNone/>
        <a:defRPr sz="3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7601" indent="-307601" algn="l" defTabSz="820269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6468" indent="-256334" algn="l" defTabSz="820269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5335" indent="-205067" algn="l" defTabSz="820269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35469" indent="-205067" algn="l" defTabSz="820269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45603" indent="-205067" algn="l" defTabSz="820269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55738" indent="-205067" algn="l" defTabSz="820269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65872" indent="-205067" algn="l" defTabSz="820269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76005" indent="-205067" algn="l" defTabSz="820269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86140" indent="-205067" algn="l" defTabSz="820269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0134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0269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30403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40536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50670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60804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70939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81073" algn="l" defTabSz="820269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417" y="274488"/>
            <a:ext cx="8229166" cy="1142767"/>
          </a:xfrm>
          <a:prstGeom prst="rect">
            <a:avLst/>
          </a:prstGeom>
        </p:spPr>
        <p:txBody>
          <a:bodyPr vert="horz" lIns="82040" tIns="41020" rIns="82040" bIns="410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CL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417" y="1600714"/>
            <a:ext cx="8229166" cy="4524851"/>
          </a:xfrm>
          <a:prstGeom prst="rect">
            <a:avLst/>
          </a:prstGeom>
        </p:spPr>
        <p:txBody>
          <a:bodyPr vert="horz" lIns="82040" tIns="41020" rIns="82040" bIns="410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L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417" y="6356640"/>
            <a:ext cx="2132686" cy="365517"/>
          </a:xfrm>
          <a:prstGeom prst="rect">
            <a:avLst/>
          </a:prstGeom>
        </p:spPr>
        <p:txBody>
          <a:bodyPr vert="horz" lIns="82040" tIns="41020" rIns="82040" bIns="410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253"/>
            <a:fld id="{97172ED1-F058-4296-9A1C-85EC5A9AEE84}" type="datetimeFigureOut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253"/>
              <a:t>09-08-2017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3996" y="6356640"/>
            <a:ext cx="2896008" cy="365517"/>
          </a:xfrm>
          <a:prstGeom prst="rect">
            <a:avLst/>
          </a:prstGeom>
        </p:spPr>
        <p:txBody>
          <a:bodyPr vert="horz" lIns="82040" tIns="41020" rIns="82040" bIns="41020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253"/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898" y="6356640"/>
            <a:ext cx="2132686" cy="365517"/>
          </a:xfrm>
          <a:prstGeom prst="rect">
            <a:avLst/>
          </a:prstGeom>
        </p:spPr>
        <p:txBody>
          <a:bodyPr vert="horz" lIns="82040" tIns="41020" rIns="82040" bIns="410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914253"/>
            <a:fld id="{B07E5F88-547F-4B54-AAD7-10680895DAA5}" type="slidenum">
              <a:rPr lang="es-CL" smtClean="0">
                <a:solidFill>
                  <a:prstClr val="black">
                    <a:tint val="75000"/>
                  </a:prstClr>
                </a:solidFill>
              </a:rPr>
              <a:pPr defTabSz="914253"/>
              <a:t>‹Nº›</a:t>
            </a:fld>
            <a:endParaRPr lang="es-CL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7" name="6 Imagen" descr="ACADÉMICA 2.jpg"/>
          <p:cNvPicPr>
            <a:picLocks noChangeAspect="1"/>
          </p:cNvPicPr>
          <p:nvPr userDrawn="1"/>
        </p:nvPicPr>
        <p:blipFill>
          <a:blip r:embed="rId13" cstate="print"/>
          <a:stretch>
            <a:fillRect/>
          </a:stretch>
        </p:blipFill>
        <p:spPr>
          <a:xfrm>
            <a:off x="14087" y="1"/>
            <a:ext cx="9115824" cy="6857999"/>
          </a:xfrm>
          <a:prstGeom prst="rect">
            <a:avLst/>
          </a:prstGeom>
        </p:spPr>
      </p:pic>
      <p:sp>
        <p:nvSpPr>
          <p:cNvPr id="8" name="7 CuadroTexto">
            <a:hlinkClick r:id="rId14"/>
          </p:cNvPr>
          <p:cNvSpPr txBox="1"/>
          <p:nvPr userDrawn="1"/>
        </p:nvSpPr>
        <p:spPr>
          <a:xfrm>
            <a:off x="6909602" y="6517013"/>
            <a:ext cx="1038934" cy="282896"/>
          </a:xfrm>
          <a:prstGeom prst="rect">
            <a:avLst/>
          </a:prstGeom>
          <a:noFill/>
        </p:spPr>
        <p:txBody>
          <a:bodyPr wrap="square" lIns="82040" tIns="41020" rIns="82040" bIns="41020" rtlCol="0">
            <a:spAutoFit/>
          </a:bodyPr>
          <a:lstStyle/>
          <a:p>
            <a:pPr algn="ctr" defTabSz="914253"/>
            <a:r>
              <a:rPr lang="es-ES" sz="1300" b="1" dirty="0" smtClean="0">
                <a:solidFill>
                  <a:prstClr val="white"/>
                </a:solidFill>
                <a:cs typeface="Calibri" pitchFamily="34" charset="0"/>
              </a:rPr>
              <a:t>www.ufro.cl</a:t>
            </a:r>
            <a:endParaRPr lang="es-CL" sz="1300" b="1" dirty="0">
              <a:solidFill>
                <a:prstClr val="white"/>
              </a:solidFill>
              <a:cs typeface="Calibr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251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ctr" defTabSz="820400" rtl="0" eaLnBrk="1" latinLnBrk="0" hangingPunct="1">
        <a:spcBef>
          <a:spcPct val="0"/>
        </a:spcBef>
        <a:buNone/>
        <a:defRPr sz="3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7650" indent="-307650" algn="l" defTabSz="820400" rtl="0" eaLnBrk="1" latinLnBrk="0" hangingPunct="1">
        <a:spcBef>
          <a:spcPct val="20000"/>
        </a:spcBef>
        <a:buFont typeface="Arial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66575" indent="-256375" algn="l" defTabSz="820400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25500" indent="-205100" algn="l" defTabSz="820400" rtl="0" eaLnBrk="1" latinLnBrk="0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435699" indent="-205100" algn="l" defTabSz="820400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45899" indent="-205100" algn="l" defTabSz="820400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56099" indent="-205100" algn="l" defTabSz="820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66299" indent="-205100" algn="l" defTabSz="820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76499" indent="-205100" algn="l" defTabSz="820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86699" indent="-205100" algn="l" defTabSz="820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0200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0400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30600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40799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50999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61199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71399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81599" algn="l" defTabSz="82040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3 CuadroTexto"/>
          <p:cNvSpPr txBox="1"/>
          <p:nvPr/>
        </p:nvSpPr>
        <p:spPr>
          <a:xfrm>
            <a:off x="1980477" y="3140968"/>
            <a:ext cx="5194671" cy="1621712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25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AVANCE 1 TRABAJO FINAL DE GRADO</a:t>
            </a:r>
            <a:endParaRPr lang="es-CL" sz="2500"/>
          </a:p>
          <a:p>
            <a:endParaRPr lang="es-CL" sz="2500"/>
          </a:p>
          <a:p>
            <a:pPr algn="ctr"/>
            <a:r>
              <a:rPr lang="es-CL" sz="25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Magíster en Sistemas de Gestión Integral de la Calidad</a:t>
            </a:r>
            <a:endParaRPr lang="es-CL" sz="2500"/>
          </a:p>
        </p:txBody>
      </p:sp>
      <p:sp>
        <p:nvSpPr>
          <p:cNvPr id="3" name="2 CuadroTexto"/>
          <p:cNvSpPr txBox="1"/>
          <p:nvPr/>
        </p:nvSpPr>
        <p:spPr>
          <a:xfrm>
            <a:off x="2843466" y="4941169"/>
            <a:ext cx="3468694" cy="105231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13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13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13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13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  <a:p>
            <a:pPr algn="ctr"/>
            <a:r>
              <a:rPr lang="es-CL" sz="1300" b="1" dirty="0">
                <a:solidFill>
                  <a:srgbClr val="1F497D">
                    <a:lumMod val="75000"/>
                  </a:srgbClr>
                </a:solidFill>
              </a:rPr>
              <a:t>Profesor guía: </a:t>
            </a:r>
            <a:r>
              <a:rPr lang="es-CL" sz="1300" dirty="0">
                <a:solidFill>
                  <a:srgbClr val="1F497D">
                    <a:lumMod val="75000"/>
                  </a:srgbClr>
                </a:solidFill>
              </a:rPr>
              <a:t>Carlos Muñoz P.</a:t>
            </a:r>
          </a:p>
          <a:p>
            <a:pPr algn="ctr"/>
            <a:r>
              <a:rPr lang="es-CL" sz="1300" b="1" dirty="0">
                <a:solidFill>
                  <a:srgbClr val="1F497D">
                    <a:lumMod val="75000"/>
                  </a:srgbClr>
                </a:solidFill>
              </a:rPr>
              <a:t>Profesor co-guía: </a:t>
            </a:r>
            <a:r>
              <a:rPr lang="es-CL" sz="1300" dirty="0">
                <a:solidFill>
                  <a:srgbClr val="1F497D">
                    <a:lumMod val="75000"/>
                  </a:srgbClr>
                </a:solidFill>
              </a:rPr>
              <a:t>Manuel Echiburú Fuenzalida</a:t>
            </a:r>
          </a:p>
          <a:p>
            <a:endParaRPr lang="es-CL" sz="1300"/>
          </a:p>
          <a:p>
            <a:pPr algn="ctr"/>
            <a:r>
              <a:rPr lang="es-CL" sz="1100" b="1" dirty="0">
                <a:solidFill>
                  <a:srgbClr val="1F497D">
                    <a:lumMod val="75000"/>
                  </a:srgbClr>
                </a:solidFill>
              </a:rPr>
              <a:t>Fecha: </a:t>
            </a:r>
            <a:r>
              <a:rPr lang="es-CL" sz="1100" dirty="0">
                <a:solidFill>
                  <a:srgbClr val="1F497D">
                    <a:lumMod val="75000"/>
                  </a:srgbClr>
                </a:solidFill>
              </a:rPr>
              <a:t>12/09/2026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5675867" y="340990"/>
            <a:ext cx="2337602" cy="25210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1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Sistema de gestión de riesgos MP8 y MP21</a:t>
            </a:r>
            <a:endParaRPr lang="es-CL" sz="1000"/>
          </a:p>
        </p:txBody>
      </p:sp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Título del trabajo final de grado</a:t>
            </a:r>
            <a:endParaRPr lang="es-CL" sz="22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50000"/>
            <a:ext cx="8352928" cy="18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2000" b="1" dirty="0">
                <a:solidFill>
                  <a:srgbClr val="1F497D">
                    <a:lumMod val="75000"/>
                  </a:srgbClr>
                </a:solidFill>
              </a:rPr>
              <a:t>Propuesta de un sistema de gestión de riesgos para los macroprocesos de Gestión de Personas (MP8) y Servicios Generales (MP21) de Celulosa Arauco y Constitución S.A.</a:t>
            </a:r>
            <a:endParaRPr lang="es-CL" sz="2000"/>
          </a:p>
        </p:txBody>
      </p:sp>
      <p:sp>
        <p:nvSpPr>
          <p:cNvPr id="9" name="8 CuadroTexto"/>
          <p:cNvSpPr txBox="1"/>
          <p:nvPr/>
        </p:nvSpPr>
        <p:spPr>
          <a:xfrm>
            <a:off x="323528" y="4500000"/>
            <a:ext cx="8352928" cy="16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pPr marL="228600" indent="-228600">
              <a:buFont typeface="Wingdings" pitchFamily="2" charset="2"/>
              <a:buChar char="q"/>
            </a:pPr>
            <a:r>
              <a:rPr lang="es-CL" sz="1400" dirty="0">
                <a:solidFill>
                  <a:schemeClr val="tx2"/>
                </a:solidFill>
              </a:rPr>
              <a:t>El título se mantiene sin modificaciones respecto del anteproyecto aprobado.</a:t>
            </a:r>
            <a:endParaRPr lang="es-CL" sz="1400"/>
          </a:p>
          <a:p>
            <a:pPr marL="228600" indent="-228600">
              <a:spcBef>
                <a:spcPts val="600"/>
              </a:spcBef>
              <a:buFont typeface="Wingdings" pitchFamily="2" charset="2"/>
              <a:buChar char="q"/>
            </a:pPr>
            <a:r>
              <a:rPr lang="es-CL" sz="1400" dirty="0">
                <a:solidFill>
                  <a:schemeClr val="tx2"/>
                </a:solidFill>
              </a:rPr>
              <a:t>Se conserva el carácter de </a:t>
            </a:r>
            <a:r>
              <a:rPr lang="es-CL" sz="1400" b="1" dirty="0">
                <a:solidFill>
                  <a:schemeClr val="tx2"/>
                </a:solidFill>
              </a:rPr>
              <a:t>propuesta</a:t>
            </a:r>
            <a:r>
              <a:rPr lang="es-CL" sz="1400" dirty="0">
                <a:solidFill>
                  <a:schemeClr val="tx2"/>
                </a:solidFill>
              </a:rPr>
              <a:t>: el trabajo comprende el diseño del sistema de gestión de riesgos y no su implementación, que queda a decisión de la compañía.</a:t>
            </a:r>
            <a:endParaRPr lang="es-CL" sz="1400"/>
          </a:p>
          <a:p>
            <a:pPr marL="228600" indent="-228600">
              <a:spcBef>
                <a:spcPts val="600"/>
              </a:spcBef>
              <a:buFont typeface="Wingdings" pitchFamily="2" charset="2"/>
              <a:buChar char="q"/>
            </a:pPr>
            <a:r>
              <a:rPr lang="es-CL" sz="1400" dirty="0">
                <a:solidFill>
                  <a:schemeClr val="tx2"/>
                </a:solidFill>
              </a:rPr>
              <a:t>Precisión de alcance incorporada: el trabajo se centra en el </a:t>
            </a:r>
            <a:r>
              <a:rPr lang="es-CL" sz="1400" b="1" dirty="0">
                <a:solidFill>
                  <a:schemeClr val="tx2"/>
                </a:solidFill>
              </a:rPr>
              <a:t>Negocio de Celulosa</a:t>
            </a:r>
            <a:r>
              <a:rPr lang="es-CL" sz="1400" dirty="0">
                <a:solidFill>
                  <a:schemeClr val="tx2"/>
                </a:solidFill>
              </a:rPr>
              <a:t>, y se explicita que MP8 es transversal a los negocios de celulosa, madera y forestal.</a:t>
            </a:r>
            <a:endParaRPr lang="es-CL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5675867" y="340990"/>
            <a:ext cx="2337602" cy="25210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1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Sistema de gestión de riesgos MP8 y MP21</a:t>
            </a:r>
            <a:endParaRPr lang="es-CL" sz="1000"/>
          </a:p>
        </p:txBody>
      </p:sp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Objetivos</a:t>
            </a:r>
            <a:endParaRPr lang="es-CL" sz="22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50000"/>
            <a:ext cx="8352928" cy="10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500" b="1" dirty="0">
                <a:solidFill>
                  <a:srgbClr val="1F497D">
                    <a:lumMod val="75000"/>
                  </a:srgbClr>
                </a:solidFill>
              </a:rPr>
              <a:t>Objetivo general</a:t>
            </a:r>
            <a:endParaRPr lang="es-CL" sz="1500"/>
          </a:p>
          <a:p>
            <a:r>
              <a:rPr lang="es-CL" sz="1400" dirty="0">
                <a:solidFill>
                  <a:schemeClr val="tx2"/>
                </a:solidFill>
              </a:rPr>
              <a:t>Estructurar un sistema de gestión de riesgos según metodología COSO II para los macroprocesos de Gestión de Personas (MP8) y Servicios Generales (MP21) de Celulosa Arauco y Constitución S.A.</a:t>
            </a:r>
            <a:endParaRPr lang="es-CL" sz="1400"/>
          </a:p>
        </p:txBody>
      </p:sp>
      <p:sp>
        <p:nvSpPr>
          <p:cNvPr id="9" name="8 CuadroTexto"/>
          <p:cNvSpPr txBox="1"/>
          <p:nvPr/>
        </p:nvSpPr>
        <p:spPr>
          <a:xfrm>
            <a:off x="323528" y="3750000"/>
            <a:ext cx="8352928" cy="24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500" b="1" dirty="0">
                <a:solidFill>
                  <a:srgbClr val="1F497D">
                    <a:lumMod val="75000"/>
                  </a:srgbClr>
                </a:solidFill>
              </a:rPr>
              <a:t>Objetivos específicos</a:t>
            </a:r>
            <a:endParaRPr lang="es-CL" sz="150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400" b="1" dirty="0">
                <a:solidFill>
                  <a:schemeClr val="tx2"/>
                </a:solidFill>
              </a:rPr>
              <a:t>OE1. Modelar</a:t>
            </a:r>
            <a:r>
              <a:rPr lang="es-CL" sz="1400" dirty="0">
                <a:solidFill>
                  <a:schemeClr val="tx2"/>
                </a:solidFill>
              </a:rPr>
              <a:t> la arquitectura de procesos de MP8 y MP21, desde sus procesos hasta sus tareas, según el marco del Modelo de Gestión Operacional.</a:t>
            </a:r>
            <a:endParaRPr lang="es-CL" sz="140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400" b="1" dirty="0">
                <a:solidFill>
                  <a:schemeClr val="tx2"/>
                </a:solidFill>
              </a:rPr>
              <a:t>OE2. Evaluar</a:t>
            </a:r>
            <a:r>
              <a:rPr lang="es-CL" sz="1400" dirty="0">
                <a:solidFill>
                  <a:schemeClr val="tx2"/>
                </a:solidFill>
              </a:rPr>
              <a:t> los riesgos operacionales asociados a las tareas modeladas de ambos macroprocesos mediante la metodología COSO II.</a:t>
            </a:r>
            <a:endParaRPr lang="es-CL" sz="140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400" b="1" dirty="0">
                <a:solidFill>
                  <a:schemeClr val="tx2"/>
                </a:solidFill>
              </a:rPr>
              <a:t>OE3. Elaborar</a:t>
            </a:r>
            <a:r>
              <a:rPr lang="es-CL" sz="1400" dirty="0">
                <a:solidFill>
                  <a:schemeClr val="tx2"/>
                </a:solidFill>
              </a:rPr>
              <a:t> el sistema de gestión de riesgos, integrando el catálogo de riesgos evaluados y sus planes de mitigación.</a:t>
            </a:r>
            <a:endParaRPr lang="es-CL" sz="1400"/>
          </a:p>
        </p:txBody>
      </p:sp>
      <p:sp>
        <p:nvSpPr>
          <p:cNvPr id="10" name="9 CuadroTexto"/>
          <p:cNvSpPr txBox="1"/>
          <p:nvPr/>
        </p:nvSpPr>
        <p:spPr>
          <a:xfrm>
            <a:off x="323528" y="6180000"/>
            <a:ext cx="8352928" cy="4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1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Los objetivos no presentan modificaciones respecto del anteproyecto aprobado.</a:t>
            </a:r>
            <a:endParaRPr lang="es-CL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5675867" y="340990"/>
            <a:ext cx="2337602" cy="25210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1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Sistema de gestión de riesgos MP8 y MP21</a:t>
            </a:r>
            <a:endParaRPr lang="es-CL" sz="1000"/>
          </a:p>
        </p:txBody>
      </p:sp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Metodología (1 de 3) · Diseño y objetivo específico 1</a:t>
            </a:r>
            <a:endParaRPr lang="es-CL" sz="22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50000"/>
            <a:ext cx="8352928" cy="11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500" b="1" dirty="0">
                <a:solidFill>
                  <a:srgbClr val="1F497D">
                    <a:lumMod val="75000"/>
                  </a:srgbClr>
                </a:solidFill>
              </a:rPr>
              <a:t>Diseño de investigación</a:t>
            </a:r>
            <a:endParaRPr lang="es-CL" sz="1500"/>
          </a:p>
          <a:p>
            <a:r>
              <a:rPr lang="es-CL" sz="1300" dirty="0">
                <a:solidFill>
                  <a:schemeClr val="tx2"/>
                </a:solidFill>
              </a:rPr>
              <a:t>Descriptivo-aplicado, con estrategia descriptiva de tipo observacional, sobre un caso único de carácter no experimental (Ato et al., 2013). Unidad de análisis: el nivel corporativo que define ambos macroprocesos.</a:t>
            </a:r>
            <a:endParaRPr lang="es-CL" sz="1300"/>
          </a:p>
        </p:txBody>
      </p:sp>
      <p:sp>
        <p:nvSpPr>
          <p:cNvPr id="9" name="8 CuadroTexto"/>
          <p:cNvSpPr txBox="1"/>
          <p:nvPr/>
        </p:nvSpPr>
        <p:spPr>
          <a:xfrm>
            <a:off x="323528" y="3700000"/>
            <a:ext cx="8352928" cy="245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500" b="1" dirty="0">
                <a:solidFill>
                  <a:srgbClr val="1F497D">
                    <a:lumMod val="75000"/>
                  </a:srgbClr>
                </a:solidFill>
              </a:rPr>
              <a:t>OE1 · El modelamiento se ejecuta en dos etapas por macroproceso</a:t>
            </a:r>
            <a:endParaRPr lang="es-CL" sz="150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Etapa 1. Flujo único de información.</a:t>
            </a:r>
            <a:r>
              <a:rPr lang="es-CL" sz="1300" dirty="0">
                <a:solidFill>
                  <a:schemeClr val="tx2"/>
                </a:solidFill>
              </a:rPr>
              <a:t> Se traza la cadena SIPOC continua del primer proveedor al último cliente, con el orden y el arranque que fija el APQC PCF v8.0.</a:t>
            </a:r>
            <a:endParaRPr lang="es-CL" sz="130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Etapa 2. Segmentación jerárquica.</a:t>
            </a:r>
            <a:r>
              <a:rPr lang="es-CL" sz="1300" dirty="0">
                <a:solidFill>
                  <a:schemeClr val="tx2"/>
                </a:solidFill>
              </a:rPr>
              <a:t> La arquitectura en cinco niveles se deriva del flujo levantado, bajo el formato del MGO.</a:t>
            </a:r>
            <a:endParaRPr lang="es-CL" sz="130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300" b="1" dirty="0">
                <a:solidFill>
                  <a:schemeClr val="tx2"/>
                </a:solidFill>
              </a:rPr>
              <a:t>Regla de trazabilidad.</a:t>
            </a:r>
            <a:r>
              <a:rPr lang="es-CL" sz="1300" dirty="0">
                <a:solidFill>
                  <a:schemeClr val="tx2"/>
                </a:solidFill>
              </a:rPr>
              <a:t> Cada elemento se respalda en procedimiento vigente, entrevista o PCF. Si ninguna fuente lo sustenta, se declara como brecha en lugar de completarse por estimación.</a:t>
            </a:r>
            <a:endParaRPr lang="es-CL" sz="1300"/>
          </a:p>
        </p:txBody>
      </p:sp>
      <p:sp>
        <p:nvSpPr>
          <p:cNvPr id="10" name="9 CuadroTexto"/>
          <p:cNvSpPr txBox="1"/>
          <p:nvPr/>
        </p:nvSpPr>
        <p:spPr>
          <a:xfrm>
            <a:off x="323528" y="6180000"/>
            <a:ext cx="8352928" cy="4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1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Indicador de logro: CAP, cobertura de arquitectura de procesos.</a:t>
            </a:r>
            <a:endParaRPr lang="es-CL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5675867" y="340990"/>
            <a:ext cx="2337602" cy="25210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1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Sistema de gestión de riesgos MP8 y MP21</a:t>
            </a:r>
            <a:endParaRPr lang="es-CL" sz="1000"/>
          </a:p>
        </p:txBody>
      </p:sp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Metodología (2 de 3) · Objetivo específico 2</a:t>
            </a:r>
            <a:endParaRPr lang="es-CL" sz="22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50000"/>
            <a:ext cx="8352928" cy="7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300" dirty="0">
                <a:solidFill>
                  <a:schemeClr val="tx2"/>
                </a:solidFill>
              </a:rPr>
              <a:t>Se evalúan los riesgos operacionales sobre la totalidad de las tareas modeladas y se determinan siete atributos para cada tarea, conforme a COSO II.</a:t>
            </a:r>
            <a:endParaRPr lang="es-CL" sz="130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323528" y="3150000"/>
          <a:ext cx="8352928" cy="2900000"/>
        </p:xfrm>
        <a:graphic>
          <a:graphicData uri="http://schemas.openxmlformats.org/drawingml/2006/table">
            <a:tbl>
              <a:tblPr firstRow="1" bandRow="1"/>
              <a:tblGrid>
                <a:gridCol w="2600000"/>
                <a:gridCol w="5752928"/>
              </a:tblGrid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100" b="1" dirty="0">
                          <a:solidFill>
                            <a:srgbClr val="FFFFFF"/>
                          </a:solidFill>
                        </a:rPr>
                        <a:t>Atributo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b="1" dirty="0">
                          <a:solidFill>
                            <a:srgbClr val="FFFFFF"/>
                          </a:solidFill>
                        </a:rPr>
                        <a:t>Descripción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Evento de riesgo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Suceso que puede afectar el logro del objetivo de la tarea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Categoría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Clasificación del evento según la taxonomía adoptada</a:t>
                      </a:r>
                    </a:p>
                  </a:txBody>
                  <a:tcPr marL="45720" marR="45720" marT="27432" marB="27432" anchor="ctr"/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Probabilidad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Verosimilitud de ocurrencia del evento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Impacto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Consecuencia potencial sobre la operación</a:t>
                      </a:r>
                    </a:p>
                  </a:txBody>
                  <a:tcPr marL="45720" marR="45720" marT="27432" marB="27432" anchor="ctr"/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Riesgo inherente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Nivel de riesgo antes de considerar los controles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Controles existentes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Actividades de control ya vigentes en la organización</a:t>
                      </a:r>
                    </a:p>
                  </a:txBody>
                  <a:tcPr marL="45720" marR="45720" marT="27432" marB="27432" anchor="ctr"/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Riesgo residual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Nivel remanente; determina la respuesta al riesgo en OE3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9 CuadroTexto"/>
          <p:cNvSpPr txBox="1"/>
          <p:nvPr/>
        </p:nvSpPr>
        <p:spPr>
          <a:xfrm>
            <a:off x="323528" y="6180000"/>
            <a:ext cx="8352928" cy="4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1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Indicador de logro: TCER, tasa de cobertura de evaluación de riesgos.</a:t>
            </a:r>
            <a:endParaRPr lang="es-CL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5675867" y="340990"/>
            <a:ext cx="2337602" cy="25210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1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Sistema de gestión de riesgos MP8 y MP21</a:t>
            </a:r>
            <a:endParaRPr lang="es-CL" sz="1000"/>
          </a:p>
        </p:txBody>
      </p:sp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Metodología (3 de 3) · Objetivo específico 3 e indicadores</a:t>
            </a:r>
            <a:endParaRPr lang="es-CL" sz="22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50000"/>
            <a:ext cx="8352928" cy="13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500" b="1" dirty="0">
                <a:solidFill>
                  <a:srgbClr val="1F497D">
                    <a:lumMod val="75000"/>
                  </a:srgbClr>
                </a:solidFill>
              </a:rPr>
              <a:t>OE3 · Composición del sistema de gestión de riesgos</a:t>
            </a:r>
            <a:endParaRPr lang="es-CL" sz="1500"/>
          </a:p>
          <a:p>
            <a:r>
              <a:rPr lang="es-CL" sz="1300" dirty="0">
                <a:solidFill>
                  <a:schemeClr val="tx2"/>
                </a:solidFill>
              </a:rPr>
              <a:t>Catálogo de riesgos evaluados, insumo de OE2, </a:t>
            </a:r>
            <a:r>
              <a:rPr lang="es-CL" sz="1300" b="1" dirty="0">
                <a:solidFill>
                  <a:schemeClr val="tx2"/>
                </a:solidFill>
              </a:rPr>
              <a:t>más</a:t>
            </a:r>
            <a:r>
              <a:rPr lang="es-CL" sz="1300" dirty="0">
                <a:solidFill>
                  <a:schemeClr val="tx2"/>
                </a:solidFill>
              </a:rPr>
              <a:t> planes de mitigación derivados del riesgo residual, </a:t>
            </a:r>
            <a:r>
              <a:rPr lang="es-CL" sz="1300" b="1" dirty="0">
                <a:solidFill>
                  <a:schemeClr val="tx2"/>
                </a:solidFill>
              </a:rPr>
              <a:t>más</a:t>
            </a:r>
            <a:r>
              <a:rPr lang="es-CL" sz="1300" dirty="0">
                <a:solidFill>
                  <a:schemeClr val="tx2"/>
                </a:solidFill>
              </a:rPr>
              <a:t> una capa de gobernanza con roles, taxonomía, indicadores clave de riesgo y esquema de monitoreo y reporte.</a:t>
            </a:r>
            <a:endParaRPr lang="es-CL" sz="130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323528" y="3900000"/>
          <a:ext cx="8352928" cy="1900000"/>
        </p:xfrm>
        <a:graphic>
          <a:graphicData uri="http://schemas.openxmlformats.org/drawingml/2006/table">
            <a:tbl>
              <a:tblPr firstRow="1" bandRow="1"/>
              <a:tblGrid>
                <a:gridCol w="1000000"/>
                <a:gridCol w="3300000"/>
                <a:gridCol w="2400000"/>
                <a:gridCol w="1652928"/>
              </a:tblGrid>
              <a:tr h="380">
                <a:tc>
                  <a:txBody>
                    <a:bodyPr/>
                    <a:lstStyle/>
                    <a:p>
                      <a:pPr algn="ctr"/>
                      <a:r>
                        <a:rPr lang="es-CL" sz="1100" b="1" dirty="0">
                          <a:solidFill>
                            <a:srgbClr val="FFFFFF"/>
                          </a:solidFill>
                        </a:rPr>
                        <a:t>OE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b="1" dirty="0">
                          <a:solidFill>
                            <a:srgbClr val="FFFFFF"/>
                          </a:solidFill>
                        </a:rPr>
                        <a:t>Indicador de logro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b="1" dirty="0">
                          <a:solidFill>
                            <a:srgbClr val="FFFFFF"/>
                          </a:solidFill>
                        </a:rPr>
                        <a:t>Línea base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100" b="1" dirty="0">
                          <a:solidFill>
                            <a:srgbClr val="FFFFFF"/>
                          </a:solidFill>
                        </a:rPr>
                        <a:t>Meta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</a:tr>
              <a:tr h="440">
                <a:tc>
                  <a:txBody>
                    <a:bodyPr/>
                    <a:lstStyle/>
                    <a:p>
                      <a:pPr algn="ctr"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OE1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Cobertura de arquitectura de procesos (CAP)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Sin arquitectura formal en cinco niveles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100 %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  <a:tr h="440">
                <a:tc>
                  <a:txBody>
                    <a:bodyPr/>
                    <a:lstStyle/>
                    <a:p>
                      <a:pPr algn="ctr"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OE2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Tasa de cobertura de evaluación de riesgos (TCER)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Sin identificación ni valoración por tarea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100 %</a:t>
                      </a:r>
                    </a:p>
                  </a:txBody>
                  <a:tcPr marL="45720" marR="45720" marT="27432" marB="27432" anchor="ctr"/>
                </a:tc>
              </a:tr>
              <a:tr h="440">
                <a:tc>
                  <a:txBody>
                    <a:bodyPr/>
                    <a:lstStyle/>
                    <a:p>
                      <a:pPr algn="ctr"/>
                      <a:r>
                        <a:rPr lang="es-CL" sz="1100" b="1" dirty="0">
                          <a:solidFill>
                            <a:schemeClr val="tx2"/>
                          </a:solidFill>
                        </a:rPr>
                        <a:t>OE3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Cobertura de riesgos con plan de mitigación (CRPM)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Sin sistema ni planes de mitigación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100" dirty="0">
                          <a:solidFill>
                            <a:schemeClr val="tx2"/>
                          </a:solidFill>
                        </a:rPr>
                        <a:t>100 %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9 CuadroTexto"/>
          <p:cNvSpPr txBox="1"/>
          <p:nvPr/>
        </p:nvSpPr>
        <p:spPr>
          <a:xfrm>
            <a:off x="323528" y="6180000"/>
            <a:ext cx="8352928" cy="4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1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El sistema se valida con los dueños de proceso y se presenta a la alta gerencia.</a:t>
            </a:r>
            <a:endParaRPr lang="es-CL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5675867" y="340990"/>
            <a:ext cx="2337602" cy="25210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1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Sistema de gestión de riesgos MP8 y MP21</a:t>
            </a:r>
            <a:endParaRPr lang="es-CL" sz="1000"/>
          </a:p>
        </p:txBody>
      </p:sp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2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Carta Gantt actualizada</a:t>
            </a:r>
            <a:endParaRPr lang="es-CL" sz="22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00000"/>
            <a:ext cx="8352928" cy="4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200" dirty="0">
                <a:solidFill>
                  <a:schemeClr val="tx2"/>
                </a:solidFill>
              </a:rPr>
              <a:t>Horizonte de 20 semanas, agosto 2026 a enero 2027. La presentación de este avance corresponde a la </a:t>
            </a:r>
            <a:r>
              <a:rPr lang="es-CL" sz="1200" b="1" dirty="0">
                <a:solidFill>
                  <a:schemeClr val="tx2"/>
                </a:solidFill>
              </a:rPr>
              <a:t>semana 5</a:t>
            </a:r>
            <a:r>
              <a:rPr lang="es-CL" sz="1200" dirty="0">
                <a:solidFill>
                  <a:schemeClr val="tx2"/>
                </a:solidFill>
              </a:rPr>
              <a:t>.</a:t>
            </a:r>
            <a:endParaRPr lang="es-CL" sz="120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323528" y="2850000"/>
          <a:ext cx="8352928" cy="3200000"/>
        </p:xfrm>
        <a:graphic>
          <a:graphicData uri="http://schemas.openxmlformats.org/drawingml/2006/table">
            <a:tbl>
              <a:tblPr firstRow="1" bandRow="1"/>
              <a:tblGrid>
                <a:gridCol w="2500000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  <a:gridCol w="292646"/>
              </a:tblGrid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b="1" dirty="0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8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9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10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11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12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13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16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17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18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19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700" b="1" dirty="0">
                          <a:solidFill>
                            <a:srgbClr val="FFFFFF"/>
                          </a:solidFill>
                        </a:rPr>
                        <a:t>20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A1.1–A1.2  Diagnóstico y entrevistas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A1.3.1  Flujo único MP8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A1.3.2  Segmentación jerárquica MP8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A1.4.1  Flujo único MP21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A1.4.2  Segmentación jerárquica MP21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A1.5–A1.6  Manuales y validación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A2.1–A2.2  Identificación y valoración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A2.3–A2.4  Matriz y validación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A3.1–A3.2  Planes y gobernanza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A3.3–A3.4  Integración y entrega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D0D0D0"/>
                    </a:solidFill>
                  </a:tcPr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dirty="0">
                          <a:solidFill>
                            <a:schemeClr val="tx2"/>
                          </a:solidFill>
                        </a:rPr>
                        <a:t>A-G  Documentación del TFG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808080"/>
                    </a:solidFill>
                  </a:tcPr>
                </a:tc>
              </a:tr>
              <a:tr h="240">
                <a:tc>
                  <a:txBody>
                    <a:bodyPr/>
                    <a:lstStyle/>
                    <a:p>
                      <a:pPr/>
                      <a:r>
                        <a:rPr lang="es-CL" sz="800" b="1" dirty="0">
                          <a:solidFill>
                            <a:schemeClr val="tx2"/>
                          </a:solidFill>
                        </a:rPr>
                        <a:t>Hitos  A-P1 · A-P2 · A-PF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</a:tr>
            </a:tbl>
          </a:graphicData>
        </a:graphic>
      </p:graphicFrame>
      <p:sp>
        <p:nvSpPr>
          <p:cNvPr id="10" name="9 CuadroTexto"/>
          <p:cNvSpPr txBox="1"/>
          <p:nvPr/>
        </p:nvSpPr>
        <p:spPr>
          <a:xfrm>
            <a:off x="323528" y="6150000"/>
            <a:ext cx="8352928" cy="5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000" i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Completada    ·    En ejecución    ·    Pendiente    ·    Hito. Ajustes respecto del anteproyecto: A1.3 y A1.4 se desdoblan en flujo único y segmentación jerárquica, y el primer hito se sitúa en la semana 5.</a:t>
            </a:r>
            <a:endParaRPr lang="es-CL" sz="1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5675867" y="340990"/>
            <a:ext cx="2337602" cy="25210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1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Sistema de gestión de riesgos MP8 y MP21</a:t>
            </a:r>
            <a:endParaRPr lang="es-CL" sz="1000"/>
          </a:p>
        </p:txBody>
      </p:sp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Desarrollo y resultados del objetivo específico 1 (1 de 2)</a:t>
            </a:r>
            <a:endParaRPr lang="es-CL" sz="20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00000"/>
            <a:ext cx="8352928" cy="4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500" b="1" dirty="0">
                <a:solidFill>
                  <a:srgbClr val="1F497D">
                    <a:lumMod val="75000"/>
                  </a:srgbClr>
                </a:solidFill>
              </a:rPr>
              <a:t>Actividades realizadas</a:t>
            </a:r>
            <a:endParaRPr lang="es-CL" sz="150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323528" y="2830000"/>
          <a:ext cx="8352928" cy="2400000"/>
        </p:xfrm>
        <a:graphic>
          <a:graphicData uri="http://schemas.openxmlformats.org/drawingml/2006/table">
            <a:tbl>
              <a:tblPr firstRow="1" bandRow="1"/>
              <a:tblGrid>
                <a:gridCol w="900000"/>
                <a:gridCol w="3300000"/>
                <a:gridCol w="1300000"/>
                <a:gridCol w="2852928"/>
              </a:tblGrid>
              <a:tr h="350"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rgbClr val="FFFFFF"/>
                          </a:solidFill>
                        </a:rPr>
                        <a:t>Código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b="1" dirty="0">
                          <a:solidFill>
                            <a:srgbClr val="FFFFFF"/>
                          </a:solidFill>
                        </a:rPr>
                        <a:t>Actividad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rgbClr val="FFFFFF"/>
                          </a:solidFill>
                        </a:rPr>
                        <a:t>Estado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b="1" dirty="0">
                          <a:solidFill>
                            <a:srgbClr val="FFFFFF"/>
                          </a:solidFill>
                        </a:rPr>
                        <a:t>Evidencia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</a:tr>
              <a:tr h="380"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chemeClr val="tx2"/>
                          </a:solidFill>
                        </a:rPr>
                        <a:t>A1.1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Revisión documental y diagnóstico preliminar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Completada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Inventario de fuentes y matriz de trazabilidad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  <a:tr h="380"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chemeClr val="tx2"/>
                          </a:solidFill>
                        </a:rPr>
                        <a:t>A1.2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Entrevistas con los dueños de proceso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Completada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Registros de tres áreas funcionales de MP8</a:t>
                      </a:r>
                    </a:p>
                  </a:txBody>
                  <a:tcPr marL="45720" marR="45720" marT="27432" marB="27432" anchor="ctr"/>
                </a:tc>
              </a:tr>
              <a:tr h="380"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chemeClr val="tx2"/>
                          </a:solidFill>
                        </a:rPr>
                        <a:t>A1.3.1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Flujo único de información de MP8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Completada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Flujo v3: 261 elementos y 318 conexiones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  <a:tr h="380"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chemeClr val="tx2"/>
                          </a:solidFill>
                        </a:rPr>
                        <a:t>A1.3.2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Segmentación jerárquica de MP8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No iniciada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Programada en las semanas 6 y 7</a:t>
                      </a:r>
                    </a:p>
                  </a:txBody>
                  <a:tcPr marL="45720" marR="45720" marT="27432" marB="27432" anchor="ctr"/>
                </a:tc>
              </a:tr>
              <a:tr h="380"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chemeClr val="tx2"/>
                          </a:solidFill>
                        </a:rPr>
                        <a:t>A1.4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Levantamiento de MP21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No iniciada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Programada desde la semana 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9 CuadroTexto"/>
          <p:cNvSpPr txBox="1"/>
          <p:nvPr/>
        </p:nvSpPr>
        <p:spPr>
          <a:xfrm>
            <a:off x="323528" y="5400000"/>
            <a:ext cx="8352928" cy="11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pPr marL="228600" indent="-228600">
              <a:buFont typeface="Wingdings" pitchFamily="2" charset="2"/>
              <a:buChar char="q"/>
            </a:pPr>
            <a:r>
              <a:rPr lang="es-CL" sz="1200" dirty="0">
                <a:solidFill>
                  <a:schemeClr val="tx2"/>
                </a:solidFill>
              </a:rPr>
              <a:t>El flujo levantado fue revisado con el </a:t>
            </a:r>
            <a:r>
              <a:rPr lang="es-CL" sz="1200" b="1" dirty="0">
                <a:solidFill>
                  <a:schemeClr val="tx2"/>
                </a:solidFill>
              </a:rPr>
              <a:t>líder de mejora continua</a:t>
            </a:r>
            <a:r>
              <a:rPr lang="es-CL" sz="1200" dirty="0">
                <a:solidFill>
                  <a:schemeClr val="tx2"/>
                </a:solidFill>
              </a:rPr>
              <a:t>, verificando la continuidad de la cadena y la consistencia de la secuencia entre áreas. La validación formal mediante acta de los dueños de proceso corresponde a A1.6 y está pendiente.</a:t>
            </a:r>
            <a:endParaRPr lang="es-CL" sz="1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CuadroTexto"/>
          <p:cNvSpPr txBox="1"/>
          <p:nvPr/>
        </p:nvSpPr>
        <p:spPr>
          <a:xfrm>
            <a:off x="5675867" y="340990"/>
            <a:ext cx="2337602" cy="25210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1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Sistema de gestión de riesgos MP8 y MP21</a:t>
            </a:r>
            <a:endParaRPr lang="es-CL" sz="1000"/>
          </a:p>
        </p:txBody>
      </p:sp>
      <p:sp>
        <p:nvSpPr>
          <p:cNvPr id="4" name="3 CuadroTexto"/>
          <p:cNvSpPr txBox="1"/>
          <p:nvPr/>
        </p:nvSpPr>
        <p:spPr>
          <a:xfrm>
            <a:off x="5740803" y="1034218"/>
            <a:ext cx="2207735" cy="221341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pPr algn="ctr"/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| </a:t>
            </a:r>
            <a:r>
              <a:rPr lang="es-CL" sz="900" b="1" dirty="0">
                <a:solidFill>
                  <a:srgbClr val="1F497D">
                    <a:lumMod val="75000"/>
                  </a:srgbClr>
                </a:solidFill>
              </a:rPr>
              <a:t>Estudiante: </a:t>
            </a:r>
            <a:r>
              <a:rPr lang="es-CL" sz="900" dirty="0">
                <a:solidFill>
                  <a:srgbClr val="1F497D">
                    <a:lumMod val="75000"/>
                  </a:srgbClr>
                </a:solidFill>
              </a:rPr>
              <a:t>Bastián Darwit Vera</a:t>
            </a:r>
            <a:r>
              <a:rPr lang="es-CL" sz="900" dirty="0">
                <a:solidFill>
                  <a:prstClr val="white">
                    <a:lumMod val="50000"/>
                  </a:prstClr>
                </a:solidFill>
              </a:rPr>
              <a:t> |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05865" y="1538381"/>
            <a:ext cx="7077739" cy="852256"/>
          </a:xfrm>
          <a:prstGeom prst="rect">
            <a:avLst/>
          </a:prstGeom>
          <a:noFill/>
        </p:spPr>
        <p:txBody>
          <a:bodyPr wrap="square" lIns="82014" tIns="45697" rIns="82014" bIns="45697" rtlCol="0">
            <a:spAutoFit/>
          </a:bodyPr>
          <a:lstStyle/>
          <a:p>
            <a:r>
              <a:rPr lang="es-CL" sz="2000" b="1" dirty="0">
                <a:solidFill>
                  <a:prstClr val="black">
                    <a:lumMod val="65000"/>
                    <a:lumOff val="35000"/>
                  </a:prstClr>
                </a:solidFill>
              </a:rPr>
              <a:t>Desarrollo y resultados del objetivo específico 1 (2 de 2)</a:t>
            </a:r>
            <a:endParaRPr lang="es-CL" sz="2000"/>
          </a:p>
        </p:txBody>
      </p:sp>
      <p:sp>
        <p:nvSpPr>
          <p:cNvPr id="8" name="7 CuadroTexto"/>
          <p:cNvSpPr txBox="1"/>
          <p:nvPr/>
        </p:nvSpPr>
        <p:spPr>
          <a:xfrm>
            <a:off x="323528" y="2400000"/>
            <a:ext cx="8352928" cy="4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400" b="1" dirty="0">
                <a:solidFill>
                  <a:srgbClr val="1F497D">
                    <a:lumMod val="75000"/>
                  </a:srgbClr>
                </a:solidFill>
              </a:rPr>
              <a:t>Resultados obtenidos · Flujo único de MP8: 18 fases, 261 elementos, 318 conexiones</a:t>
            </a:r>
            <a:endParaRPr lang="es-CL" sz="1400"/>
          </a:p>
        </p:txBody>
      </p:sp>
      <p:graphicFrame>
        <p:nvGraphicFramePr>
          <p:cNvPr id="20" name="Tabla 20"/>
          <p:cNvGraphicFramePr>
            <a:graphicFrameLocks noGrp="1"/>
          </p:cNvGraphicFramePr>
          <p:nvPr/>
        </p:nvGraphicFramePr>
        <p:xfrm>
          <a:off x="323528" y="2830000"/>
          <a:ext cx="4100000" cy="2100000"/>
        </p:xfrm>
        <a:graphic>
          <a:graphicData uri="http://schemas.openxmlformats.org/drawingml/2006/table">
            <a:tbl>
              <a:tblPr firstRow="1" bandRow="1"/>
              <a:tblGrid>
                <a:gridCol w="2900000"/>
                <a:gridCol w="700000"/>
                <a:gridCol w="500000"/>
              </a:tblGrid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000" b="1" dirty="0">
                          <a:solidFill>
                            <a:srgbClr val="FFFFFF"/>
                          </a:solidFill>
                        </a:rPr>
                        <a:t>Procedencia del elemento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rgbClr val="FFFFFF"/>
                          </a:solidFill>
                        </a:rPr>
                        <a:t>N.º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 marL="45720" marR="45720" marT="27432" marB="27432" anchor="ctr">
                    <a:solidFill>
                      <a:srgbClr val="1F497D"/>
                    </a:solidFill>
                  </a:tcPr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Procedimiento vigente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94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36,0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Insumo interno o marco de referencia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92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35,2</a:t>
                      </a:r>
                    </a:p>
                  </a:txBody>
                  <a:tcPr marL="45720" marR="45720" marT="27432" marB="27432" anchor="ctr"/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Entrevista, sin documentación previa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36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13,8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Brecha declarada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12</a:t>
                      </a:r>
                    </a:p>
                  </a:txBody>
                  <a:tcPr marL="45720" marR="45720" marT="27432" marB="27432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4,6</a:t>
                      </a:r>
                    </a:p>
                  </a:txBody>
                  <a:tcPr marL="45720" marR="45720" marT="27432" marB="27432" anchor="ctr"/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Elementos auxiliares de notación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27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dirty="0">
                          <a:solidFill>
                            <a:schemeClr val="tx2"/>
                          </a:solidFill>
                        </a:rPr>
                        <a:t>10,4</a:t>
                      </a:r>
                    </a:p>
                  </a:txBody>
                  <a:tcPr marL="45720" marR="45720" marT="27432" marB="27432" anchor="ctr">
                    <a:solidFill>
                      <a:srgbClr val="F2F2F2"/>
                    </a:solidFill>
                  </a:tcPr>
                </a:tc>
              </a:tr>
              <a:tr h="330">
                <a:tc>
                  <a:txBody>
                    <a:bodyPr/>
                    <a:lstStyle/>
                    <a:p>
                      <a:pPr/>
                      <a:r>
                        <a:rPr lang="es-CL" sz="1000" b="1" dirty="0">
                          <a:solidFill>
                            <a:schemeClr val="tx2"/>
                          </a:solidFill>
                        </a:rPr>
                        <a:t>Total</a:t>
                      </a:r>
                    </a:p>
                  </a:txBody>
                  <a:tcPr marL="45720" marR="45720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chemeClr val="tx2"/>
                          </a:solidFill>
                        </a:rPr>
                        <a:t>261</a:t>
                      </a:r>
                    </a:p>
                  </a:txBody>
                  <a:tcPr marL="45720" marR="45720" marT="27432" marB="27432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000" b="1" dirty="0">
                          <a:solidFill>
                            <a:schemeClr val="tx2"/>
                          </a:solidFill>
                        </a:rPr>
                        <a:t>100</a:t>
                      </a:r>
                    </a:p>
                  </a:txBody>
                  <a:tcPr marL="45720" marR="45720" marT="27432" marB="27432" anchor="ctr">
                    <a:solidFill>
                      <a:srgbClr val="D9D9D9"/>
                    </a:solidFill>
                  </a:tcPr>
                </a:tc>
              </a:tr>
            </a:tbl>
          </a:graphicData>
        </a:graphic>
      </p:graphicFrame>
      <p:sp>
        <p:nvSpPr>
          <p:cNvPr id="9" name="8 CuadroTexto"/>
          <p:cNvSpPr txBox="1"/>
          <p:nvPr/>
        </p:nvSpPr>
        <p:spPr>
          <a:xfrm>
            <a:off x="4576456" y="2800000"/>
            <a:ext cx="4100000" cy="22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pPr marL="228600" indent="-228600">
              <a:buFont typeface="Wingdings" pitchFamily="2" charset="2"/>
              <a:buChar char="q"/>
            </a:pPr>
            <a:r>
              <a:rPr lang="es-CL" sz="1150" b="1" dirty="0">
                <a:solidFill>
                  <a:schemeClr val="tx2"/>
                </a:solidFill>
              </a:rPr>
              <a:t>Cobertura de trazabilidad: 222 de 234 pasos, 94,9 %.</a:t>
            </a:r>
            <a:r>
              <a:rPr lang="es-CL" sz="1150" dirty="0">
                <a:solidFill>
                  <a:schemeClr val="tx2"/>
                </a:solidFill>
              </a:rPr>
              <a:t> El remanente son brechas identificadas y asignadas a un rol, no tramos desconocidos.</a:t>
            </a:r>
            <a:endParaRPr lang="es-CL" sz="115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150" b="1" dirty="0">
                <a:solidFill>
                  <a:schemeClr val="tx2"/>
                </a:solidFill>
              </a:rPr>
              <a:t>CAP: 0 %.</a:t>
            </a:r>
            <a:r>
              <a:rPr lang="es-CL" sz="1150" dirty="0">
                <a:solidFill>
                  <a:schemeClr val="tx2"/>
                </a:solidFill>
              </a:rPr>
              <a:t> El indicador mide la segmentación en cinco niveles, etapa aún no iniciada.</a:t>
            </a:r>
            <a:endParaRPr lang="es-CL" sz="1150"/>
          </a:p>
          <a:p>
            <a:pPr marL="228600" indent="-228600">
              <a:spcBef>
                <a:spcPts val="400"/>
              </a:spcBef>
              <a:buFont typeface="Wingdings" pitchFamily="2" charset="2"/>
              <a:buChar char="q"/>
            </a:pPr>
            <a:r>
              <a:rPr lang="es-CL" sz="1150" b="1" dirty="0">
                <a:solidFill>
                  <a:schemeClr val="tx2"/>
                </a:solidFill>
              </a:rPr>
              <a:t>198 elementos</a:t>
            </a:r>
            <a:r>
              <a:rPr lang="es-CL" sz="1150" dirty="0">
                <a:solidFill>
                  <a:schemeClr val="tx2"/>
                </a:solidFill>
              </a:rPr>
              <a:t> quedaron asociados a </a:t>
            </a:r>
            <a:r>
              <a:rPr lang="es-CL" sz="1150" b="1" dirty="0">
                <a:solidFill>
                  <a:schemeClr val="tx2"/>
                </a:solidFill>
              </a:rPr>
              <a:t>86 códigos</a:t>
            </a:r>
            <a:r>
              <a:rPr lang="es-CL" sz="1150" dirty="0">
                <a:solidFill>
                  <a:schemeClr val="tx2"/>
                </a:solidFill>
              </a:rPr>
              <a:t> del APQC PCF, categoría 7.</a:t>
            </a:r>
            <a:endParaRPr lang="es-CL" sz="1150"/>
          </a:p>
        </p:txBody>
      </p:sp>
      <p:sp>
        <p:nvSpPr>
          <p:cNvPr id="10" name="9 CuadroTexto"/>
          <p:cNvSpPr txBox="1"/>
          <p:nvPr/>
        </p:nvSpPr>
        <p:spPr>
          <a:xfrm>
            <a:off x="323528" y="5100000"/>
            <a:ext cx="8352928" cy="1500000"/>
          </a:xfrm>
          <a:prstGeom prst="rect">
            <a:avLst/>
          </a:prstGeom>
          <a:noFill/>
        </p:spPr>
        <p:txBody>
          <a:bodyPr wrap="square" lIns="91396" tIns="45697" rIns="91396" bIns="45697" rtlCol="0">
            <a:spAutoFit/>
          </a:bodyPr>
          <a:lstStyle/>
          <a:p>
            <a:r>
              <a:rPr lang="es-CL" sz="1300" b="1" dirty="0">
                <a:solidFill>
                  <a:srgbClr val="1F497D">
                    <a:lumMod val="75000"/>
                  </a:srgbClr>
                </a:solidFill>
              </a:rPr>
              <a:t>Hallazgos</a:t>
            </a:r>
            <a:endParaRPr lang="es-CL" sz="1300"/>
          </a:p>
          <a:p>
            <a:pPr marL="228600" indent="-228600">
              <a:buFont typeface="Wingdings" pitchFamily="2" charset="2"/>
              <a:buChar char="q"/>
            </a:pPr>
            <a:r>
              <a:rPr lang="es-CL" sz="1150" b="1" dirty="0">
                <a:solidFill>
                  <a:schemeClr val="tx2"/>
                </a:solidFill>
              </a:rPr>
              <a:t>36 pasos</a:t>
            </a:r>
            <a:r>
              <a:rPr lang="es-CL" sz="1150" dirty="0">
                <a:solidFill>
                  <a:schemeClr val="tx2"/>
                </a:solidFill>
              </a:rPr>
              <a:t> que la organización ejecuta habitualmente </a:t>
            </a:r>
            <a:r>
              <a:rPr lang="es-CL" sz="1150" b="1" dirty="0">
                <a:solidFill>
                  <a:schemeClr val="tx2"/>
                </a:solidFill>
              </a:rPr>
              <a:t>no constan en ningún procedimiento vigente</a:t>
            </a:r>
            <a:r>
              <a:rPr lang="es-CL" sz="1150" dirty="0">
                <a:solidFill>
                  <a:schemeClr val="tx2"/>
                </a:solidFill>
              </a:rPr>
              <a:t>; su incorporación es un aporte directo del trabajo.</a:t>
            </a:r>
            <a:endParaRPr lang="es-CL" sz="1150"/>
          </a:p>
          <a:p>
            <a:pPr marL="228600" indent="-228600">
              <a:spcBef>
                <a:spcPts val="300"/>
              </a:spcBef>
              <a:buFont typeface="Wingdings" pitchFamily="2" charset="2"/>
              <a:buChar char="q"/>
            </a:pPr>
            <a:r>
              <a:rPr lang="es-CL" sz="1150" b="1" dirty="0">
                <a:solidFill>
                  <a:schemeClr val="tx2"/>
                </a:solidFill>
              </a:rPr>
              <a:t>12 brechas declaradas</a:t>
            </a:r>
            <a:r>
              <a:rPr lang="es-CL" sz="1150" dirty="0">
                <a:solidFill>
                  <a:schemeClr val="tx2"/>
                </a:solidFill>
              </a:rPr>
              <a:t>, de las cuales </a:t>
            </a:r>
            <a:r>
              <a:rPr lang="es-CL" sz="1150" b="1" dirty="0">
                <a:solidFill>
                  <a:schemeClr val="tx2"/>
                </a:solidFill>
              </a:rPr>
              <a:t>10 se concentran</a:t>
            </a:r>
            <a:r>
              <a:rPr lang="es-CL" sz="1150" dirty="0">
                <a:solidFill>
                  <a:schemeClr val="tx2"/>
                </a:solidFill>
              </a:rPr>
              <a:t> en administración de nómina y desvinculación: el cierre del ciclo de vida del trabajador es el tramo menos documentado.</a:t>
            </a:r>
            <a:endParaRPr lang="es-CL" sz="1150"/>
          </a:p>
          <a:p>
            <a:pPr marL="228600" indent="-228600">
              <a:spcBef>
                <a:spcPts val="300"/>
              </a:spcBef>
              <a:buFont typeface="Wingdings" pitchFamily="2" charset="2"/>
              <a:buChar char="q"/>
            </a:pPr>
            <a:r>
              <a:rPr lang="es-CL" sz="1150" dirty="0">
                <a:solidFill>
                  <a:schemeClr val="tx2"/>
                </a:solidFill>
              </a:rPr>
              <a:t>En </a:t>
            </a:r>
            <a:r>
              <a:rPr lang="es-CL" sz="1150" b="1" dirty="0">
                <a:solidFill>
                  <a:schemeClr val="tx2"/>
                </a:solidFill>
              </a:rPr>
              <a:t>8 de las 12</a:t>
            </a:r>
            <a:r>
              <a:rPr lang="es-CL" sz="1150" dirty="0">
                <a:solidFill>
                  <a:schemeClr val="tx2"/>
                </a:solidFill>
              </a:rPr>
              <a:t> brechas el APQC PCF no desciende a un nivel accionable, de modo que el marco no sustituye el levantamiento en terreno.</a:t>
            </a:r>
            <a:endParaRPr lang="es-CL" sz="11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Avance 1 · Trabajo Final de Grado</dc:title>
  <dc:creator>Bastián Darwit Vera</dc:creator>
  <cp:lastModifiedBy>Bastián Darwit Vera</cp:lastModifiedBy>
  <cp:revision>7</cp:revision>
  <cp:lastPrinted>2017-06-14T16:22:49Z</cp:lastPrinted>
  <dcterms:created xsi:type="dcterms:W3CDTF">2016-09-10T16:04:57Z</dcterms:created>
  <dcterms:modified xsi:type="dcterms:W3CDTF">2017-08-09T21:55:14Z</dcterms:modified>
</cp:coreProperties>
</file>