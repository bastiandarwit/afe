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9"/>
  </p:notesMasterIdLst>
  <p:handoutMasterIdLst>
    <p:handoutMasterId r:id="rId20"/>
  </p:handoutMasterIdLst>
  <p:sldIdLst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</p:sldIdLst>
  <p:sldSz cx="9144000" cy="6858000" type="screen4x3"/>
  <p:notesSz cx="7053263" cy="93091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8"/>
  </p:normalViewPr>
  <p:slideViewPr>
    <p:cSldViewPr>
      <p:cViewPr>
        <p:scale>
          <a:sx n="122" d="100"/>
          <a:sy n="122" d="100"/>
        </p:scale>
        <p:origin x="126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F7441441-8FC0-4A30-89C4-F31D5A1C1895}" type="datetimeFigureOut">
              <a:rPr lang="es-CL" smtClean="0"/>
              <a:t>11-09-26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36487FEA-E5F0-44EA-AEEE-18FE56B8947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1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931033AC-E193-49D3-90A8-424EF36BA0C9}" type="datetimeFigureOut">
              <a:rPr lang="es-CL" smtClean="0"/>
              <a:t>11-09-26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724653D3-67DB-4300-BF3B-A2F64A3516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027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0:20 · Acumulado: 0:20</a:t>
            </a:r>
          </a:p>
          <a:p>
            <a:endParaRPr lang="es-CL" sz="1200"/>
          </a:p>
          <a:p>
            <a:r>
              <a:rPr lang="es-CL" sz="1200" dirty="0"/>
              <a:t>Saludo y presentación. Este es el primer avance del TFG; el</a:t>
            </a:r>
          </a:p>
          <a:p>
            <a:r>
              <a:rPr lang="es-CL" sz="1200" dirty="0"/>
              <a:t>anteproyecto fue aprobado y presentado el 8 de agosto.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1:00</a:t>
            </a:r>
          </a:p>
          <a:p>
            <a:endParaRPr lang="es-CL" sz="1200"/>
          </a:p>
          <a:p>
            <a:r>
              <a:rPr lang="es-CL" sz="1200" dirty="0"/>
              <a:t>El título no cambió. Dejar claro desde el inicio que es una propuesta:</a:t>
            </a:r>
          </a:p>
          <a:p>
            <a:r>
              <a:rPr lang="es-CL" sz="1200" dirty="0"/>
              <a:t>se diseña el sistema, la implementación es decisión de la compañía.</a:t>
            </a:r>
          </a:p>
          <a:p>
            <a:r>
              <a:rPr lang="es-CL" sz="1200" dirty="0"/>
              <a:t>Mencionar que MP8 es transversal a los tres negocios, no solo celulosa.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1:50</a:t>
            </a:r>
          </a:p>
          <a:p>
            <a:endParaRPr lang="es-CL" sz="1200"/>
          </a:p>
          <a:p>
            <a:r>
              <a:rPr lang="es-CL" sz="1200" dirty="0"/>
              <a:t>Los objetivos no cambiaron. Recalcar la secuencia de dependencia:</a:t>
            </a:r>
          </a:p>
          <a:p>
            <a:r>
              <a:rPr lang="es-CL" sz="1200" dirty="0"/>
              <a:t>sin arquitectura modelada no hay universo de tareas que evaluar,</a:t>
            </a:r>
          </a:p>
          <a:p>
            <a:r>
              <a:rPr lang="es-CL" sz="1200" dirty="0"/>
              <a:t>y sin evaluación no hay sistema que integrar.</a:t>
            </a:r>
          </a:p>
          <a:p>
            <a:r>
              <a:rPr lang="es-CL" sz="1200" dirty="0"/>
              <a:t>Anunciar que este avance se concentra en OE1.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2:40</a:t>
            </a:r>
          </a:p>
          <a:p>
            <a:endParaRPr lang="es-CL" sz="1200"/>
          </a:p>
          <a:p>
            <a:r>
              <a:rPr lang="es-CL" sz="1200" dirty="0"/>
              <a:t>Esta es la lámina clave de metodología. Explicar por qué dos etapas:</a:t>
            </a:r>
          </a:p>
          <a:p>
            <a:r>
              <a:rPr lang="es-CL" sz="1200" dirty="0"/>
              <a:t>Arauco organiza por áreas funcionales, así que la jerarquía no existe</a:t>
            </a:r>
          </a:p>
          <a:p>
            <a:r>
              <a:rPr lang="es-CL" sz="1200" dirty="0"/>
              <a:t>como punto de partida. Derivarla del flujo evita suponer agrupaciones</a:t>
            </a:r>
          </a:p>
          <a:p>
            <a:r>
              <a:rPr lang="es-CL" sz="1200" dirty="0"/>
              <a:t>que la organización no tiene declaradas.</a:t>
            </a:r>
          </a:p>
          <a:p>
            <a:r>
              <a:rPr lang="es-CL" sz="1200" dirty="0"/>
              <a:t>La regla de trazabilidad es el resguardo metodológico: nada se inventa.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3:20</a:t>
            </a:r>
          </a:p>
          <a:p>
            <a:endParaRPr lang="es-CL" sz="1200"/>
          </a:p>
          <a:p>
            <a:r>
              <a:rPr lang="es-CL" sz="1200" dirty="0"/>
              <a:t>No detenerse en cada atributo: mencionar que el riesgo residual es el</a:t>
            </a:r>
          </a:p>
          <a:p>
            <a:r>
              <a:rPr lang="es-CL" sz="1200" dirty="0"/>
              <a:t>que orienta la respuesta y conecta con OE3. Señalar que la evaluación</a:t>
            </a:r>
          </a:p>
          <a:p>
            <a:r>
              <a:rPr lang="es-CL" sz="1200" dirty="0"/>
              <a:t>se hará en talleres con los dueños de proceso.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4:00</a:t>
            </a:r>
          </a:p>
          <a:p>
            <a:endParaRPr lang="es-CL" sz="1200"/>
          </a:p>
          <a:p>
            <a:r>
              <a:rPr lang="es-CL" sz="1200" dirty="0"/>
              <a:t>Insistir en la distinción entre catálogo y sistema: el sistema integra</a:t>
            </a:r>
          </a:p>
          <a:p>
            <a:r>
              <a:rPr lang="es-CL" sz="1200" dirty="0"/>
              <a:t>valoración, tratamiento, gobernanza y seguimiento.</a:t>
            </a:r>
          </a:p>
          <a:p>
            <a:r>
              <a:rPr lang="es-CL" sz="1200" dirty="0"/>
              <a:t>La tabla de indicadores sirve para anunciar cómo se medirá el logro,</a:t>
            </a:r>
          </a:p>
          <a:p>
            <a:r>
              <a:rPr lang="es-CL" sz="1200" dirty="0"/>
              <a:t>y se retoma al final con el estado actual de cada uno.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4:50</a:t>
            </a:r>
          </a:p>
          <a:p>
            <a:endParaRPr lang="es-CL" sz="1200"/>
          </a:p>
          <a:p>
            <a:r>
              <a:rPr lang="es-CL" sz="1200" dirty="0"/>
              <a:t>Lámina importante ante la comisión. Ser explícito: lo que cambió es el</a:t>
            </a:r>
          </a:p>
          <a:p>
            <a:r>
              <a:rPr lang="es-CL" sz="1200" dirty="0"/>
              <a:t>modo de ejecutar el modelamiento y la programación, no el alcance</a:t>
            </a:r>
          </a:p>
          <a:p>
            <a:r>
              <a:rPr lang="es-CL" sz="1200" dirty="0"/>
              <a:t>comprometido. Cerrar con la frase de la última línea, que es la que</a:t>
            </a:r>
          </a:p>
          <a:p>
            <a:r>
              <a:rPr lang="es-CL" sz="1200" dirty="0"/>
              <a:t>responde la pregunta que probablemente hará la comisión.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5:40</a:t>
            </a:r>
          </a:p>
          <a:p>
            <a:endParaRPr lang="es-CL" sz="1200"/>
          </a:p>
          <a:p>
            <a:r>
              <a:rPr lang="es-CL" sz="1200" dirty="0"/>
              <a:t>Recorrer solo las filas oscuras: lo completado. Señalar que MP21</a:t>
            </a:r>
          </a:p>
          <a:p>
            <a:r>
              <a:rPr lang="es-CL" sz="1200" dirty="0"/>
              <a:t>arranca en la semana 6 y que el segundo hito queda en la semana 13.</a:t>
            </a:r>
          </a:p>
          <a:p>
            <a:r>
              <a:rPr lang="es-CL" sz="1200" dirty="0"/>
              <a:t>Si preguntan por el desfase: el hito se adelantó de la semana 10 a la 5,</a:t>
            </a:r>
          </a:p>
          <a:p>
            <a:r>
              <a:rPr lang="es-CL" sz="1200" dirty="0"/>
              <a:t>de modo que se expone menos avance del originalmente previsto para</a:t>
            </a:r>
          </a:p>
          <a:p>
            <a:r>
              <a:rPr lang="es-CL" sz="1200" dirty="0"/>
              <a:t>este punto, y la programación total se mantiene en 20 semanas.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6:30</a:t>
            </a:r>
          </a:p>
          <a:p>
            <a:endParaRPr lang="es-CL" sz="1200"/>
          </a:p>
          <a:p>
            <a:r>
              <a:rPr lang="es-CL" sz="1200" dirty="0"/>
              <a:t>Ser claro con los dos niveles de validación: hay revisión técnica con el</a:t>
            </a:r>
          </a:p>
          <a:p>
            <a:r>
              <a:rPr lang="es-CL" sz="1200" dirty="0"/>
              <a:t>líder de mejora continua, pero el acta formal es posterior. No presentar</a:t>
            </a:r>
          </a:p>
          <a:p>
            <a:r>
              <a:rPr lang="es-CL" sz="1200" dirty="0"/>
              <a:t>como validado lo que aún no lo está.</a:t>
            </a:r>
          </a:p>
          <a:p>
            <a:r>
              <a:rPr lang="es-CL" sz="1200" dirty="0"/>
              <a:t>Decir sin rodeos que MP21 no ha comenzado.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1:00 · Acumulado: 7:30</a:t>
            </a:r>
          </a:p>
          <a:p>
            <a:endParaRPr lang="es-CL" sz="1200"/>
          </a:p>
          <a:p>
            <a:r>
              <a:rPr lang="es-CL" sz="1200" dirty="0"/>
              <a:t>Este es el resultado central del avance. Destacar el cambio de mirada:</a:t>
            </a:r>
          </a:p>
          <a:p>
            <a:r>
              <a:rPr lang="es-CL" sz="1200" dirty="0"/>
              <a:t>antes había ocho silos funcionales, ahora hay una sola cadena de</a:t>
            </a:r>
          </a:p>
          <a:p>
            <a:r>
              <a:rPr lang="es-CL" sz="1200" dirty="0"/>
              <a:t>información de punta a punta.</a:t>
            </a:r>
          </a:p>
          <a:p>
            <a:r>
              <a:rPr lang="es-CL" sz="1200" dirty="0"/>
              <a:t>El dato del arranque, en la necesidad estratégica y no en la vacante,</a:t>
            </a:r>
          </a:p>
          <a:p>
            <a:r>
              <a:rPr lang="es-CL" sz="1200" dirty="0"/>
              <a:t>suele generar preguntas: viene del orden que fija el APQC PCF.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8:20</a:t>
            </a:r>
          </a:p>
          <a:p>
            <a:endParaRPr lang="es-CL" sz="1200"/>
          </a:p>
          <a:p>
            <a:r>
              <a:rPr lang="es-CL" sz="1200" dirty="0"/>
              <a:t>No leer la tabla. Señalar el patrón: el centro del ciclo, selección y</a:t>
            </a:r>
          </a:p>
          <a:p>
            <a:r>
              <a:rPr lang="es-CL" sz="1200" dirty="0"/>
              <a:t>formación, está documentado; los extremos no. Las dos fases con</a:t>
            </a:r>
          </a:p>
          <a:p>
            <a:r>
              <a:rPr lang="es-CL" sz="1200" dirty="0"/>
              <a:t>brechas quedan marcadas en rojo y son el puente a la lámina siguiente.</a:t>
            </a:r>
          </a:p>
          <a:p>
            <a:r>
              <a:rPr lang="es-CL" sz="1200" dirty="0"/>
              <a:t>Conclusión: la madurez conviene medirse por fase, no de forma agregada.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9:10</a:t>
            </a:r>
          </a:p>
          <a:p>
            <a:endParaRPr lang="es-CL" sz="1200"/>
          </a:p>
          <a:p>
            <a:r>
              <a:rPr lang="es-CL" sz="1200" dirty="0"/>
              <a:t>Presentar las brechas como resultado, no como falta. Son el producto de</a:t>
            </a:r>
          </a:p>
          <a:p>
            <a:r>
              <a:rPr lang="es-CL" sz="1200" dirty="0"/>
              <a:t>la regla de trazabilidad: se declaran en lugar de rellenarse a ojo.</a:t>
            </a:r>
          </a:p>
          <a:p>
            <a:r>
              <a:rPr lang="es-CL" sz="1200" dirty="0"/>
              <a:t>La desvinculación es el espejo del onboarding y está sin documentar.</a:t>
            </a:r>
          </a:p>
          <a:p>
            <a:r>
              <a:rPr lang="es-CL" sz="1200" dirty="0"/>
              <a:t>Consecuencia para OE2: una tarea no descrita no se puede evaluar,</a:t>
            </a:r>
          </a:p>
          <a:p>
            <a:r>
              <a:rPr lang="es-CL" sz="1200" dirty="0"/>
              <a:t>de modo que cerrar estas brechas condiciona la cobertura alcanzable.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10:00</a:t>
            </a:r>
          </a:p>
          <a:p>
            <a:endParaRPr lang="es-CL" sz="1200"/>
          </a:p>
          <a:p>
            <a:r>
              <a:rPr lang="es-CL" sz="1200" dirty="0"/>
              <a:t>Los 36 pasos son el argumento de valor para la empresa: se está</a:t>
            </a:r>
          </a:p>
          <a:p>
            <a:r>
              <a:rPr lang="es-CL" sz="1200" dirty="0"/>
              <a:t>documentando lo que se hace y no estaba escrito.</a:t>
            </a:r>
          </a:p>
          <a:p>
            <a:r>
              <a:rPr lang="es-CL" sz="1200" dirty="0"/>
              <a:t>Explicar bien el CAP en 0 %: es una consecuencia de la definición del</a:t>
            </a:r>
          </a:p>
          <a:p>
            <a:r>
              <a:rPr lang="es-CL" sz="1200" dirty="0"/>
              <a:t>indicador, no una falta de avance. Para eso se agregó la cobertura de</a:t>
            </a:r>
          </a:p>
          <a:p>
            <a:r>
              <a:rPr lang="es-CL" sz="1200" dirty="0"/>
              <a:t>trazabilidad, que sí refleja el estado de la primera etapa.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10:40</a:t>
            </a:r>
          </a:p>
          <a:p>
            <a:endParaRPr lang="es-CL" sz="1200"/>
          </a:p>
          <a:p>
            <a:r>
              <a:rPr lang="es-CL" sz="1200" dirty="0"/>
              <a:t>Cerrar con compromisos concretos y fechas. Mencionar que el cierre de</a:t>
            </a:r>
          </a:p>
          <a:p>
            <a:r>
              <a:rPr lang="es-CL" sz="1200" dirty="0"/>
              <a:t>brechas corre en paralelo y no bloquea la segmentación de MP8.</a:t>
            </a:r>
          </a:p>
          <a:p>
            <a:r>
              <a:rPr lang="es-CL" sz="1200" dirty="0"/>
              <a:t>Dejar espacio para preguntas.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0:10 · Total: 10:50</a:t>
            </a:r>
          </a:p>
          <a:p>
            <a:endParaRPr lang="es-CL" sz="1200"/>
          </a:p>
          <a:p>
            <a:r>
              <a:rPr lang="es-CL" sz="1200" dirty="0"/>
              <a:t>Preguntas probables de la comisión:</a:t>
            </a:r>
          </a:p>
          <a:p>
            <a:r>
              <a:rPr lang="es-CL" sz="1200" dirty="0"/>
              <a:t>1. ¿Por qué el CAP está en 0 %? Ver lámina 13.</a:t>
            </a:r>
          </a:p>
          <a:p>
            <a:r>
              <a:rPr lang="es-CL" sz="1200" dirty="0"/>
              <a:t>2. ¿El cambio de metodología altera el alcance? Ver lámina 7.</a:t>
            </a:r>
          </a:p>
          <a:p>
            <a:r>
              <a:rPr lang="es-CL" sz="1200" dirty="0"/>
              <a:t>3. ¿Cómo se resguarda la confidencialidad? Datos agregados, roles sin</a:t>
            </a:r>
          </a:p>
          <a:p>
            <a:r>
              <a:rPr lang="es-CL" sz="1200" dirty="0"/>
              <a:t>   nombres e informe final marcado como reservado. Ya están suscritas la</a:t>
            </a:r>
          </a:p>
          <a:p>
            <a:r>
              <a:rPr lang="es-CL" sz="1200" dirty="0"/>
              <a:t>   carta de compromiso de apoyo de la empresa y la solicitud de</a:t>
            </a:r>
          </a:p>
          <a:p>
            <a:r>
              <a:rPr lang="es-CL" sz="1200" dirty="0"/>
              <a:t>   confidencialidad del trabajo (Anexos E y F del informe).</a:t>
            </a:r>
          </a:p>
          <a:p>
            <a:r>
              <a:rPr lang="es-CL" sz="1200" dirty="0"/>
              <a:t>4. ¿Qué pasa si las brechas no se cierran? Acotan la cobertura de OE2;</a:t>
            </a:r>
          </a:p>
          <a:p>
            <a:r>
              <a:rPr lang="es-CL" sz="1200" dirty="0"/>
              <a:t>   se declararían como limitación del estudio.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11-09-26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2843466" y="4941169"/>
            <a:ext cx="3468694" cy="105231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Carlos Muñoz P.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co-guía: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Manuel Echiburú Fuenzalida</a:t>
            </a:r>
          </a:p>
          <a:p>
            <a:endParaRPr lang="es-CL" sz="1300"/>
          </a:p>
          <a:p>
            <a:pPr algn="ct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Fecha: </a:t>
            </a:r>
            <a:r>
              <a:rPr lang="es-CL" sz="1100" dirty="0">
                <a:solidFill>
                  <a:srgbClr val="1F497D">
                    <a:lumMod val="75000"/>
                  </a:srgbClr>
                </a:solidFill>
              </a:rPr>
              <a:t>12/09/2026</a:t>
            </a:r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DCB6E7DB-2431-527A-2D61-7857E461A262}"/>
              </a:ext>
            </a:extLst>
          </p:cNvPr>
          <p:cNvSpPr txBox="1"/>
          <p:nvPr/>
        </p:nvSpPr>
        <p:spPr>
          <a:xfrm>
            <a:off x="731520" y="3127248"/>
            <a:ext cx="768096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lnSpc>
                <a:spcPct val="112000"/>
              </a:lnSpc>
              <a:buNone/>
            </a:pPr>
            <a:r>
              <a:rPr lang="es-CL" sz="17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  <p:sp>
        <p:nvSpPr>
          <p:cNvPr id="5" name="Regla">
            <a:extLst>
              <a:ext uri="{FF2B5EF4-FFF2-40B4-BE49-F238E27FC236}">
                <a16:creationId xmlns:a16="http://schemas.microsoft.com/office/drawing/2014/main" id="{B6B4BC21-EB39-F183-0D3F-CF86AC340E40}"/>
              </a:ext>
            </a:extLst>
          </p:cNvPr>
          <p:cNvSpPr/>
          <p:nvPr/>
        </p:nvSpPr>
        <p:spPr>
          <a:xfrm>
            <a:off x="4160520" y="4206240"/>
            <a:ext cx="822960" cy="1828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Programa">
            <a:extLst>
              <a:ext uri="{FF2B5EF4-FFF2-40B4-BE49-F238E27FC236}">
                <a16:creationId xmlns:a16="http://schemas.microsoft.com/office/drawing/2014/main" id="{FB2CC163-167F-3251-8692-DB605EBB0EC1}"/>
              </a:ext>
            </a:extLst>
          </p:cNvPr>
          <p:cNvSpPr txBox="1"/>
          <p:nvPr/>
        </p:nvSpPr>
        <p:spPr>
          <a:xfrm>
            <a:off x="731520" y="4315968"/>
            <a:ext cx="7680960" cy="49377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ctr">
              <a:buNone/>
            </a:pPr>
            <a:r>
              <a:rPr lang="es-CL" sz="1150" b="1" dirty="0">
                <a:solidFill>
                  <a:srgbClr val="3A3A3A"/>
                </a:solidFill>
                <a:latin typeface="Calibri"/>
                <a:cs typeface="Calibri"/>
              </a:rPr>
              <a:t>Magíster en Sistemas de Gestión Integral de la Calidad</a:t>
            </a:r>
          </a:p>
          <a:p>
            <a:pPr algn="ctr">
              <a:buNone/>
            </a:pPr>
            <a:r>
              <a:rPr lang="es-CL" sz="1050" dirty="0">
                <a:solidFill>
                  <a:srgbClr val="6B6B6B"/>
                </a:solidFill>
                <a:latin typeface="Calibri"/>
                <a:cs typeface="Calibri"/>
              </a:rPr>
              <a:t>Facultad de Ingeniería y Ciencias · Universidad de La Frontera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15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18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8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350000"/>
            <a:ext cx="8352928" cy="1220801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Qué se aborda.</a:t>
            </a:r>
            <a:r>
              <a:rPr lang="es-CL" sz="1300" dirty="0">
                <a:solidFill>
                  <a:schemeClr val="tx2"/>
                </a:solidFill>
              </a:rPr>
              <a:t> Dos macroprocesos de apoyo que sostienen la operación y que hoy no cuentan con una gestión de riesgos estructurada ni con una arquitectura de procesos formalizada.</a:t>
            </a:r>
            <a:endParaRPr lang="es-CL" sz="1300" dirty="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Caso.</a:t>
            </a:r>
            <a:r>
              <a:rPr lang="es-CL" sz="1300" dirty="0">
                <a:solidFill>
                  <a:schemeClr val="tx2"/>
                </a:solidFill>
              </a:rPr>
              <a:t> Celulosa Arauco y Constitución S.A. El trabajo se centra en el Negocio de Celulosa. MP8 es transversal a los tres negocios (celulosa, madera y forestal) y MP21 a dos (celulosa y forestal).</a:t>
            </a:r>
            <a:endParaRPr lang="es-CL" sz="1300" dirty="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Carácter de propuesta.</a:t>
            </a:r>
            <a:r>
              <a:rPr lang="es-CL" sz="1300" dirty="0">
                <a:solidFill>
                  <a:schemeClr val="tx2"/>
                </a:solidFill>
              </a:rPr>
              <a:t> El trabajo comprende el diseño del sistema, no su implementación.</a:t>
            </a:r>
            <a:endParaRPr lang="es-CL" sz="1300" dirty="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sin modificaciones respecto del anteproyecto aprobado.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2</a:t>
            </a:r>
            <a:endParaRPr lang="es-CL" sz="2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 general</a:t>
            </a:r>
            <a:endParaRPr lang="es-CL" sz="1500"/>
          </a:p>
          <a:p>
            <a:r>
              <a:rPr lang="es-CL" sz="1400" dirty="0">
                <a:solidFill>
                  <a:schemeClr val="tx2"/>
                </a:solidFill>
              </a:rPr>
              <a:t>Estructurar un sistema de gestión de riesgos según metodología COSO II para los macroprocesos de Gestión de Personas (MP8) y Servicios Generales (MP21) de Celulosa Arauco y Constitución S.A.</a:t>
            </a:r>
            <a:endParaRPr lang="es-CL" sz="14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800000"/>
            <a:ext cx="8352928" cy="2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Objetivos específicos</a:t>
            </a:r>
            <a:endParaRPr lang="es-CL" sz="15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OE1. Modelar</a:t>
            </a:r>
            <a:r>
              <a:rPr lang="es-CL" sz="1350" dirty="0">
                <a:solidFill>
                  <a:schemeClr val="tx2"/>
                </a:solidFill>
              </a:rPr>
              <a:t> la arquitectura de procesos de MP8 y MP21, desde sus procesos hasta sus tareas, según el marco del Modelo de Gestión Operacional.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OE2. Evaluar</a:t>
            </a:r>
            <a:r>
              <a:rPr lang="es-CL" sz="1350" dirty="0">
                <a:solidFill>
                  <a:schemeClr val="tx2"/>
                </a:solidFill>
              </a:rPr>
              <a:t> los riesgos operacionales de las tareas modeladas mediante la metodología COSO II.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OE3. Elaborar</a:t>
            </a:r>
            <a:r>
              <a:rPr lang="es-CL" sz="1350" dirty="0">
                <a:solidFill>
                  <a:schemeClr val="tx2"/>
                </a:solidFill>
              </a:rPr>
              <a:t> el sistema de gestión de riesgos, integrando el catálogo de riesgos y sus planes de mitigación.</a:t>
            </a:r>
            <a:endParaRPr lang="es-CL" sz="135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 sin modificaciones. Este avance reporta el objetivo específico 1.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3</a:t>
            </a:r>
            <a:endParaRPr lang="es-CL" sz="2400" b="1"/>
          </a:p>
        </p:txBody>
      </p:sp>
      <p:sp>
        <p:nvSpPr>
          <p:cNvPr id="3" name="Titulo">
            <a:extLst>
              <a:ext uri="{FF2B5EF4-FFF2-40B4-BE49-F238E27FC236}">
                <a16:creationId xmlns:a16="http://schemas.microsoft.com/office/drawing/2014/main" id="{9B012FE5-92EC-B60E-3370-9173390F17A0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(1 de 3) · Diseño y objetivo específico 1</a:t>
            </a:r>
            <a:endParaRPr lang="es-CL" sz="21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9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chemeClr val="tx2"/>
                </a:solidFill>
              </a:rPr>
              <a:t>Diseño.</a:t>
            </a:r>
            <a:r>
              <a:rPr lang="es-CL" sz="1300" dirty="0">
                <a:solidFill>
                  <a:schemeClr val="tx2"/>
                </a:solidFill>
              </a:rPr>
              <a:t> Descriptivo-aplicado, observacional, caso único, no experimental. </a:t>
            </a:r>
            <a:r>
              <a:rPr lang="es-CL" sz="1300" b="1" dirty="0">
                <a:solidFill>
                  <a:schemeClr val="tx2"/>
                </a:solidFill>
              </a:rPr>
              <a:t>Unidad de análisis:</a:t>
            </a:r>
            <a:r>
              <a:rPr lang="es-CL" sz="1300" dirty="0">
                <a:solidFill>
                  <a:schemeClr val="tx2"/>
                </a:solidFill>
              </a:rPr>
              <a:t> el nivel corporativo que define ambos macroprocesos.</a:t>
            </a:r>
            <a:endParaRPr lang="es-CL" sz="13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350000"/>
            <a:ext cx="8352928" cy="2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OE1 · El modelamiento se ejecuta en dos etapas por macroproceso</a:t>
            </a:r>
            <a:endParaRPr lang="es-CL" sz="14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1. Flujo único de información.</a:t>
            </a:r>
            <a:r>
              <a:rPr lang="es-CL" sz="1300" dirty="0">
                <a:solidFill>
                  <a:schemeClr val="tx2"/>
                </a:solidFill>
              </a:rPr>
              <a:t> Cadena SIPOC continua del primer proveedor al último cliente, con el orden y el arranque que fija el APQC PCF v8.0, categoría 7.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2. Segmentación jerárquica.</a:t>
            </a:r>
            <a:r>
              <a:rPr lang="es-CL" sz="1300" dirty="0">
                <a:solidFill>
                  <a:schemeClr val="tx2"/>
                </a:solidFill>
              </a:rPr>
              <a:t> Los cinco niveles del MGO se derivan del flujo levantado, no se imponen sobre él.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Regla de trazabilidad.</a:t>
            </a:r>
            <a:r>
              <a:rPr lang="es-CL" sz="1300" dirty="0">
                <a:solidFill>
                  <a:schemeClr val="tx2"/>
                </a:solidFill>
              </a:rPr>
              <a:t> Cada elemento se respalda en procedimiento vigente, entrevista o PCF. Si ninguna fuente lo sustenta, se declara brecha en lugar de completarse por estimación.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CAP, cobertura de arquitectura de procesos.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4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87696C23-F7C4-F9A3-252E-2F94A2C9352E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(2 de 3) · Objetivo específico 2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dirty="0">
                <a:solidFill>
                  <a:schemeClr val="tx2"/>
                </a:solidFill>
              </a:rPr>
              <a:t>Se evalúan los riesgos sobre la totalidad de las tareas modeladas, determinando siete atributos por tarea según COSO II.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050000"/>
          <a:ext cx="8352928" cy="1757172"/>
        </p:xfrm>
        <a:graphic>
          <a:graphicData uri="http://schemas.openxmlformats.org/drawingml/2006/table">
            <a:tbl>
              <a:tblPr firstRow="1" bandRow="1"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Atributo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Evento de riesgo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Suceso que puede afectar el logro del objetivo de la tarea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Categoría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Clasificación del evento según la taxonomía adoptada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Probabilidad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Verosimilitud de ocurrencia del evento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Impacto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Consecuencia potencial sobre la operación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inherente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de riesgo antes de considerar los controles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Controles existentes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Actividades de control ya vigentes en la organización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residual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remanente; determina la respuesta al riesgo en 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TCER, tasa de cobertura de evaluación de riesgos.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5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36C7571D-4A25-D4D3-D8D3-DFD7FE6A2A7D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(3 de 3) · Objetivo específico 3 e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OE3 · Composición del sistema de gestión de riesgos</a:t>
            </a:r>
            <a:endParaRPr lang="es-CL" sz="1450"/>
          </a:p>
          <a:p>
            <a:r>
              <a:rPr lang="es-CL" sz="1300" dirty="0">
                <a:solidFill>
                  <a:schemeClr val="tx2"/>
                </a:solidFill>
              </a:rPr>
              <a:t>Catálogo de riesgos evaluados,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planes de mitigación derivados del riesgo residual,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una capa de gobernanza con roles, taxonomía, indicadores clave de riesgo y esquema de monitoreo y reporte.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900000"/>
          <a:ext cx="8352928" cy="867156"/>
        </p:xfrm>
        <a:graphic>
          <a:graphicData uri="http://schemas.openxmlformats.org/drawingml/2006/table">
            <a:tbl>
              <a:tblPr firstRow="1" bandRow="1"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OE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Indicador de logro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Línea base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arquitectura de procesos (CAP)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arquitectura formal en cinco niveles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Tasa de cobertura de evaluación de riesgos (TCER)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identificación ni valoración por tarea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riesgos con plan de mitigación (CRPM)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sistema ni planes de mitigación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sistema se valida con los dueños de proceso y se presenta a la alta gerencia.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6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5D79E1CA-8F00-F3AF-D0FB-D3869F88C8BF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Cambios respecto del anteproyecto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659855"/>
              </p:ext>
            </p:extLst>
          </p:nvPr>
        </p:nvGraphicFramePr>
        <p:xfrm>
          <a:off x="323528" y="2500000"/>
          <a:ext cx="8352928" cy="1370076"/>
        </p:xfrm>
        <a:graphic>
          <a:graphicData uri="http://schemas.openxmlformats.org/drawingml/2006/table">
            <a:tbl>
              <a:tblPr firstRow="1" bandRow="1"/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Ámbito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cambió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Plan de trabajo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A1.3 y A1.4 se desdoblan en flujo único y segmentación jerárquica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modelamiento requiere levantar primero la cadena de información; la jerarquía se deriva de ella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Carta Gantt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Replanificada; el primer hito pasa de la semana 10 a la semana 5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Ajuste a la fecha efectiva de esta presentación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Se agrega la cobertura de trazabilidad del flujo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CAP mide la segmentación final y no refleja el avance intermedio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500000"/>
            <a:ext cx="8352928" cy="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No cambian el objetivo general, los objetivos específicos, los indicadores de logro ni los entregables comprometidos.</a:t>
            </a:r>
            <a:endParaRPr lang="es-CL" sz="13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7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79C25149-9431-92BD-3287-902898DE5505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Carta Gantt actualizada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95536" y="2022938"/>
            <a:ext cx="8352928" cy="4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Horizonte de 20 semanas, agosto 2026 a enero 2027. Esta presentación corresponde a la </a:t>
            </a:r>
            <a:r>
              <a:rPr lang="es-CL" sz="1250" b="1" dirty="0">
                <a:solidFill>
                  <a:schemeClr val="tx2"/>
                </a:solidFill>
              </a:rPr>
              <a:t>semana 5</a:t>
            </a:r>
            <a:r>
              <a:rPr lang="es-CL" sz="1250" dirty="0">
                <a:solidFill>
                  <a:schemeClr val="tx2"/>
                </a:solidFill>
              </a:rPr>
              <a:t>.</a:t>
            </a:r>
            <a:endParaRPr lang="es-CL" sz="1250" dirty="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969398"/>
              </p:ext>
            </p:extLst>
          </p:nvPr>
        </p:nvGraphicFramePr>
        <p:xfrm>
          <a:off x="395536" y="2312321"/>
          <a:ext cx="8352920" cy="3784092"/>
        </p:xfrm>
        <a:graphic>
          <a:graphicData uri="http://schemas.openxmlformats.org/drawingml/2006/table">
            <a:tbl>
              <a:tblPr firstRow="1" bandRow="1"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2646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A1.1–A1.2  Diagnóstico y entrevistas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A1.3.1  Flujo único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A1.3.2  Segmentación jerárquica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A1.4.1  Flujo único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A1.4.2  Segmentación jerárquica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A1.5–A1.6  Manuales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A2.1–A2.2  Identificación y valoración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A2.3–A2.4  Matriz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A3.1–A3.2  Planes y gobernanza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A3.3–A3.4  Integración y entrega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A-G  Documentación del TFG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00" b="1" dirty="0">
                          <a:solidFill>
                            <a:schemeClr val="tx2"/>
                          </a:solidFill>
                        </a:rPr>
                        <a:t>Hitos  A-P1 · A-P2 · A-PF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Completada  ·  En ejecución  ·  Pendiente  ·  Hito.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8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67F8CB4E-A8F2-E18A-E839-52131C4A7F55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Actividades realizadas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500000"/>
          <a:ext cx="8352928" cy="1274064"/>
        </p:xfrm>
        <a:graphic>
          <a:graphicData uri="http://schemas.openxmlformats.org/drawingml/2006/table">
            <a:tbl>
              <a:tblPr firstRow="1" bandRow="1"/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Revisión documental y diagnóstico preliminar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Inventario de fuentes y matriz de trazabilidad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Entrevistas con los dueños de proceso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Registros de tres áreas funcionales de MP8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Flujo único de información de MP8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261 elementos, 318 conexiones, 18 fases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Segmentación jerárquica de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En curso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Segmentación en progreso (iniciada ~2 semanas)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Levantamiento de MP21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En curso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Levantamiento iniciado el 10/09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25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levantado fue revisado con el </a:t>
            </a:r>
            <a:r>
              <a:rPr lang="es-CL" sz="1250" b="1" dirty="0">
                <a:solidFill>
                  <a:schemeClr val="tx2"/>
                </a:solidFill>
              </a:rPr>
              <a:t>líder de mejora continua</a:t>
            </a:r>
            <a:r>
              <a:rPr lang="es-CL" sz="1250" dirty="0">
                <a:solidFill>
                  <a:schemeClr val="tx2"/>
                </a:solidFill>
              </a:rPr>
              <a:t>: se verificó la continuidad de la cadena y la consistencia de la secuencia entre áreas. La </a:t>
            </a:r>
            <a:r>
              <a:rPr lang="es-CL" sz="1250" b="1" dirty="0">
                <a:solidFill>
                  <a:schemeClr val="tx2"/>
                </a:solidFill>
              </a:rPr>
              <a:t>validación formal mediante acta</a:t>
            </a:r>
            <a:r>
              <a:rPr lang="es-CL" sz="1250" dirty="0">
                <a:solidFill>
                  <a:schemeClr val="tx2"/>
                </a:solidFill>
              </a:rPr>
              <a:t> de los dueños de proceso corresponde a A1.6 y está pendiente.</a:t>
            </a:r>
            <a:endParaRPr lang="es-CL" sz="125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9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84225E4F-107E-075F-9622-D07A6F52D79A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El flujo único de información de MP8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4000000" cy="2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Qué se levantó</a:t>
            </a:r>
            <a:endParaRPr lang="es-CL" sz="140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</a:t>
            </a:r>
            <a:r>
              <a:rPr lang="es-CL" sz="1250" b="1" dirty="0">
                <a:solidFill>
                  <a:schemeClr val="tx2"/>
                </a:solidFill>
              </a:rPr>
              <a:t>sola cadena continua</a:t>
            </a:r>
            <a:r>
              <a:rPr lang="es-CL" sz="1250" dirty="0">
                <a:solidFill>
                  <a:schemeClr val="tx2"/>
                </a:solidFill>
              </a:rPr>
              <a:t>, de 5 proveedores iniciales a 6 clientes finales, organizada en </a:t>
            </a:r>
            <a:r>
              <a:rPr lang="es-CL" sz="1250" b="1" dirty="0">
                <a:solidFill>
                  <a:schemeClr val="tx2"/>
                </a:solidFill>
              </a:rPr>
              <a:t>18 fases</a:t>
            </a:r>
            <a:r>
              <a:rPr lang="es-CL" sz="1250" dirty="0">
                <a:solidFill>
                  <a:schemeClr val="tx2"/>
                </a:solidFill>
              </a:rPr>
              <a:t>: 17 del ciclo de vida del trabajador y una banda transversal de datos y gobernanza.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</a:t>
            </a:r>
            <a:r>
              <a:rPr lang="es-CL" sz="1250" b="1" dirty="0">
                <a:solidFill>
                  <a:schemeClr val="tx2"/>
                </a:solidFill>
              </a:rPr>
              <a:t>no arranca en la vacante</a:t>
            </a:r>
            <a:r>
              <a:rPr lang="es-CL" sz="1250" dirty="0">
                <a:solidFill>
                  <a:schemeClr val="tx2"/>
                </a:solidFill>
              </a:rPr>
              <a:t>, sino en la necesidad estratégica de dotación, según el orden del APQC PCF.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b="1" dirty="0">
                <a:solidFill>
                  <a:schemeClr val="tx2"/>
                </a:solidFill>
              </a:rPr>
              <a:t>198 elementos</a:t>
            </a:r>
            <a:r>
              <a:rPr lang="es-CL" sz="1250" dirty="0">
                <a:solidFill>
                  <a:schemeClr val="tx2"/>
                </a:solidFill>
              </a:rPr>
              <a:t> quedaron asociados a </a:t>
            </a:r>
            <a:r>
              <a:rPr lang="es-CL" sz="1250" b="1" dirty="0">
                <a:solidFill>
                  <a:schemeClr val="tx2"/>
                </a:solidFill>
              </a:rPr>
              <a:t>86 códigos</a:t>
            </a:r>
            <a:r>
              <a:rPr lang="es-CL" sz="1250" dirty="0">
                <a:solidFill>
                  <a:schemeClr val="tx2"/>
                </a:solidFill>
              </a:rPr>
              <a:t> del PCF, y 85 tienen responsable identificado.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4676456" y="2500000"/>
          <a:ext cx="4000000" cy="1443228"/>
        </p:xfrm>
        <a:graphic>
          <a:graphicData uri="http://schemas.openxmlformats.org/drawingml/2006/table">
            <a:tbl>
              <a:tblPr firstRow="1" bandRow="1"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Procedencia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Procedimiento vigente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36,0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Insumo interno o PCF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35,2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Entrevista, sin documentar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13,8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Brecha declarada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4,6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Auxiliares de notación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27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10,4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Total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261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De los 261 elementos, 234 son pasos del proceso y 27 son auxiliares de la notación: decisiones, proveedores, clientes y sistemas.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10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AB398393-8CB2-2A81-6BF8-C1CA1A99C04F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Cobertura del levantamiento por fase</a:t>
            </a:r>
            <a:endParaRPr lang="es-CL" sz="20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450000"/>
          <a:ext cx="4000000" cy="1859280"/>
        </p:xfrm>
        <a:graphic>
          <a:graphicData uri="http://schemas.openxmlformats.org/drawingml/2006/table">
            <a:tbl>
              <a:tblPr firstRow="1" bandRow="1"/>
              <a:tblGrid>
                <a:gridCol w="2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 Necesidad y dotación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F2 Valoración de cargo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F3 Requisición y vacante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F4 Reclutamiento y CV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F5 Revisión solicitante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F6 Evaluación psicolaboral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F7 Entrevistas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F8 Examen preocupacional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F9 Contratación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1" name="Tabla 21"/>
          <p:cNvGraphicFramePr>
            <a:graphicFrameLocks noGrp="1"/>
          </p:cNvGraphicFramePr>
          <p:nvPr/>
        </p:nvGraphicFramePr>
        <p:xfrm>
          <a:off x="4676456" y="2450000"/>
          <a:ext cx="4000000" cy="1859280"/>
        </p:xfrm>
        <a:graphic>
          <a:graphicData uri="http://schemas.openxmlformats.org/drawingml/2006/table">
            <a:tbl>
              <a:tblPr firstRow="1" bandRow="1"/>
              <a:tblGrid>
                <a:gridCol w="2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F10 Onboarding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F11 Formación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F12 Desempeño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F13 Carrera y sucesión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F14 Renta y beneficios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F15 Nómina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F16 Clima y retención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F17 Desvinculación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850000"/>
            <a:ext cx="8352928" cy="8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La madurez es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heterogénea por fase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: la selección y la formación están respaldadas en procedimientos vigentes, mientras que la valoración de cargos, los beneficios y el clima se sostienen en propuestas por validar.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Doc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documentado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Ent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entrevista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Prop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propuesto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Bre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brecha.</a:t>
            </a:r>
            <a:endParaRPr lang="es-CL" sz="115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11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216F320D-5E1E-C42D-CF42-776AE28CB80E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Brechas de levantamiento declaradas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00000"/>
            <a:ext cx="8352928" cy="5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12 brechas sobre 234 pasos, equivalentes al 5,1 %. </a:t>
            </a:r>
            <a:r>
              <a:rPr lang="es-CL" sz="1250" b="1" dirty="0">
                <a:solidFill>
                  <a:schemeClr val="tx2"/>
                </a:solidFill>
              </a:rPr>
              <a:t>10 de las 12 se concentran en el cierre del ciclo de vida del trabajador.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900000"/>
          <a:ext cx="8352928" cy="1164336"/>
        </p:xfrm>
        <a:graphic>
          <a:graphicData uri="http://schemas.openxmlformats.org/drawingml/2006/table">
            <a:tbl>
              <a:tblPr firstRow="1" band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Códigos APQC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Rol con quien se cierra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F15 Administración de nómina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7.5.4 · 7.7.6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Remuneraciones · especialista en tecnología de compensaciones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F17 Desvinculación y salida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7.6.2 · 7.6.2.1 · 7.6.2.2 · 7.6.2.3 · 7.6.2.4 · 7.6.3 · 7.6.3.1 · 7.7.3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Generalista de Personas y relaciones laborales · prevención de riesgos y tecnología · Gerencia de Personas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7.7.2 · 7.7.9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Por definir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30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brecha </a:t>
            </a:r>
            <a:r>
              <a:rPr lang="es-CL" sz="1250" b="1" dirty="0">
                <a:solidFill>
                  <a:schemeClr val="tx2"/>
                </a:solidFill>
              </a:rPr>
              <a:t>no significa que la compañía no ejecute la actividad</a:t>
            </a:r>
            <a:r>
              <a:rPr lang="es-CL" sz="1250" dirty="0">
                <a:solidFill>
                  <a:schemeClr val="tx2"/>
                </a:solidFill>
              </a:rPr>
              <a:t>, sino que todavía no está descrito cómo la ejecuta.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En </a:t>
            </a:r>
            <a:r>
              <a:rPr lang="es-CL" sz="1250" b="1" dirty="0">
                <a:solidFill>
                  <a:schemeClr val="tx2"/>
                </a:solidFill>
              </a:rPr>
              <a:t>8 de las 12</a:t>
            </a:r>
            <a:r>
              <a:rPr lang="es-CL" sz="1250" dirty="0">
                <a:solidFill>
                  <a:schemeClr val="tx2"/>
                </a:solidFill>
              </a:rPr>
              <a:t> el APQC PCF no desciende a un nivel accionable: el marco de referencia </a:t>
            </a:r>
            <a:r>
              <a:rPr lang="es-CL" sz="1250" b="1" dirty="0">
                <a:solidFill>
                  <a:schemeClr val="tx2"/>
                </a:solidFill>
              </a:rPr>
              <a:t>no sustituye</a:t>
            </a:r>
            <a:r>
              <a:rPr lang="es-CL" sz="1250" dirty="0">
                <a:solidFill>
                  <a:schemeClr val="tx2"/>
                </a:solidFill>
              </a:rPr>
              <a:t> el levantamiento en terreno.</a:t>
            </a:r>
            <a:endParaRPr lang="es-CL" sz="125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12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776FD6A8-E3D8-5CBE-7FAB-3D391317A915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Hallazgos y estado de los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2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Hallazgos del contraste entre fuentes</a:t>
            </a:r>
            <a:endParaRPr lang="es-CL" sz="1400"/>
          </a:p>
          <a:p>
            <a:pPr marL="228600" indent="-228600"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36 pasos que la organización ejecuta habitualmente no constan en ningún procedimiento vigente</a:t>
            </a:r>
            <a:r>
              <a:rPr lang="es-CL" sz="1200" dirty="0">
                <a:solidFill>
                  <a:schemeClr val="tx2"/>
                </a:solidFill>
              </a:rPr>
              <a:t>, entre ellos la priorización de necesidades de dotación, la coordinación del examen preocupacional, la validación de la propuesta de renta y la facilitación de los comités de calibración. Incorporarlos es un aporte directo del trabajo.</a:t>
            </a:r>
            <a:endParaRPr lang="es-CL" sz="1200"/>
          </a:p>
          <a:p>
            <a:pPr marL="228600" indent="-228600">
              <a:spcBef>
                <a:spcPts val="350"/>
              </a:spcBef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Tensión detectada en gestión del desempeño:</a:t>
            </a:r>
            <a:r>
              <a:rPr lang="es-CL" sz="1200" dirty="0">
                <a:solidFill>
                  <a:schemeClr val="tx2"/>
                </a:solidFill>
              </a:rPr>
              <a:t> el procedimiento sitúa la fijación de objetivos en los primeros meses del año y el registro de entrevista distribuye el ciclo por rol a lo largo del año. Debe resolverse con el dueño de proceso antes de consolidar el manual.</a:t>
            </a:r>
            <a:endParaRPr lang="es-CL" sz="1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4700000"/>
          <a:ext cx="8352928" cy="949452"/>
        </p:xfrm>
        <a:graphic>
          <a:graphicData uri="http://schemas.openxmlformats.org/drawingml/2006/table">
            <a:tbl>
              <a:tblPr firstRow="1" bandRow="1"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mide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MP8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Cobertura de trazabilidad del flujo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Pasos con respaldo en documento, entrevista o PCF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222 de 234 · 94,9 %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CAP · cobertura de arquitectura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Elementos documentados en los cinco niveles del MGO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0 %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CAP en 0 % no expresa ausencia de avance: mide la segmentación jerárquica, que es la etapa siguiente.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13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7FF36DD4-9D8E-D736-A594-BB442428FDBA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Próximos pasos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500000"/>
            <a:ext cx="8352928" cy="3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En curso · Segmentación jerárquica de MP8.</a:t>
            </a:r>
            <a:r>
              <a:rPr lang="es-CL" sz="1300" dirty="0">
                <a:solidFill>
                  <a:schemeClr val="tx2"/>
                </a:solidFill>
              </a:rPr>
              <a:t> Ya iniciada: del flujo levantado se derivan los cinco niveles del MGO, con lo que comienza a medirse el CAP.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En curso · Levantamiento de MP21.</a:t>
            </a:r>
            <a:r>
              <a:rPr lang="es-CL" sz="1300" dirty="0">
                <a:solidFill>
                  <a:schemeClr val="tx2"/>
                </a:solidFill>
              </a:rPr>
              <a:t> Iniciado el jueves 10/09: se aplica la misma secuencia y regla de trazabilidad para comparar ambos macroprocesos.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En paralelo · Cierre de las 12 brechas.</a:t>
            </a:r>
            <a:r>
              <a:rPr lang="es-CL" sz="1300" dirty="0">
                <a:solidFill>
                  <a:schemeClr val="tx2"/>
                </a:solidFill>
              </a:rPr>
              <a:t> Reuniones con los roles ya identificados en nómina, desvinculación y gobernanza de datos.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11 a 13 · Manuales y acta de validación.</a:t>
            </a:r>
            <a:r>
              <a:rPr lang="es-CL" sz="1300" dirty="0">
                <a:solidFill>
                  <a:schemeClr val="tx2"/>
                </a:solidFill>
              </a:rPr>
              <a:t> Consolidación de los dos manuales bajo el formato del MGO y validación formal con los dueños de proceso.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Desde la semana 12 · Inicio de OE2.</a:t>
            </a:r>
            <a:r>
              <a:rPr lang="es-CL" sz="1300" dirty="0">
                <a:solidFill>
                  <a:schemeClr val="tx2"/>
                </a:solidFill>
              </a:rPr>
              <a:t> Identificación de eventos de riesgo por tarea, en talleres con los dueños de proceso.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7950000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Segundo hito de avance: semana 13.</a:t>
            </a:r>
            <a:endParaRPr lang="es-CL" sz="1000"/>
          </a:p>
        </p:txBody>
      </p:sp>
      <p:sp>
        <p:nvSpPr>
          <p:cNvPr id="90" name="Numero"/>
          <p:cNvSpPr txBox="1"/>
          <p:nvPr/>
        </p:nvSpPr>
        <p:spPr>
          <a:xfrm>
            <a:off x="8420472" y="6035040"/>
            <a:ext cx="625248" cy="4722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buNone/>
            </a:pPr>
            <a:r>
              <a:rPr lang="es-CL" sz="2400" b="1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14</a:t>
            </a:r>
            <a:endParaRPr lang="es-CL" sz="2400" b="1"/>
          </a:p>
        </p:txBody>
      </p:sp>
      <p:sp>
        <p:nvSpPr>
          <p:cNvPr id="2" name="Titulo">
            <a:extLst>
              <a:ext uri="{FF2B5EF4-FFF2-40B4-BE49-F238E27FC236}">
                <a16:creationId xmlns:a16="http://schemas.microsoft.com/office/drawing/2014/main" id="{81B58993-4A77-0DD1-E30B-6B18756C15D0}"/>
              </a:ext>
            </a:extLst>
          </p:cNvPr>
          <p:cNvSpPr txBox="1"/>
          <p:nvPr/>
        </p:nvSpPr>
        <p:spPr>
          <a:xfrm>
            <a:off x="1640240" y="100584"/>
            <a:ext cx="695512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rmAutofit/>
          </a:bodyPr>
          <a:lstStyle/>
          <a:p>
            <a:pPr algn="r">
              <a:lnSpc>
                <a:spcPct val="112000"/>
              </a:lnSpc>
              <a:buNone/>
            </a:pPr>
            <a:r>
              <a:rPr lang="es-CL" sz="1100" b="1" dirty="0">
                <a:solidFill>
                  <a:srgbClr val="17375E"/>
                </a:solidFill>
                <a:latin typeface="Calibri"/>
                <a:cs typeface="Calibri"/>
              </a:rPr>
              <a:t>Propuesta de un sistema de gestión de riesgos para los macroprocesos de Gestión de Personas (MP8) y Servicios Generales (MP21) de Celulosa Arauco y Constitución S.A.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00000" y="2900000"/>
            <a:ext cx="6144000" cy="9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28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Gracias por su atención</a:t>
            </a:r>
            <a:endParaRPr lang="es-CL" sz="2800"/>
          </a:p>
        </p:txBody>
      </p:sp>
      <p:sp>
        <p:nvSpPr>
          <p:cNvPr id="3" name="2 CuadroTexto"/>
          <p:cNvSpPr txBox="1"/>
          <p:nvPr/>
        </p:nvSpPr>
        <p:spPr>
          <a:xfrm>
            <a:off x="1500000" y="4000000"/>
            <a:ext cx="6144000" cy="12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endParaRPr lang="es-CL" sz="14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Magíster en Sistemas de Gestión Integral de la Calidad · Universidad de La Frontera</a:t>
            </a:r>
            <a:endParaRPr lang="es-CL" sz="12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Temuco, 12 de septiembre de 2026</a:t>
            </a:r>
            <a:endParaRPr lang="es-CL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3313</Words>
  <Application>Microsoft Macintosh PowerPoint</Application>
  <PresentationFormat>Presentación en pantalla (4:3)</PresentationFormat>
  <Paragraphs>453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Wingdings</vt:lpstr>
      <vt:lpstr>1_Tema de Office</vt:lpstr>
      <vt:lpstr>Diseño personalizado</vt:lpstr>
      <vt:lpstr>1_Diseño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1 · Trabajo Final de Grado</dc:title>
  <dc:creator>Bastián Darwit Vera</dc:creator>
  <cp:lastModifiedBy>Bastian Ignacio Vera Rivera</cp:lastModifiedBy>
  <cp:revision>13</cp:revision>
  <cp:lastPrinted>2017-06-14T16:22:49Z</cp:lastPrinted>
  <dcterms:created xsi:type="dcterms:W3CDTF">2016-09-10T16:04:57Z</dcterms:created>
  <dcterms:modified xsi:type="dcterms:W3CDTF">2026-09-11T21:46:02Z</dcterms:modified>
</cp:coreProperties>
</file>