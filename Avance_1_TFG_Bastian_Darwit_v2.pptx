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  <p:sldMasterId id="2147483682" r:id="rId3"/>
  </p:sldMasterIdLst>
  <p:notesMasterIdLst>
    <p:notesMasterId r:id="rId11"/>
  </p:notesMasterIdLst>
  <p:handoutMasterIdLst>
    <p:handoutMasterId r:id="rId12"/>
  </p:handout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</p:sldIdLst>
  <p:sldSz cx="9144000" cy="6858000" type="screen4x3"/>
  <p:notesSz cx="7053263" cy="9309100"/>
  <p:defaultTextStyle>
    <a:defPPr>
      <a:defRPr lang="es-CL"/>
    </a:defPPr>
    <a:lvl1pPr marL="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98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9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9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92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899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882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861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840" algn="l" defTabSz="91396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14" d="100"/>
          <a:sy n="114" d="100"/>
        </p:scale>
        <p:origin x="-1470" y="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notesMaster" Target="notesMasters/notes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F7441441-8FC0-4A30-89C4-F31D5A1C1895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36487FEA-E5F0-44EA-AEEE-18FE56B8947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01294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931033AC-E193-49D3-90A8-424EF36BA0C9}" type="datetimeFigureOut">
              <a:rPr lang="es-CL" smtClean="0"/>
              <a:t>09-08-2017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698500"/>
            <a:ext cx="4654550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5327" y="4421823"/>
            <a:ext cx="5642610" cy="4189095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995217" y="8842029"/>
            <a:ext cx="3056414" cy="465455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724653D3-67DB-4300-BF3B-A2F64A35162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0270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0:20 · Acumulado: 0:20</a:t>
            </a:r>
          </a:p>
          <a:p>
            <a:endParaRPr lang="es-CL" sz="1200"/>
          </a:p>
          <a:p>
            <a:r>
              <a:rPr lang="es-CL" sz="1200" dirty="0"/>
              <a:t>Saludo y presentación. Este es el primer avance del TFG; el</a:t>
            </a:r>
          </a:p>
          <a:p>
            <a:r>
              <a:rPr lang="es-CL" sz="1200" dirty="0"/>
              <a:t>anteproyecto fue aprobado y presentado el 8 de agosto.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1:00</a:t>
            </a:r>
          </a:p>
          <a:p>
            <a:endParaRPr lang="es-CL" sz="1200"/>
          </a:p>
          <a:p>
            <a:r>
              <a:rPr lang="es-CL" sz="1200" dirty="0"/>
              <a:t>El título no cambió. Dejar claro desde el inicio que es una propuesta:</a:t>
            </a:r>
          </a:p>
          <a:p>
            <a:r>
              <a:rPr lang="es-CL" sz="1200" dirty="0"/>
              <a:t>se diseña el sistema, la implementación es decisión de la compañía.</a:t>
            </a:r>
          </a:p>
          <a:p>
            <a:r>
              <a:rPr lang="es-CL" sz="1200" dirty="0"/>
              <a:t>Mencionar que MP8 es transversal a los tres negocios, no solo celulosa.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1:50</a:t>
            </a:r>
          </a:p>
          <a:p>
            <a:endParaRPr lang="es-CL" sz="1200"/>
          </a:p>
          <a:p>
            <a:r>
              <a:rPr lang="es-CL" sz="1200" dirty="0"/>
              <a:t>Los objetivos no cambiaron. Recalcar la secuencia de dependencia:</a:t>
            </a:r>
          </a:p>
          <a:p>
            <a:r>
              <a:rPr lang="es-CL" sz="1200" dirty="0"/>
              <a:t>sin arquitectura modelada no hay universo de tareas que evaluar,</a:t>
            </a:r>
          </a:p>
          <a:p>
            <a:r>
              <a:rPr lang="es-CL" sz="1200" dirty="0"/>
              <a:t>y sin evaluación no hay sistema que integrar.</a:t>
            </a:r>
          </a:p>
          <a:p>
            <a:r>
              <a:rPr lang="es-CL" sz="1200" dirty="0"/>
              <a:t>Anunciar que este avance se concentra en OE1.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2:40</a:t>
            </a:r>
          </a:p>
          <a:p>
            <a:endParaRPr lang="es-CL" sz="1200"/>
          </a:p>
          <a:p>
            <a:r>
              <a:rPr lang="es-CL" sz="1200" dirty="0"/>
              <a:t>Esta es la lámina clave de metodología. Explicar por qué dos etapas:</a:t>
            </a:r>
          </a:p>
          <a:p>
            <a:r>
              <a:rPr lang="es-CL" sz="1200" dirty="0"/>
              <a:t>Arauco organiza por áreas funcionales, así que la jerarquía no existe</a:t>
            </a:r>
          </a:p>
          <a:p>
            <a:r>
              <a:rPr lang="es-CL" sz="1200" dirty="0"/>
              <a:t>como punto de partida. Derivarla del flujo evita suponer agrupaciones</a:t>
            </a:r>
          </a:p>
          <a:p>
            <a:r>
              <a:rPr lang="es-CL" sz="1200" dirty="0"/>
              <a:t>que la organización no tiene declaradas.</a:t>
            </a:r>
          </a:p>
          <a:p>
            <a:r>
              <a:rPr lang="es-CL" sz="1200" dirty="0"/>
              <a:t>La regla de trazabilidad es el resguardo metodológico: nada se inventa.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3:20</a:t>
            </a:r>
          </a:p>
          <a:p>
            <a:endParaRPr lang="es-CL" sz="1200"/>
          </a:p>
          <a:p>
            <a:r>
              <a:rPr lang="es-CL" sz="1200" dirty="0"/>
              <a:t>No detenerse en cada atributo: mencionar que el riesgo residual es el</a:t>
            </a:r>
          </a:p>
          <a:p>
            <a:r>
              <a:rPr lang="es-CL" sz="1200" dirty="0"/>
              <a:t>que orienta la respuesta y conecta con OE3. Señalar que la evaluación</a:t>
            </a:r>
          </a:p>
          <a:p>
            <a:r>
              <a:rPr lang="es-CL" sz="1200" dirty="0"/>
              <a:t>se hará en talleres con los dueños de proceso.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4:00</a:t>
            </a:r>
          </a:p>
          <a:p>
            <a:endParaRPr lang="es-CL" sz="1200"/>
          </a:p>
          <a:p>
            <a:r>
              <a:rPr lang="es-CL" sz="1200" dirty="0"/>
              <a:t>Insistir en la distinción entre catálogo y sistema: el sistema integra</a:t>
            </a:r>
          </a:p>
          <a:p>
            <a:r>
              <a:rPr lang="es-CL" sz="1200" dirty="0"/>
              <a:t>valoración, tratamiento, gobernanza y seguimiento.</a:t>
            </a:r>
          </a:p>
          <a:p>
            <a:r>
              <a:rPr lang="es-CL" sz="1200" dirty="0"/>
              <a:t>La tabla de indicadores sirve para anunciar cómo se medirá el logro,</a:t>
            </a:r>
          </a:p>
          <a:p>
            <a:r>
              <a:rPr lang="es-CL" sz="1200" dirty="0"/>
              <a:t>y se retoma al final con el estado actual de cada uno.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4:50</a:t>
            </a:r>
          </a:p>
          <a:p>
            <a:endParaRPr lang="es-CL" sz="1200"/>
          </a:p>
          <a:p>
            <a:r>
              <a:rPr lang="es-CL" sz="1200" dirty="0"/>
              <a:t>Lámina importante ante la comisión. Ser explícito: lo que cambió es el</a:t>
            </a:r>
          </a:p>
          <a:p>
            <a:r>
              <a:rPr lang="es-CL" sz="1200" dirty="0"/>
              <a:t>modo de ejecutar el modelamiento y la programación, no el alcance</a:t>
            </a:r>
          </a:p>
          <a:p>
            <a:r>
              <a:rPr lang="es-CL" sz="1200" dirty="0"/>
              <a:t>comprometido. Cerrar con la frase de la última línea, que es la que</a:t>
            </a:r>
          </a:p>
          <a:p>
            <a:r>
              <a:rPr lang="es-CL" sz="1200" dirty="0"/>
              <a:t>responde la pregunta que probablemente hará la comisión.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5:40</a:t>
            </a:r>
          </a:p>
          <a:p>
            <a:endParaRPr lang="es-CL" sz="1200"/>
          </a:p>
          <a:p>
            <a:r>
              <a:rPr lang="es-CL" sz="1200" dirty="0"/>
              <a:t>Recorrer solo las filas oscuras: lo completado. Señalar que MP21</a:t>
            </a:r>
          </a:p>
          <a:p>
            <a:r>
              <a:rPr lang="es-CL" sz="1200" dirty="0"/>
              <a:t>arranca en la semana 6 y que el segundo hito queda en la semana 13.</a:t>
            </a:r>
          </a:p>
          <a:p>
            <a:r>
              <a:rPr lang="es-CL" sz="1200" dirty="0"/>
              <a:t>Si preguntan por el desfase: el hito se adelantó de la semana 10 a la 5,</a:t>
            </a:r>
          </a:p>
          <a:p>
            <a:r>
              <a:rPr lang="es-CL" sz="1200" dirty="0"/>
              <a:t>de modo que se expone menos avance del originalmente previsto para</a:t>
            </a:r>
          </a:p>
          <a:p>
            <a:r>
              <a:rPr lang="es-CL" sz="1200" dirty="0"/>
              <a:t>este punto, y la programación total se mantiene en 20 semanas.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6:30</a:t>
            </a:r>
          </a:p>
          <a:p>
            <a:endParaRPr lang="es-CL" sz="1200"/>
          </a:p>
          <a:p>
            <a:r>
              <a:rPr lang="es-CL" sz="1200" dirty="0"/>
              <a:t>Ser claro con los dos niveles de validación: hay revisión técnica con el</a:t>
            </a:r>
          </a:p>
          <a:p>
            <a:r>
              <a:rPr lang="es-CL" sz="1200" dirty="0"/>
              <a:t>líder de mejora continua, pero el acta formal es posterior. No presentar</a:t>
            </a:r>
          </a:p>
          <a:p>
            <a:r>
              <a:rPr lang="es-CL" sz="1200" dirty="0"/>
              <a:t>como validado lo que aún no lo está.</a:t>
            </a:r>
          </a:p>
          <a:p>
            <a:r>
              <a:rPr lang="es-CL" sz="1200" dirty="0"/>
              <a:t>Decir sin rodeos que MP21 no ha comenzado.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1:00 · Acumulado: 7:30</a:t>
            </a:r>
          </a:p>
          <a:p>
            <a:endParaRPr lang="es-CL" sz="1200"/>
          </a:p>
          <a:p>
            <a:r>
              <a:rPr lang="es-CL" sz="1200" dirty="0"/>
              <a:t>Este es el resultado central del avance. Destacar el cambio de mirada:</a:t>
            </a:r>
          </a:p>
          <a:p>
            <a:r>
              <a:rPr lang="es-CL" sz="1200" dirty="0"/>
              <a:t>antes había ocho silos funcionales, ahora hay una sola cadena de</a:t>
            </a:r>
          </a:p>
          <a:p>
            <a:r>
              <a:rPr lang="es-CL" sz="1200" dirty="0"/>
              <a:t>información de punta a punta.</a:t>
            </a:r>
          </a:p>
          <a:p>
            <a:r>
              <a:rPr lang="es-CL" sz="1200" dirty="0"/>
              <a:t>El dato del arranque, en la necesidad estratégica y no en la vacante,</a:t>
            </a:r>
          </a:p>
          <a:p>
            <a:r>
              <a:rPr lang="es-CL" sz="1200" dirty="0"/>
              <a:t>suele generar preguntas: viene del orden que fija el APQC PCF.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8:20</a:t>
            </a:r>
          </a:p>
          <a:p>
            <a:endParaRPr lang="es-CL" sz="1200"/>
          </a:p>
          <a:p>
            <a:r>
              <a:rPr lang="es-CL" sz="1200" dirty="0"/>
              <a:t>No leer la tabla. Señalar el patrón: el centro del ciclo, selección y</a:t>
            </a:r>
          </a:p>
          <a:p>
            <a:r>
              <a:rPr lang="es-CL" sz="1200" dirty="0"/>
              <a:t>formación, está documentado; los extremos no. Las dos fases con</a:t>
            </a:r>
          </a:p>
          <a:p>
            <a:r>
              <a:rPr lang="es-CL" sz="1200" dirty="0"/>
              <a:t>brechas quedan marcadas en rojo y son el puente a la lámina siguiente.</a:t>
            </a:r>
          </a:p>
          <a:p>
            <a:r>
              <a:rPr lang="es-CL" sz="1200" dirty="0"/>
              <a:t>Conclusión: la madurez conviene medirse por fase, no de forma agregada.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9:10</a:t>
            </a:r>
          </a:p>
          <a:p>
            <a:endParaRPr lang="es-CL" sz="1200"/>
          </a:p>
          <a:p>
            <a:r>
              <a:rPr lang="es-CL" sz="1200" dirty="0"/>
              <a:t>Presentar las brechas como resultado, no como falta. Son el producto de</a:t>
            </a:r>
          </a:p>
          <a:p>
            <a:r>
              <a:rPr lang="es-CL" sz="1200" dirty="0"/>
              <a:t>la regla de trazabilidad: se declaran en lugar de rellenarse a ojo.</a:t>
            </a:r>
          </a:p>
          <a:p>
            <a:r>
              <a:rPr lang="es-CL" sz="1200" dirty="0"/>
              <a:t>La desvinculación es el espejo del onboarding y está sin documentar.</a:t>
            </a:r>
          </a:p>
          <a:p>
            <a:r>
              <a:rPr lang="es-CL" sz="1200" dirty="0"/>
              <a:t>Consecuencia para OE2: una tarea no descrita no se puede evaluar,</a:t>
            </a:r>
          </a:p>
          <a:p>
            <a:r>
              <a:rPr lang="es-CL" sz="1200" dirty="0"/>
              <a:t>de modo que cerrar estas brechas condiciona la cobertura alcanzable.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0:50 · Acumulado: 10:00</a:t>
            </a:r>
          </a:p>
          <a:p>
            <a:endParaRPr lang="es-CL" sz="1200"/>
          </a:p>
          <a:p>
            <a:r>
              <a:rPr lang="es-CL" sz="1200" dirty="0"/>
              <a:t>Los 36 pasos son el argumento de valor para la empresa: se está</a:t>
            </a:r>
          </a:p>
          <a:p>
            <a:r>
              <a:rPr lang="es-CL" sz="1200" dirty="0"/>
              <a:t>documentando lo que se hace y no estaba escrito.</a:t>
            </a:r>
          </a:p>
          <a:p>
            <a:r>
              <a:rPr lang="es-CL" sz="1200" dirty="0"/>
              <a:t>Explicar bien el CAP en 0 %: es una consecuencia de la definición del</a:t>
            </a:r>
          </a:p>
          <a:p>
            <a:r>
              <a:rPr lang="es-CL" sz="1200" dirty="0"/>
              <a:t>indicador, no una falta de avance. Para eso se agregó la cobertura de</a:t>
            </a:r>
          </a:p>
          <a:p>
            <a:r>
              <a:rPr lang="es-CL" sz="1200" dirty="0"/>
              <a:t>trazabilidad, que sí refleja el estado de la primera etapa.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0:40 · Acumulado: 10:40</a:t>
            </a:r>
          </a:p>
          <a:p>
            <a:endParaRPr lang="es-CL" sz="1200"/>
          </a:p>
          <a:p>
            <a:r>
              <a:rPr lang="es-CL" sz="1200" dirty="0"/>
              <a:t>Cerrar con compromisos concretos y fechas. Mencionar que el cierre de</a:t>
            </a:r>
          </a:p>
          <a:p>
            <a:r>
              <a:rPr lang="es-CL" sz="1200" dirty="0"/>
              <a:t>brechas corre en paralelo y no bloquea la segmentación de MP8.</a:t>
            </a:r>
          </a:p>
          <a:p>
            <a:r>
              <a:rPr lang="es-CL" sz="1200" dirty="0"/>
              <a:t>Dejar espacio para preguntas.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sz="1200" dirty="0"/>
              <a:t>Tiempo sugerido: 0:10 · Total: 10:50</a:t>
            </a:r>
          </a:p>
          <a:p>
            <a:endParaRPr lang="es-CL" sz="1200"/>
          </a:p>
          <a:p>
            <a:r>
              <a:rPr lang="es-CL" sz="1200" dirty="0"/>
              <a:t>Preguntas probables de la comisión:</a:t>
            </a:r>
          </a:p>
          <a:p>
            <a:r>
              <a:rPr lang="es-CL" sz="1200" dirty="0"/>
              <a:t>1. ¿Por qué el CAP está en 0 %? Ver lámina 13.</a:t>
            </a:r>
          </a:p>
          <a:p>
            <a:r>
              <a:rPr lang="es-CL" sz="1200" dirty="0"/>
              <a:t>2. ¿El cambio de metodología altera el alcance? Ver lámina 7.</a:t>
            </a:r>
          </a:p>
          <a:p>
            <a:r>
              <a:rPr lang="es-CL" sz="1200" dirty="0"/>
              <a:t>3. ¿Cómo se resguarda la confidencialidad? Datos agregados, roles sin</a:t>
            </a:r>
          </a:p>
          <a:p>
            <a:r>
              <a:rPr lang="es-CL" sz="1200" dirty="0"/>
              <a:t>   nombres, e informe final marcado como reservado.</a:t>
            </a:r>
          </a:p>
          <a:p>
            <a:r>
              <a:rPr lang="es-CL" sz="1200" dirty="0"/>
              <a:t>4. ¿Qué pasa si las brechas no se cierran? Acotan la cobertura de OE2;</a:t>
            </a:r>
          </a:p>
          <a:p>
            <a:r>
              <a:rPr lang="es-CL" sz="1200" dirty="0"/>
              <a:t>   se declararían como limitación del estudio.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4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1545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6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10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6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2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37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42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00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2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43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53" indent="0">
              <a:buNone/>
              <a:defRPr sz="2000" b="1"/>
            </a:lvl2pPr>
            <a:lvl3pPr marL="914107" indent="0">
              <a:buNone/>
              <a:defRPr sz="1800" b="1"/>
            </a:lvl3pPr>
            <a:lvl4pPr marL="1371160" indent="0">
              <a:buNone/>
              <a:defRPr sz="1600" b="1"/>
            </a:lvl4pPr>
            <a:lvl5pPr marL="1828214" indent="0">
              <a:buNone/>
              <a:defRPr sz="1600" b="1"/>
            </a:lvl5pPr>
            <a:lvl6pPr marL="2285266" indent="0">
              <a:buNone/>
              <a:defRPr sz="1600" b="1"/>
            </a:lvl6pPr>
            <a:lvl7pPr marL="2742321" indent="0">
              <a:buNone/>
              <a:defRPr sz="1600" b="1"/>
            </a:lvl7pPr>
            <a:lvl8pPr marL="3199374" indent="0">
              <a:buNone/>
              <a:defRPr sz="1600" b="1"/>
            </a:lvl8pPr>
            <a:lvl9pPr marL="3656426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323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5 Imagen" descr="ACADÉMICA 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087" y="0"/>
            <a:ext cx="9115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4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17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1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2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473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053" indent="0">
              <a:buNone/>
              <a:defRPr sz="2800"/>
            </a:lvl2pPr>
            <a:lvl3pPr marL="914107" indent="0">
              <a:buNone/>
              <a:defRPr sz="2400"/>
            </a:lvl3pPr>
            <a:lvl4pPr marL="1371160" indent="0">
              <a:buNone/>
              <a:defRPr sz="2000"/>
            </a:lvl4pPr>
            <a:lvl5pPr marL="1828214" indent="0">
              <a:buNone/>
              <a:defRPr sz="2000"/>
            </a:lvl5pPr>
            <a:lvl6pPr marL="2285266" indent="0">
              <a:buNone/>
              <a:defRPr sz="2000"/>
            </a:lvl6pPr>
            <a:lvl7pPr marL="2742321" indent="0">
              <a:buNone/>
              <a:defRPr sz="2000"/>
            </a:lvl7pPr>
            <a:lvl8pPr marL="3199374" indent="0">
              <a:buNone/>
              <a:defRPr sz="2000"/>
            </a:lvl8pPr>
            <a:lvl9pPr marL="3656426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053" indent="0">
              <a:buNone/>
              <a:defRPr sz="1200"/>
            </a:lvl2pPr>
            <a:lvl3pPr marL="914107" indent="0">
              <a:buNone/>
              <a:defRPr sz="1000"/>
            </a:lvl3pPr>
            <a:lvl4pPr marL="1371160" indent="0">
              <a:buNone/>
              <a:defRPr sz="900"/>
            </a:lvl4pPr>
            <a:lvl5pPr marL="1828214" indent="0">
              <a:buNone/>
              <a:defRPr sz="900"/>
            </a:lvl5pPr>
            <a:lvl6pPr marL="2285266" indent="0">
              <a:buNone/>
              <a:defRPr sz="900"/>
            </a:lvl6pPr>
            <a:lvl7pPr marL="2742321" indent="0">
              <a:buNone/>
              <a:defRPr sz="900"/>
            </a:lvl7pPr>
            <a:lvl8pPr marL="3199374" indent="0">
              <a:buNone/>
              <a:defRPr sz="900"/>
            </a:lvl8pPr>
            <a:lvl9pPr marL="3656426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409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5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8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1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2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5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0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0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75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1938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5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1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2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40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53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67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08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093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07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258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5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5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8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8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8" y="2174899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1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134" indent="0">
              <a:buNone/>
              <a:defRPr sz="1800" b="1"/>
            </a:lvl2pPr>
            <a:lvl3pPr marL="820269" indent="0">
              <a:buNone/>
              <a:defRPr sz="1600" b="1"/>
            </a:lvl3pPr>
            <a:lvl4pPr marL="1230403" indent="0">
              <a:buNone/>
              <a:defRPr sz="1400" b="1"/>
            </a:lvl4pPr>
            <a:lvl5pPr marL="1640536" indent="0">
              <a:buNone/>
              <a:defRPr sz="1400" b="1"/>
            </a:lvl5pPr>
            <a:lvl6pPr marL="2050670" indent="0">
              <a:buNone/>
              <a:defRPr sz="1400" b="1"/>
            </a:lvl6pPr>
            <a:lvl7pPr marL="2460804" indent="0">
              <a:buNone/>
              <a:defRPr sz="1400" b="1"/>
            </a:lvl7pPr>
            <a:lvl8pPr marL="2870939" indent="0">
              <a:buNone/>
              <a:defRPr sz="1400" b="1"/>
            </a:lvl8pPr>
            <a:lvl9pPr marL="3281073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1" y="2174899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17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191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0374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8" y="273089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2" y="273089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8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223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50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50" y="613398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134" indent="0">
              <a:buNone/>
              <a:defRPr sz="2500"/>
            </a:lvl2pPr>
            <a:lvl3pPr marL="820269" indent="0">
              <a:buNone/>
              <a:defRPr sz="2200"/>
            </a:lvl3pPr>
            <a:lvl4pPr marL="1230403" indent="0">
              <a:buNone/>
              <a:defRPr sz="1800"/>
            </a:lvl4pPr>
            <a:lvl5pPr marL="1640536" indent="0">
              <a:buNone/>
              <a:defRPr sz="1800"/>
            </a:lvl5pPr>
            <a:lvl6pPr marL="2050670" indent="0">
              <a:buNone/>
              <a:defRPr sz="1800"/>
            </a:lvl6pPr>
            <a:lvl7pPr marL="2460804" indent="0">
              <a:buNone/>
              <a:defRPr sz="1800"/>
            </a:lvl7pPr>
            <a:lvl8pPr marL="2870939" indent="0">
              <a:buNone/>
              <a:defRPr sz="1800"/>
            </a:lvl8pPr>
            <a:lvl9pPr marL="3281073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50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134" indent="0">
              <a:buNone/>
              <a:defRPr sz="1100"/>
            </a:lvl2pPr>
            <a:lvl3pPr marL="820269" indent="0">
              <a:buNone/>
              <a:defRPr sz="900"/>
            </a:lvl3pPr>
            <a:lvl4pPr marL="1230403" indent="0">
              <a:buNone/>
              <a:defRPr sz="800"/>
            </a:lvl4pPr>
            <a:lvl5pPr marL="1640536" indent="0">
              <a:buNone/>
              <a:defRPr sz="800"/>
            </a:lvl5pPr>
            <a:lvl6pPr marL="2050670" indent="0">
              <a:buNone/>
              <a:defRPr sz="800"/>
            </a:lvl6pPr>
            <a:lvl7pPr marL="2460804" indent="0">
              <a:buNone/>
              <a:defRPr sz="800"/>
            </a:lvl7pPr>
            <a:lvl8pPr marL="2870939" indent="0">
              <a:buNone/>
              <a:defRPr sz="800"/>
            </a:lvl8pPr>
            <a:lvl9pPr marL="3281073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5124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966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6" y="274489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9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0648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404" y="2130084"/>
            <a:ext cx="7773193" cy="1470472"/>
          </a:xfrm>
        </p:spPr>
        <p:txBody>
          <a:bodyPr/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2250" y="3886247"/>
            <a:ext cx="6399501" cy="175196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07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09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1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1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15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dirty="0" smtClean="0"/>
              <a:t>Haga clic para modificar el estilo de subtítulo del patrón</a:t>
            </a:r>
            <a:endParaRPr lang="es-CL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4676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07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921" y="4407214"/>
            <a:ext cx="7771750" cy="1361237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921" y="2907333"/>
            <a:ext cx="7771750" cy="1499881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306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07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09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11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13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159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3793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417" y="1600714"/>
            <a:ext cx="4044600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0540" y="1600714"/>
            <a:ext cx="4046043" cy="4524851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4600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534892"/>
            <a:ext cx="4040271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417" y="2174898"/>
            <a:ext cx="4040271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4870" y="1534892"/>
            <a:ext cx="4041714" cy="640006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200" indent="0">
              <a:buNone/>
              <a:defRPr sz="1800" b="1"/>
            </a:lvl2pPr>
            <a:lvl3pPr marL="820400" indent="0">
              <a:buNone/>
              <a:defRPr sz="1600" b="1"/>
            </a:lvl3pPr>
            <a:lvl4pPr marL="1230600" indent="0">
              <a:buNone/>
              <a:defRPr sz="1400" b="1"/>
            </a:lvl4pPr>
            <a:lvl5pPr marL="1640799" indent="0">
              <a:buNone/>
              <a:defRPr sz="1400" b="1"/>
            </a:lvl5pPr>
            <a:lvl6pPr marL="2050999" indent="0">
              <a:buNone/>
              <a:defRPr sz="1400" b="1"/>
            </a:lvl6pPr>
            <a:lvl7pPr marL="2461199" indent="0">
              <a:buNone/>
              <a:defRPr sz="1400" b="1"/>
            </a:lvl7pPr>
            <a:lvl8pPr marL="2871399" indent="0">
              <a:buNone/>
              <a:defRPr sz="1400" b="1"/>
            </a:lvl8pPr>
            <a:lvl9pPr marL="3281599" indent="0">
              <a:buNone/>
              <a:defRPr sz="14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4870" y="2174898"/>
            <a:ext cx="4041714" cy="3950667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794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42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548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417" y="273088"/>
            <a:ext cx="3008559" cy="1162373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641" y="273088"/>
            <a:ext cx="5110943" cy="585247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417" y="1435461"/>
            <a:ext cx="3008559" cy="4690104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827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149" y="4800740"/>
            <a:ext cx="5486111" cy="56718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149" y="613397"/>
            <a:ext cx="5486111" cy="4114520"/>
          </a:xfrm>
        </p:spPr>
        <p:txBody>
          <a:bodyPr/>
          <a:lstStyle>
            <a:lvl1pPr marL="0" indent="0">
              <a:buNone/>
              <a:defRPr sz="2900"/>
            </a:lvl1pPr>
            <a:lvl2pPr marL="410200" indent="0">
              <a:buNone/>
              <a:defRPr sz="2500"/>
            </a:lvl2pPr>
            <a:lvl3pPr marL="820400" indent="0">
              <a:buNone/>
              <a:defRPr sz="2200"/>
            </a:lvl3pPr>
            <a:lvl4pPr marL="1230600" indent="0">
              <a:buNone/>
              <a:defRPr sz="1800"/>
            </a:lvl4pPr>
            <a:lvl5pPr marL="1640799" indent="0">
              <a:buNone/>
              <a:defRPr sz="1800"/>
            </a:lvl5pPr>
            <a:lvl6pPr marL="2050999" indent="0">
              <a:buNone/>
              <a:defRPr sz="1800"/>
            </a:lvl6pPr>
            <a:lvl7pPr marL="2461199" indent="0">
              <a:buNone/>
              <a:defRPr sz="1800"/>
            </a:lvl7pPr>
            <a:lvl8pPr marL="2871399" indent="0">
              <a:buNone/>
              <a:defRPr sz="1800"/>
            </a:lvl8pPr>
            <a:lvl9pPr marL="3281599" indent="0">
              <a:buNone/>
              <a:defRPr sz="18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149" y="5367922"/>
            <a:ext cx="5486111" cy="803858"/>
          </a:xfrm>
        </p:spPr>
        <p:txBody>
          <a:bodyPr/>
          <a:lstStyle>
            <a:lvl1pPr marL="0" indent="0">
              <a:buNone/>
              <a:defRPr sz="1300"/>
            </a:lvl1pPr>
            <a:lvl2pPr marL="410200" indent="0">
              <a:buNone/>
              <a:defRPr sz="1100"/>
            </a:lvl2pPr>
            <a:lvl3pPr marL="820400" indent="0">
              <a:buNone/>
              <a:defRPr sz="900"/>
            </a:lvl3pPr>
            <a:lvl4pPr marL="1230600" indent="0">
              <a:buNone/>
              <a:defRPr sz="800"/>
            </a:lvl4pPr>
            <a:lvl5pPr marL="1640799" indent="0">
              <a:buNone/>
              <a:defRPr sz="800"/>
            </a:lvl5pPr>
            <a:lvl6pPr marL="2050999" indent="0">
              <a:buNone/>
              <a:defRPr sz="800"/>
            </a:lvl6pPr>
            <a:lvl7pPr marL="2461199" indent="0">
              <a:buNone/>
              <a:defRPr sz="800"/>
            </a:lvl7pPr>
            <a:lvl8pPr marL="2871399" indent="0">
              <a:buNone/>
              <a:defRPr sz="800"/>
            </a:lvl8pPr>
            <a:lvl9pPr marL="3281599" indent="0">
              <a:buNone/>
              <a:defRPr sz="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83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4866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30375" y="274488"/>
            <a:ext cx="2056209" cy="5851077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417" y="274488"/>
            <a:ext cx="6034434" cy="585107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746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hyperlink" Target="http://www.ufro.cl/" TargetMode="Externa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hyperlink" Target="http://www.ufro.cl/" TargetMode="Externa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hyperlink" Target="http://www.ufro.cl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2" y="274639"/>
            <a:ext cx="8229600" cy="1143000"/>
          </a:xfrm>
          <a:prstGeom prst="rect">
            <a:avLst/>
          </a:prstGeom>
        </p:spPr>
        <p:txBody>
          <a:bodyPr vert="horz" lIns="91411" tIns="45704" rIns="91411" bIns="45704" rtlCol="0" anchor="ctr">
            <a:normAutofit/>
          </a:bodyPr>
          <a:lstStyle/>
          <a:p>
            <a:r>
              <a:rPr lang="es-ES" dirty="0" smtClean="0"/>
              <a:t>Haga clic para modificar el estilo de título del patrón</a:t>
            </a:r>
            <a:endParaRPr lang="es-C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2" y="1600202"/>
            <a:ext cx="8229600" cy="4525963"/>
          </a:xfrm>
          <a:prstGeom prst="rect">
            <a:avLst/>
          </a:prstGeom>
        </p:spPr>
        <p:txBody>
          <a:bodyPr vert="horz" lIns="91411" tIns="45704" rIns="91411" bIns="4570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109A6D5B-B4A4-483F-9CD3-3E3D1DF6D3BC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2" y="6356352"/>
            <a:ext cx="2895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2" y="6356352"/>
            <a:ext cx="2133600" cy="365125"/>
          </a:xfrm>
          <a:prstGeom prst="rect">
            <a:avLst/>
          </a:prstGeom>
        </p:spPr>
        <p:txBody>
          <a:bodyPr vert="horz" lIns="91411" tIns="45704" rIns="91411" bIns="4570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D0C98D3C-C1FD-49F7-AE1B-30D0118F83EB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7 Imagen" descr="ACADÉMICA 1.jpg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14089" y="2"/>
            <a:ext cx="9115825" cy="6857999"/>
          </a:xfrm>
          <a:prstGeom prst="rect">
            <a:avLst/>
          </a:prstGeom>
        </p:spPr>
      </p:pic>
      <p:sp>
        <p:nvSpPr>
          <p:cNvPr id="9" name="8 CuadroTexto">
            <a:hlinkClick r:id="rId12"/>
          </p:cNvPr>
          <p:cNvSpPr txBox="1"/>
          <p:nvPr userDrawn="1"/>
        </p:nvSpPr>
        <p:spPr>
          <a:xfrm>
            <a:off x="4117466" y="2483691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srgbClr val="1F497D">
                    <a:lumMod val="75000"/>
                  </a:srgbClr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srgbClr val="1F497D">
                  <a:lumMod val="75000"/>
                </a:srgbClr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317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91410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90" indent="-342790" algn="l" defTabSz="91410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711" indent="-285659" algn="l" defTabSz="91410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3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88" indent="-228527" algn="l" defTabSz="91410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41" indent="-228527" algn="l" defTabSz="91410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9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847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902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54" indent="-228527" algn="l" defTabSz="91410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53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07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60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21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6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321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374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426" algn="l" defTabSz="9141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9"/>
            <a:ext cx="8229166" cy="1142767"/>
          </a:xfrm>
          <a:prstGeom prst="rect">
            <a:avLst/>
          </a:prstGeom>
        </p:spPr>
        <p:txBody>
          <a:bodyPr vert="horz" lIns="82027" tIns="41014" rIns="82027" bIns="41014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5"/>
            <a:ext cx="8229166" cy="4524851"/>
          </a:xfrm>
          <a:prstGeom prst="rect">
            <a:avLst/>
          </a:prstGeom>
        </p:spPr>
        <p:txBody>
          <a:bodyPr vert="horz" lIns="82027" tIns="41014" rIns="82027" bIns="41014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1"/>
            <a:ext cx="2896008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1"/>
            <a:ext cx="2132686" cy="365517"/>
          </a:xfrm>
          <a:prstGeom prst="rect">
            <a:avLst/>
          </a:prstGeom>
        </p:spPr>
        <p:txBody>
          <a:bodyPr vert="horz" lIns="82027" tIns="41014" rIns="82027" bIns="4101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107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107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2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84"/>
          </a:xfrm>
          <a:prstGeom prst="rect">
            <a:avLst/>
          </a:prstGeom>
          <a:noFill/>
        </p:spPr>
        <p:txBody>
          <a:bodyPr wrap="square" lIns="82027" tIns="41014" rIns="82027" bIns="41014" rtlCol="0">
            <a:spAutoFit/>
          </a:bodyPr>
          <a:lstStyle/>
          <a:p>
            <a:pPr algn="ctr" defTabSz="914107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03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ctr" defTabSz="820269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01" indent="-307601" algn="l" defTabSz="82026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468" indent="-256334" algn="l" defTabSz="820269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33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469" indent="-205067" algn="l" defTabSz="820269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603" indent="-205067" algn="l" defTabSz="820269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5738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5872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005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140" indent="-205067" algn="l" defTabSz="820269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13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26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40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536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670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0804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0939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073" algn="l" defTabSz="820269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417" y="274488"/>
            <a:ext cx="8229166" cy="1142767"/>
          </a:xfrm>
          <a:prstGeom prst="rect">
            <a:avLst/>
          </a:prstGeom>
        </p:spPr>
        <p:txBody>
          <a:bodyPr vert="horz" lIns="82040" tIns="41020" rIns="82040" bIns="410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417" y="1600714"/>
            <a:ext cx="8229166" cy="4524851"/>
          </a:xfrm>
          <a:prstGeom prst="rect">
            <a:avLst/>
          </a:prstGeom>
        </p:spPr>
        <p:txBody>
          <a:bodyPr vert="horz" lIns="82040" tIns="41020" rIns="82040" bIns="410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417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97172ED1-F058-4296-9A1C-85EC5A9AEE84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09-08-2017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3996" y="6356640"/>
            <a:ext cx="2896008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898" y="6356640"/>
            <a:ext cx="2132686" cy="365517"/>
          </a:xfrm>
          <a:prstGeom prst="rect">
            <a:avLst/>
          </a:prstGeom>
        </p:spPr>
        <p:txBody>
          <a:bodyPr vert="horz" lIns="82040" tIns="41020" rIns="82040" bIns="410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253"/>
            <a:fld id="{B07E5F88-547F-4B54-AAD7-10680895DAA5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4253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6 Imagen" descr="ACADÉMICA 2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14087" y="1"/>
            <a:ext cx="9115824" cy="6857999"/>
          </a:xfrm>
          <a:prstGeom prst="rect">
            <a:avLst/>
          </a:prstGeom>
        </p:spPr>
      </p:pic>
      <p:sp>
        <p:nvSpPr>
          <p:cNvPr id="8" name="7 CuadroTexto">
            <a:hlinkClick r:id="rId14"/>
          </p:cNvPr>
          <p:cNvSpPr txBox="1"/>
          <p:nvPr userDrawn="1"/>
        </p:nvSpPr>
        <p:spPr>
          <a:xfrm>
            <a:off x="6909602" y="6517013"/>
            <a:ext cx="1038934" cy="282896"/>
          </a:xfrm>
          <a:prstGeom prst="rect">
            <a:avLst/>
          </a:prstGeom>
          <a:noFill/>
        </p:spPr>
        <p:txBody>
          <a:bodyPr wrap="square" lIns="82040" tIns="41020" rIns="82040" bIns="41020" rtlCol="0">
            <a:spAutoFit/>
          </a:bodyPr>
          <a:lstStyle/>
          <a:p>
            <a:pPr algn="ctr" defTabSz="914253"/>
            <a:r>
              <a:rPr lang="es-ES" sz="1300" b="1" dirty="0" smtClean="0">
                <a:solidFill>
                  <a:prstClr val="white"/>
                </a:solidFill>
                <a:cs typeface="Calibri" pitchFamily="34" charset="0"/>
              </a:rPr>
              <a:t>www.ufro.cl</a:t>
            </a:r>
            <a:endParaRPr lang="es-CL" sz="1300" b="1" dirty="0">
              <a:solidFill>
                <a:prstClr val="white"/>
              </a:solidFill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25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txStyles>
    <p:titleStyle>
      <a:lvl1pPr algn="ctr" defTabSz="82040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7650" indent="-307650" algn="l" defTabSz="82040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6575" indent="-256375" algn="l" defTabSz="82040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25500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5699" indent="-205100" algn="l" defTabSz="820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5899" indent="-205100" algn="l" defTabSz="820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60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662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764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86699" indent="-205100" algn="l" defTabSz="820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2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04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0600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07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09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11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13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1599" algn="l" defTabSz="8204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980477" y="3140968"/>
            <a:ext cx="5194671" cy="1621712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AVANCE 1 TRABAJO FINAL DE GRADO</a:t>
            </a:r>
            <a:endParaRPr lang="es-CL" sz="2500"/>
          </a:p>
          <a:p>
            <a:endParaRPr lang="es-CL" sz="2500"/>
          </a:p>
          <a:p>
            <a:pPr algn="ctr"/>
            <a:r>
              <a:rPr lang="es-CL" sz="25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Magíster en Sistemas de Gestión Integral de la Calidad</a:t>
            </a:r>
            <a:endParaRPr lang="es-CL" sz="2500"/>
          </a:p>
        </p:txBody>
      </p:sp>
      <p:sp>
        <p:nvSpPr>
          <p:cNvPr id="3" name="2 CuadroTexto"/>
          <p:cNvSpPr txBox="1"/>
          <p:nvPr/>
        </p:nvSpPr>
        <p:spPr>
          <a:xfrm>
            <a:off x="2843466" y="4941169"/>
            <a:ext cx="3468694" cy="105231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13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Carlos Muñoz P.</a:t>
            </a:r>
          </a:p>
          <a:p>
            <a:pPr algn="ctr"/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Profesor co-guía: </a:t>
            </a:r>
            <a:r>
              <a:rPr lang="es-CL" sz="1300" dirty="0">
                <a:solidFill>
                  <a:srgbClr val="1F497D">
                    <a:lumMod val="75000"/>
                  </a:srgbClr>
                </a:solidFill>
              </a:rPr>
              <a:t>Manuel Echiburú Fuenzalida</a:t>
            </a:r>
          </a:p>
          <a:p>
            <a:endParaRPr lang="es-CL" sz="1300"/>
          </a:p>
          <a:p>
            <a:pPr algn="ctr"/>
            <a:r>
              <a:rPr lang="es-CL" sz="1100" b="1" dirty="0">
                <a:solidFill>
                  <a:srgbClr val="1F497D">
                    <a:lumMod val="75000"/>
                  </a:srgbClr>
                </a:solidFill>
              </a:rPr>
              <a:t>Fecha: </a:t>
            </a:r>
            <a:r>
              <a:rPr lang="es-CL" sz="1100" dirty="0">
                <a:solidFill>
                  <a:srgbClr val="1F497D">
                    <a:lumMod val="75000"/>
                  </a:srgbClr>
                </a:solidFill>
              </a:rPr>
              <a:t>12/09/2026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del trabajo final de grado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5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900" b="1" dirty="0">
                <a:solidFill>
                  <a:srgbClr val="1F497D">
                    <a:lumMod val="75000"/>
                  </a:srgbClr>
                </a:solidFill>
              </a:rPr>
              <a:t>Propuesta de un sistema de gestión de riesgos para los macroprocesos de Gestión de Personas (MP8) y Servicios Generales (MP21) de Celulosa Arauco y Constitución S.A.</a:t>
            </a:r>
            <a:endParaRPr lang="es-CL" sz="19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4150000"/>
            <a:ext cx="8352928" cy="2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Qué se aborda.</a:t>
            </a:r>
            <a:r>
              <a:rPr lang="es-CL" sz="1300" dirty="0">
                <a:solidFill>
                  <a:schemeClr val="tx2"/>
                </a:solidFill>
              </a:rPr>
              <a:t> Dos macroprocesos de apoyo que sostienen la operación y que hoy no cuentan con una gestión de riesgos estructurada ni con una arquitectura de procesos formalizada.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Caso.</a:t>
            </a:r>
            <a:r>
              <a:rPr lang="es-CL" sz="1300" dirty="0">
                <a:solidFill>
                  <a:schemeClr val="tx2"/>
                </a:solidFill>
              </a:rPr>
              <a:t> Celulosa Arauco y Constitución S.A. El trabajo se centra en el Negocio de Celulosa; MP8 es transversal a los negocios de celulosa, madera y forestal.</a:t>
            </a:r>
            <a:endParaRPr lang="es-CL" sz="1300"/>
          </a:p>
          <a:p>
            <a:pPr marL="228600" indent="-228600">
              <a:spcBef>
                <a:spcPts val="5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Carácter de propuesta.</a:t>
            </a:r>
            <a:r>
              <a:rPr lang="es-CL" sz="1300" dirty="0">
                <a:solidFill>
                  <a:schemeClr val="tx2"/>
                </a:solidFill>
              </a:rPr>
              <a:t> El trabajo comprende el diseño del sistema, no su implementación.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Título sin modificaciones respecto del anteproyecto aprobado.</a:t>
            </a:r>
            <a:endParaRPr lang="es-CL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 general</a:t>
            </a:r>
            <a:endParaRPr lang="es-CL" sz="1500"/>
          </a:p>
          <a:p>
            <a:r>
              <a:rPr lang="es-CL" sz="1400" dirty="0">
                <a:solidFill>
                  <a:schemeClr val="tx2"/>
                </a:solidFill>
              </a:rPr>
              <a:t>Estructurar un sistema de gestión de riesgos según metodología COSO II para los macroprocesos de Gestión de Personas (MP8) y Servicios Generales (MP21) de Celulosa Arauco y Constitución S.A.</a:t>
            </a:r>
            <a:endParaRPr lang="es-CL" sz="14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800000"/>
            <a:ext cx="8352928" cy="2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500" b="1" dirty="0">
                <a:solidFill>
                  <a:srgbClr val="1F497D">
                    <a:lumMod val="75000"/>
                  </a:srgbClr>
                </a:solidFill>
              </a:rPr>
              <a:t>Objetivos específicos</a:t>
            </a:r>
            <a:endParaRPr lang="es-CL" sz="15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OE1. Modelar</a:t>
            </a:r>
            <a:r>
              <a:rPr lang="es-CL" sz="1350" dirty="0">
                <a:solidFill>
                  <a:schemeClr val="tx2"/>
                </a:solidFill>
              </a:rPr>
              <a:t> la arquitectura de procesos de MP8 y MP21, desde sus procesos hasta sus tareas, según el marco del Modelo de Gestión Operacional.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OE2. Evaluar</a:t>
            </a:r>
            <a:r>
              <a:rPr lang="es-CL" sz="1350" dirty="0">
                <a:solidFill>
                  <a:schemeClr val="tx2"/>
                </a:solidFill>
              </a:rPr>
              <a:t> los riesgos operacionales de las tareas modeladas mediante la metodología COSO II.</a:t>
            </a:r>
            <a:endParaRPr lang="es-CL" sz="13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50" b="1" dirty="0">
                <a:solidFill>
                  <a:schemeClr val="tx2"/>
                </a:solidFill>
              </a:rPr>
              <a:t>OE3. Elaborar</a:t>
            </a:r>
            <a:r>
              <a:rPr lang="es-CL" sz="1350" dirty="0">
                <a:solidFill>
                  <a:schemeClr val="tx2"/>
                </a:solidFill>
              </a:rPr>
              <a:t> el sistema de gestión de riesgos, integrando el catálogo de riesgos y sus planes de mitigación.</a:t>
            </a:r>
            <a:endParaRPr lang="es-CL" sz="135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Objetivos sin modificaciones. Este avance reporta el objetivo específico 1.</a:t>
            </a:r>
            <a:endParaRPr lang="es-CL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1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(1 de 3) · Diseño y objetivo específico 1</a:t>
            </a:r>
            <a:endParaRPr lang="es-CL" sz="21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9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chemeClr val="tx2"/>
                </a:solidFill>
              </a:rPr>
              <a:t>Diseño.</a:t>
            </a:r>
            <a:r>
              <a:rPr lang="es-CL" sz="1300" dirty="0">
                <a:solidFill>
                  <a:schemeClr val="tx2"/>
                </a:solidFill>
              </a:rPr>
              <a:t> Descriptivo-aplicado, observacional, caso único, no experimental. </a:t>
            </a:r>
            <a:r>
              <a:rPr lang="es-CL" sz="1300" b="1" dirty="0">
                <a:solidFill>
                  <a:schemeClr val="tx2"/>
                </a:solidFill>
              </a:rPr>
              <a:t>Unidad de análisis:</a:t>
            </a:r>
            <a:r>
              <a:rPr lang="es-CL" sz="1300" dirty="0">
                <a:solidFill>
                  <a:schemeClr val="tx2"/>
                </a:solidFill>
              </a:rPr>
              <a:t> el nivel corporativo que define ambos macroprocesos.</a:t>
            </a:r>
            <a:endParaRPr lang="es-CL" sz="1300"/>
          </a:p>
        </p:txBody>
      </p:sp>
      <p:sp>
        <p:nvSpPr>
          <p:cNvPr id="9" name="8 CuadroTexto"/>
          <p:cNvSpPr txBox="1"/>
          <p:nvPr/>
        </p:nvSpPr>
        <p:spPr>
          <a:xfrm>
            <a:off x="323528" y="3350000"/>
            <a:ext cx="8352928" cy="2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OE1 · El modelamiento se ejecuta en dos etapas por macroproceso</a:t>
            </a:r>
            <a:endParaRPr lang="es-CL" sz="145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1. Flujo único de información.</a:t>
            </a:r>
            <a:r>
              <a:rPr lang="es-CL" sz="1300" dirty="0">
                <a:solidFill>
                  <a:schemeClr val="tx2"/>
                </a:solidFill>
              </a:rPr>
              <a:t> Cadena SIPOC continua del primer proveedor al último cliente, con el orden y el arranque que fija el APQC PCF v8.0, categoría 7.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Etapa 2. Segmentación jerárquica.</a:t>
            </a:r>
            <a:r>
              <a:rPr lang="es-CL" sz="1300" dirty="0">
                <a:solidFill>
                  <a:schemeClr val="tx2"/>
                </a:solidFill>
              </a:rPr>
              <a:t> Los cinco niveles del MGO se derivan del flujo levantado, no se imponen sobre él.</a:t>
            </a:r>
            <a:endParaRPr lang="es-CL" sz="1300"/>
          </a:p>
          <a:p>
            <a:pPr marL="228600" indent="-228600">
              <a:spcBef>
                <a:spcPts val="40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Regla de trazabilidad.</a:t>
            </a:r>
            <a:r>
              <a:rPr lang="es-CL" sz="1300" dirty="0">
                <a:solidFill>
                  <a:schemeClr val="tx2"/>
                </a:solidFill>
              </a:rPr>
              <a:t> Cada elemento se respalda en procedimiento vigente, entrevista o PCF. Si ninguna fuente lo sustenta, se declara brecha en lugar de completarse por estimación.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CAP, cobertura de arquitectura de procesos.</a:t>
            </a:r>
            <a:endParaRPr lang="es-CL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(2 de 3) · Objetivo específico 2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dirty="0">
                <a:solidFill>
                  <a:schemeClr val="tx2"/>
                </a:solidFill>
              </a:rPr>
              <a:t>Se evalúan los riesgos sobre la totalidad de las tareas modeladas, determinando siete atributos por tarea según COSO II.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050000"/>
          <a:ext cx="8352928" cy="30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5852928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Descripción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Evento de riesgo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Suceso que puede afectar el logro del objetivo de la tarea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Categoría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Clasificación del evento según la taxonomía adoptada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Probabilidad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Verosimilitud de ocurrencia del evento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Impacto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Consecuencia potencial sobre la operación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inherente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de riesgo antes de considerar los controles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Controles existentes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Actividades de control ya vigentes en la organización</a:t>
                      </a:r>
                    </a:p>
                  </a:txBody>
                  <a:tcPr marL="45720" marR="45720" marT="27432" marB="27432" anchor="ctr"/>
                </a:tc>
              </a:tr>
              <a:tr h="37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Riesgo residual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Nivel remanente; determina la respuesta al riesgo en 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Indicador de logro: TCER, tasa de cobertura de evaluación de riesgos.</a:t>
            </a:r>
            <a:endParaRPr lang="es-CL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Metodología (3 de 3) · Objetivo específico 3 e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1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50" b="1" dirty="0">
                <a:solidFill>
                  <a:srgbClr val="1F497D">
                    <a:lumMod val="75000"/>
                  </a:srgbClr>
                </a:solidFill>
              </a:rPr>
              <a:t>OE3 · Composición del sistema de gestión de riesgos</a:t>
            </a:r>
            <a:endParaRPr lang="es-CL" sz="1450"/>
          </a:p>
          <a:p>
            <a:r>
              <a:rPr lang="es-CL" sz="1300" dirty="0">
                <a:solidFill>
                  <a:schemeClr val="tx2"/>
                </a:solidFill>
              </a:rPr>
              <a:t>Catálogo de riesgos evaluados,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planes de mitigación derivados del riesgo residual, </a:t>
            </a:r>
            <a:r>
              <a:rPr lang="es-CL" sz="1300" b="1" dirty="0">
                <a:solidFill>
                  <a:schemeClr val="tx2"/>
                </a:solidFill>
              </a:rPr>
              <a:t>más</a:t>
            </a:r>
            <a:r>
              <a:rPr lang="es-CL" sz="1300" dirty="0">
                <a:solidFill>
                  <a:schemeClr val="tx2"/>
                </a:solidFill>
              </a:rPr>
              <a:t> una capa de gobernanza con roles, taxonomía, indicadores clave de riesgo y esquema de monitoreo y reporte.</a:t>
            </a:r>
            <a:endParaRPr lang="es-CL" sz="13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3900000"/>
          <a:ext cx="8352928" cy="21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200000"/>
                <a:gridCol w="2500000"/>
                <a:gridCol w="1752928"/>
              </a:tblGrid>
              <a:tr h="38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OE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Indicador de logro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Línea base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arquitectura de procesos (CAP)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arquitectura formal en cinco niveles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Tasa de cobertura de evaluación de riesgos (TCER)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identificación ni valoración por tarea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  <a:tr h="480">
                <a:tc>
                  <a:txBody>
                    <a:bodyPr/>
                    <a:lstStyle/>
                    <a:p>
                      <a:pPr algn="ctr"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OE3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Cobertura de riesgos con plan de mitigación (CRPM)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Sin sistema ni planes de mitigación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sistema se valida con los dueños de proceso y se presenta a la alta gerencia.</a:t>
            </a:r>
            <a:endParaRPr lang="es-CL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Cambios respecto del anteproyecto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900000"/>
        </p:xfrm>
        <a:graphic>
          <a:graphicData uri="http://schemas.openxmlformats.org/drawingml/2006/table">
            <a:tbl>
              <a:tblPr firstRow="1" bandRow="1"/>
              <a:tblGrid>
                <a:gridCol w="2100000"/>
                <a:gridCol w="29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Ámbito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cambió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Plan de trabajo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A1.3 y A1.4 se desdoblan en flujo único y segmentación jerárquica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modelamiento requiere levantar primero la cadena de información; la jerarquía se deriva de ella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Alcance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precisa que el trabajo se centra en el Negocio de Celulosa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MP8 es transversal a celulosa, madera y forestal, y se define a nivel corporativo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Carta Gantt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Replanificada; el primer hito pasa de la semana 10 a la semana 5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Ajuste a la fecha efectiva de esta presentación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100" b="1" dirty="0">
                          <a:solidFill>
                            <a:schemeClr val="tx2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Se agrega la cobertura de trazabilidad del flujo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100" dirty="0">
                          <a:solidFill>
                            <a:schemeClr val="tx2"/>
                          </a:solidFill>
                        </a:rPr>
                        <a:t>El CAP mide la segmentación final y no refleja el avance intermedio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500000"/>
            <a:ext cx="8352928" cy="7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300" b="1" dirty="0">
                <a:solidFill>
                  <a:srgbClr val="1F497D">
                    <a:lumMod val="75000"/>
                  </a:srgbClr>
                </a:solidFill>
              </a:rPr>
              <a:t>No cambian el objetivo general, los objetivos específicos, los indicadores de logro ni los entregables comprometidos.</a:t>
            </a:r>
            <a:endParaRPr lang="es-CL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Carta Gantt actualizada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4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Horizonte de 20 semanas, agosto 2026 a enero 2027. Esta presentación corresponde a la </a:t>
            </a:r>
            <a:r>
              <a:rPr lang="es-CL" sz="1250" b="1" dirty="0">
                <a:solidFill>
                  <a:schemeClr val="tx2"/>
                </a:solidFill>
              </a:rPr>
              <a:t>semana 5</a:t>
            </a:r>
            <a:r>
              <a:rPr lang="es-CL" sz="1250" dirty="0">
                <a:solidFill>
                  <a:schemeClr val="tx2"/>
                </a:solidFill>
              </a:rPr>
              <a:t>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850000"/>
          <a:ext cx="8352928" cy="32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  <a:gridCol w="292646"/>
              </a:tblGrid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13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A1.1–A1.2  Diagnóstico y entrevistas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A1.3.1  Flujo único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A1.3.2  Segmentación jerárquica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A1.4.1  Flujo único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A1.4.2  Segmentación jerárquica MP21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A1.5–A1.6  Manuales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A2.1–A2.2  Identificación y valoración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A2.3–A2.4  Matriz y validación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A3.1–A3.2  Planes y gobernanza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A3.3–A3.4  Integración y entrega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D0D0D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dirty="0">
                          <a:solidFill>
                            <a:schemeClr val="tx2"/>
                          </a:solidFill>
                        </a:rPr>
                        <a:t>A-G  Documentación del TFG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808080"/>
                    </a:solidFill>
                  </a:tcPr>
                </a:tc>
              </a:tr>
              <a:tr h="240">
                <a:tc>
                  <a:txBody>
                    <a:bodyPr/>
                    <a:lstStyle/>
                    <a:p>
                      <a:pPr/>
                      <a:r>
                        <a:rPr lang="es-CL" sz="800" b="1" dirty="0">
                          <a:solidFill>
                            <a:schemeClr val="tx2"/>
                          </a:solidFill>
                        </a:rPr>
                        <a:t>Hitos  A-P1 · A-P2 · A-PF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Completada  ·  En ejecución  ·  Pendiente  ·  Hito.</a:t>
            </a:r>
            <a:endParaRPr lang="es-CL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Actividades realizadas</a:t>
            </a:r>
            <a:endParaRPr lang="es-CL" sz="2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500000"/>
          <a:ext cx="8352928" cy="2600000"/>
        </p:xfrm>
        <a:graphic>
          <a:graphicData uri="http://schemas.openxmlformats.org/drawingml/2006/table">
            <a:tbl>
              <a:tblPr firstRow="1" bandRow="1"/>
              <a:tblGrid>
                <a:gridCol w="900000"/>
                <a:gridCol w="3100000"/>
                <a:gridCol w="1300000"/>
                <a:gridCol w="3052928"/>
              </a:tblGrid>
              <a:tr h="350"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Actividad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Evidencia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Revisión documental y diagnóstico preliminar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Inventario de fuentes y matriz de trazabilidad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Entrevistas con los dueños de proceso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Registros de tres áreas funcionales de MP8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Flujo único de información de MP8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Completada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261 elementos, 318 conexiones, 18 fases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A1.3.2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Segmentación jerárquica de MP8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en las semanas 6 y 7</a:t>
                      </a:r>
                    </a:p>
                  </a:txBody>
                  <a:tcPr marL="45720" marR="45720" marT="27432" marB="27432" anchor="ctr"/>
                </a:tc>
              </a:tr>
              <a:tr h="420"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A1.4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Levantamiento de MP21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No iniciada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Programada desde la semana 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25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levantado fue revisado con el </a:t>
            </a:r>
            <a:r>
              <a:rPr lang="es-CL" sz="1250" b="1" dirty="0">
                <a:solidFill>
                  <a:schemeClr val="tx2"/>
                </a:solidFill>
              </a:rPr>
              <a:t>líder de mejora continua</a:t>
            </a:r>
            <a:r>
              <a:rPr lang="es-CL" sz="1250" dirty="0">
                <a:solidFill>
                  <a:schemeClr val="tx2"/>
                </a:solidFill>
              </a:rPr>
              <a:t>: se verificó la continuidad de la cadena y la consistencia de la secuencia entre áreas. La </a:t>
            </a:r>
            <a:r>
              <a:rPr lang="es-CL" sz="1250" b="1" dirty="0">
                <a:solidFill>
                  <a:schemeClr val="tx2"/>
                </a:solidFill>
              </a:rPr>
              <a:t>validación formal mediante acta</a:t>
            </a:r>
            <a:r>
              <a:rPr lang="es-CL" sz="1250" dirty="0">
                <a:solidFill>
                  <a:schemeClr val="tx2"/>
                </a:solidFill>
              </a:rPr>
              <a:t> de los dueños de proceso corresponde a A1.6 y está pendiente.</a:t>
            </a:r>
            <a:endParaRPr lang="es-CL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El flujo único de información de MP8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4000000" cy="26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Qué se levantó</a:t>
            </a:r>
            <a:endParaRPr lang="es-CL" sz="140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</a:t>
            </a:r>
            <a:r>
              <a:rPr lang="es-CL" sz="1250" b="1" dirty="0">
                <a:solidFill>
                  <a:schemeClr val="tx2"/>
                </a:solidFill>
              </a:rPr>
              <a:t>sola cadena continua</a:t>
            </a:r>
            <a:r>
              <a:rPr lang="es-CL" sz="1250" dirty="0">
                <a:solidFill>
                  <a:schemeClr val="tx2"/>
                </a:solidFill>
              </a:rPr>
              <a:t>, de 5 proveedores iniciales a 6 clientes finales, organizada en </a:t>
            </a:r>
            <a:r>
              <a:rPr lang="es-CL" sz="1250" b="1" dirty="0">
                <a:solidFill>
                  <a:schemeClr val="tx2"/>
                </a:solidFill>
              </a:rPr>
              <a:t>18 fases</a:t>
            </a:r>
            <a:r>
              <a:rPr lang="es-CL" sz="1250" dirty="0">
                <a:solidFill>
                  <a:schemeClr val="tx2"/>
                </a:solidFill>
              </a:rPr>
              <a:t>: 17 del ciclo de vida del trabajador y una banda transversal de datos y gobernanza.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El flujo </a:t>
            </a:r>
            <a:r>
              <a:rPr lang="es-CL" sz="1250" b="1" dirty="0">
                <a:solidFill>
                  <a:schemeClr val="tx2"/>
                </a:solidFill>
              </a:rPr>
              <a:t>no arranca en la vacante</a:t>
            </a:r>
            <a:r>
              <a:rPr lang="es-CL" sz="1250" dirty="0">
                <a:solidFill>
                  <a:schemeClr val="tx2"/>
                </a:solidFill>
              </a:rPr>
              <a:t>, sino en la necesidad estratégica de dotación, según el orden del APQC PCF.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b="1" dirty="0">
                <a:solidFill>
                  <a:schemeClr val="tx2"/>
                </a:solidFill>
              </a:rPr>
              <a:t>198 elementos</a:t>
            </a:r>
            <a:r>
              <a:rPr lang="es-CL" sz="1250" dirty="0">
                <a:solidFill>
                  <a:schemeClr val="tx2"/>
                </a:solidFill>
              </a:rPr>
              <a:t> quedaron asociados a </a:t>
            </a:r>
            <a:r>
              <a:rPr lang="es-CL" sz="1250" b="1" dirty="0">
                <a:solidFill>
                  <a:schemeClr val="tx2"/>
                </a:solidFill>
              </a:rPr>
              <a:t>86 códigos</a:t>
            </a:r>
            <a:r>
              <a:rPr lang="es-CL" sz="1250" dirty="0">
                <a:solidFill>
                  <a:schemeClr val="tx2"/>
                </a:solidFill>
              </a:rPr>
              <a:t> del PCF, y 85 tienen responsable identificado.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4676456" y="2500000"/>
          <a:ext cx="4000000" cy="2500000"/>
        </p:xfrm>
        <a:graphic>
          <a:graphicData uri="http://schemas.openxmlformats.org/drawingml/2006/table">
            <a:tbl>
              <a:tblPr firstRow="1" bandRow="1"/>
              <a:tblGrid>
                <a:gridCol w="2500000"/>
                <a:gridCol w="800000"/>
                <a:gridCol w="700000"/>
              </a:tblGrid>
              <a:tr h="35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Procedencia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Procedimiento vigente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36,0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Insumo interno o PCF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92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35,2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Entrevista, sin documentar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36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13,8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Brecha declarada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4,6</a:t>
                      </a:r>
                    </a:p>
                  </a:txBody>
                  <a:tcPr marL="45720" marR="45720" marT="27432" marB="27432" anchor="ctr"/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Auxiliares de notación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27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dirty="0">
                          <a:solidFill>
                            <a:schemeClr val="tx2"/>
                          </a:solidFill>
                        </a:rPr>
                        <a:t>10,4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55">
                <a:tc>
                  <a:txBody>
                    <a:bodyPr/>
                    <a:lstStyle/>
                    <a:p>
                      <a:pPr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Total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261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00" b="1" dirty="0">
                          <a:solidFill>
                            <a:schemeClr val="tx2"/>
                          </a:solidFill>
                        </a:rPr>
                        <a:t>100</a:t>
                      </a:r>
                    </a:p>
                  </a:txBody>
                  <a:tcPr marL="45720" marR="45720" marT="27432" marB="27432" anchor="ctr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De los 261 elementos, 234 son pasos del proceso y 27 son auxiliares de la notación: decisiones, proveedores, clientes y sistemas.</a:t>
            </a:r>
            <a:endParaRPr lang="es-CL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Cobertura del levantamiento por fase</a:t>
            </a:r>
            <a:endParaRPr lang="es-CL" sz="20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 Necesidad y dotación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F2 Valoración de cargo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F3 Requisición y vacante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F4 Reclutamiento y CV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7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F5 Revisión solicitante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F6 Evaluación psicolaboral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F7 Entrevistas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F8 Examen preocupacional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F9 Contratación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a 21"/>
          <p:cNvGraphicFramePr>
            <a:graphicFrameLocks noGrp="1"/>
          </p:cNvGraphicFramePr>
          <p:nvPr/>
        </p:nvGraphicFramePr>
        <p:xfrm>
          <a:off x="4676456" y="2450000"/>
          <a:ext cx="4000000" cy="3300000"/>
        </p:xfrm>
        <a:graphic>
          <a:graphicData uri="http://schemas.openxmlformats.org/drawingml/2006/table">
            <a:tbl>
              <a:tblPr firstRow="1" bandRow="1"/>
              <a:tblGrid>
                <a:gridCol w="2080000"/>
                <a:gridCol w="480000"/>
                <a:gridCol w="480000"/>
                <a:gridCol w="480000"/>
                <a:gridCol w="480000"/>
              </a:tblGrid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Doc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Ent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Prop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Bre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F10 Onboarding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F11 Formación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F12 Desempeño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11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F13 Carrera y sucesión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9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F14 Renta y beneficios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22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F15 Nómina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F16 Clima y retención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F17 Desvinculación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  <a:tr h="300">
                <a:tc>
                  <a:txBody>
                    <a:bodyPr/>
                    <a:lstStyle/>
                    <a:p>
                      <a:pPr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·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dirty="0">
                          <a:solidFill>
                            <a:schemeClr val="tx2"/>
                          </a:solidFill>
                        </a:rPr>
                        <a:t>14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8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FD7D7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850000"/>
            <a:ext cx="8352928" cy="8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La madurez es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heterogénea por fase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: la selección y la formación están respaldadas en procedimientos vigentes, mientras que la valoración de cargos, los beneficios y el clima se sostienen en propuestas por validar.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Doc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documentado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Ent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entrevista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Prop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propuesto · </a:t>
            </a:r>
            <a:r>
              <a:rPr lang="es-CL" sz="115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Bre</a:t>
            </a:r>
            <a:r>
              <a:rPr lang="es-CL" sz="1150" dirty="0">
                <a:solidFill>
                  <a:prstClr val="black">
                    <a:lumMod val="65000"/>
                    <a:lumOff val="35000"/>
                  </a:prstClr>
                </a:solidFill>
              </a:rPr>
              <a:t> brecha.</a:t>
            </a:r>
            <a:endParaRPr lang="es-CL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Brechas de levantamiento declaradas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00000"/>
            <a:ext cx="8352928" cy="5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250" dirty="0">
                <a:solidFill>
                  <a:schemeClr val="tx2"/>
                </a:solidFill>
              </a:rPr>
              <a:t>12 brechas sobre 234 pasos, equivalentes al 5,1 %. </a:t>
            </a:r>
            <a:r>
              <a:rPr lang="es-CL" sz="1250" b="1" dirty="0">
                <a:solidFill>
                  <a:schemeClr val="tx2"/>
                </a:solidFill>
              </a:rPr>
              <a:t>10 de las 12 se concentran en el cierre del ciclo de vida del trabajador.</a:t>
            </a:r>
            <a:endParaRPr lang="es-CL" sz="125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2900000"/>
          <a:ext cx="8352928" cy="2300000"/>
        </p:xfrm>
        <a:graphic>
          <a:graphicData uri="http://schemas.openxmlformats.org/drawingml/2006/table">
            <a:tbl>
              <a:tblPr firstRow="1" bandRow="1"/>
              <a:tblGrid>
                <a:gridCol w="1900000"/>
                <a:gridCol w="500000"/>
                <a:gridCol w="2600000"/>
                <a:gridCol w="33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N.º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Códigos APQC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Rol con quien se cierra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F15 Administración de nómina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7.5.4 · 7.7.6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Remuneraciones · especialista en tecnología de compensaciones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66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F17 Desvinculación y salida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8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7.6.2 · 7.6.2.1 · 7.6.2.2 · 7.6.2.3 · 7.6.2.4 · 7.6.3 · 7.6.3.1 · 7.7.3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Generalista de Personas y relaciones laborales · prevención de riesgos y tecnología · Gerencia de Personas</a:t>
                      </a:r>
                    </a:p>
                  </a:txBody>
                  <a:tcPr marL="45720" marR="45720" marT="27432" marB="27432" anchor="ctr"/>
                </a:tc>
              </a:tr>
              <a:tr h="62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F18 Datos y gobernanza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7.7.2 · 7.7.9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Por definir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8 CuadroTexto"/>
          <p:cNvSpPr txBox="1"/>
          <p:nvPr/>
        </p:nvSpPr>
        <p:spPr>
          <a:xfrm>
            <a:off x="323528" y="5300000"/>
            <a:ext cx="8352928" cy="10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Una brecha </a:t>
            </a:r>
            <a:r>
              <a:rPr lang="es-CL" sz="1250" b="1" dirty="0">
                <a:solidFill>
                  <a:schemeClr val="tx2"/>
                </a:solidFill>
              </a:rPr>
              <a:t>no significa que la compañía no ejecute la actividad</a:t>
            </a:r>
            <a:r>
              <a:rPr lang="es-CL" sz="1250" dirty="0">
                <a:solidFill>
                  <a:schemeClr val="tx2"/>
                </a:solidFill>
              </a:rPr>
              <a:t>, sino que todavía no está descrito cómo la ejecuta.</a:t>
            </a:r>
            <a:endParaRPr lang="es-CL" sz="1250"/>
          </a:p>
          <a:p>
            <a:pPr marL="228600" indent="-228600">
              <a:spcBef>
                <a:spcPts val="300"/>
              </a:spcBef>
              <a:buFont typeface="Wingdings" pitchFamily="2" charset="2"/>
              <a:buChar char="q"/>
            </a:pPr>
            <a:r>
              <a:rPr lang="es-CL" sz="1250" dirty="0">
                <a:solidFill>
                  <a:schemeClr val="tx2"/>
                </a:solidFill>
              </a:rPr>
              <a:t>En </a:t>
            </a:r>
            <a:r>
              <a:rPr lang="es-CL" sz="1250" b="1" dirty="0">
                <a:solidFill>
                  <a:schemeClr val="tx2"/>
                </a:solidFill>
              </a:rPr>
              <a:t>8 de las 12</a:t>
            </a:r>
            <a:r>
              <a:rPr lang="es-CL" sz="1250" dirty="0">
                <a:solidFill>
                  <a:schemeClr val="tx2"/>
                </a:solidFill>
              </a:rPr>
              <a:t> el APQC PCF no desciende a un nivel accionable: el marco de referencia </a:t>
            </a:r>
            <a:r>
              <a:rPr lang="es-CL" sz="1250" b="1" dirty="0">
                <a:solidFill>
                  <a:schemeClr val="tx2"/>
                </a:solidFill>
              </a:rPr>
              <a:t>no sustituye</a:t>
            </a:r>
            <a:r>
              <a:rPr lang="es-CL" sz="1250" dirty="0">
                <a:solidFill>
                  <a:schemeClr val="tx2"/>
                </a:solidFill>
              </a:rPr>
              <a:t> el levantamiento en terreno.</a:t>
            </a:r>
            <a:endParaRPr lang="es-CL" sz="12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Resultados · Hallazgos y estado de los indicadores</a:t>
            </a:r>
            <a:endParaRPr lang="es-CL" sz="20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450000"/>
            <a:ext cx="8352928" cy="21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Hallazgos del contraste entre fuentes</a:t>
            </a:r>
            <a:endParaRPr lang="es-CL" sz="1400"/>
          </a:p>
          <a:p>
            <a:pPr marL="228600" indent="-228600"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36 pasos que la organización ejecuta habitualmente no constan en ningún procedimiento vigente</a:t>
            </a:r>
            <a:r>
              <a:rPr lang="es-CL" sz="1200" dirty="0">
                <a:solidFill>
                  <a:schemeClr val="tx2"/>
                </a:solidFill>
              </a:rPr>
              <a:t>, entre ellos la priorización de necesidades de dotación, la coordinación del examen preocupacional, la validación de la propuesta de renta y la facilitación de los comités de calibración. Incorporarlos es un aporte directo del trabajo.</a:t>
            </a:r>
            <a:endParaRPr lang="es-CL" sz="1200"/>
          </a:p>
          <a:p>
            <a:pPr marL="228600" indent="-228600">
              <a:spcBef>
                <a:spcPts val="350"/>
              </a:spcBef>
              <a:buFont typeface="Wingdings" pitchFamily="2" charset="2"/>
              <a:buChar char="q"/>
            </a:pPr>
            <a:r>
              <a:rPr lang="es-CL" sz="1200" b="1" dirty="0">
                <a:solidFill>
                  <a:schemeClr val="tx2"/>
                </a:solidFill>
              </a:rPr>
              <a:t>Tensión detectada en gestión del desempeño:</a:t>
            </a:r>
            <a:r>
              <a:rPr lang="es-CL" sz="1200" dirty="0">
                <a:solidFill>
                  <a:schemeClr val="tx2"/>
                </a:solidFill>
              </a:rPr>
              <a:t> el procedimiento sitúa la fijación de objetivos en los primeros meses del año y el registro de entrevista distribuye el ciclo por rol a lo largo del año. Debe resolverse con el dueño de proceso antes de consolidar el manual.</a:t>
            </a:r>
            <a:endParaRPr lang="es-CL" sz="1200"/>
          </a:p>
        </p:txBody>
      </p:sp>
      <p:graphicFrame>
        <p:nvGraphicFramePr>
          <p:cNvPr id="20" name="Tabla 20"/>
          <p:cNvGraphicFramePr>
            <a:graphicFrameLocks noGrp="1"/>
          </p:cNvGraphicFramePr>
          <p:nvPr/>
        </p:nvGraphicFramePr>
        <p:xfrm>
          <a:off x="323528" y="4700000"/>
          <a:ext cx="8352928" cy="1400000"/>
        </p:xfrm>
        <a:graphic>
          <a:graphicData uri="http://schemas.openxmlformats.org/drawingml/2006/table">
            <a:tbl>
              <a:tblPr firstRow="1" bandRow="1"/>
              <a:tblGrid>
                <a:gridCol w="3000000"/>
                <a:gridCol w="2600000"/>
                <a:gridCol w="1500000"/>
                <a:gridCol w="1252928"/>
              </a:tblGrid>
              <a:tr h="380"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Medición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Qué mide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MP8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950" b="1" dirty="0">
                          <a:solidFill>
                            <a:srgbClr val="FFFFFF"/>
                          </a:solidFill>
                        </a:rPr>
                        <a:t>Meta</a:t>
                      </a:r>
                    </a:p>
                  </a:txBody>
                  <a:tcPr marL="45720" marR="45720" marT="27432" marB="27432" anchor="ctr">
                    <a:solidFill>
                      <a:srgbClr val="1F497D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Cobertura de trazabilidad del flujo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Pasos con respaldo en documento, entrevista o PCF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222 de 234 · 94,9 %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>
                    <a:solidFill>
                      <a:srgbClr val="F2F2F2"/>
                    </a:solidFill>
                  </a:tcPr>
                </a:tc>
              </a:tr>
              <a:tr h="500">
                <a:tc>
                  <a:txBody>
                    <a:bodyPr/>
                    <a:lstStyle/>
                    <a:p>
                      <a:pPr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CAP · cobertura de arquitectura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Elementos documentados en los cinco niveles del MGO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dirty="0">
                          <a:solidFill>
                            <a:schemeClr val="tx2"/>
                          </a:solidFill>
                        </a:rPr>
                        <a:t>0 %</a:t>
                      </a:r>
                    </a:p>
                  </a:txBody>
                  <a:tcPr marL="45720" marR="45720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dirty="0">
                          <a:solidFill>
                            <a:schemeClr val="tx2"/>
                          </a:solidFill>
                        </a:rPr>
                        <a:t>100 %</a:t>
                      </a:r>
                    </a:p>
                  </a:txBody>
                  <a:tcPr marL="45720" marR="45720" marT="27432" marB="27432" anchor="ctr"/>
                </a:tc>
              </a:tr>
            </a:tbl>
          </a:graphicData>
        </a:graphic>
      </p:graphicFrame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El CAP en 0 % no expresa ausencia de avance: mide la segmentación jerárquica, que es la etapa siguiente.</a:t>
            </a:r>
            <a:endParaRPr lang="es-CL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5675867" y="340990"/>
            <a:ext cx="2337602" cy="25210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0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Sistema de gestión de riesgos MP8 y MP21</a:t>
            </a:r>
            <a:endParaRPr lang="es-CL" sz="1000"/>
          </a:p>
        </p:txBody>
      </p:sp>
      <p:sp>
        <p:nvSpPr>
          <p:cNvPr id="4" name="3 CuadroTexto"/>
          <p:cNvSpPr txBox="1"/>
          <p:nvPr/>
        </p:nvSpPr>
        <p:spPr>
          <a:xfrm>
            <a:off x="5740803" y="1034218"/>
            <a:ext cx="2207735" cy="221341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| </a:t>
            </a:r>
            <a:r>
              <a:rPr lang="es-CL" sz="900" b="1" dirty="0">
                <a:solidFill>
                  <a:srgbClr val="1F497D">
                    <a:lumMod val="75000"/>
                  </a:srgbClr>
                </a:solidFill>
              </a:rPr>
              <a:t>Estudiante: </a:t>
            </a:r>
            <a:r>
              <a:rPr lang="es-CL" sz="900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r>
              <a:rPr lang="es-CL" sz="900" dirty="0">
                <a:solidFill>
                  <a:prstClr val="white">
                    <a:lumMod val="50000"/>
                  </a:prstClr>
                </a:solidFill>
              </a:rPr>
              <a:t> |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805865" y="1538381"/>
            <a:ext cx="7077739" cy="852256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r>
              <a:rPr lang="es-CL" sz="22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Próximos pasos</a:t>
            </a:r>
            <a:endParaRPr lang="es-CL" sz="2200"/>
          </a:p>
        </p:txBody>
      </p:sp>
      <p:sp>
        <p:nvSpPr>
          <p:cNvPr id="8" name="7 CuadroTexto"/>
          <p:cNvSpPr txBox="1"/>
          <p:nvPr/>
        </p:nvSpPr>
        <p:spPr>
          <a:xfrm>
            <a:off x="323528" y="2500000"/>
            <a:ext cx="8352928" cy="330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pPr marL="228600" indent="-228600"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y 7 · Segmentación jerárquica de MP8.</a:t>
            </a:r>
            <a:r>
              <a:rPr lang="es-CL" sz="1300" dirty="0">
                <a:solidFill>
                  <a:schemeClr val="tx2"/>
                </a:solidFill>
              </a:rPr>
              <a:t> Derivar del flujo levantado los cinco niveles del MGO, con lo que comienza a medirse el CAP.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6 a 11 · Levantamiento de MP21.</a:t>
            </a:r>
            <a:r>
              <a:rPr lang="es-CL" sz="1300" dirty="0">
                <a:solidFill>
                  <a:schemeClr val="tx2"/>
                </a:solidFill>
              </a:rPr>
              <a:t> Aplicar la misma secuencia y la misma regla de trazabilidad, para permitir la comparación entre ambos macroprocesos.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En paralelo · Cierre de las 12 brechas.</a:t>
            </a:r>
            <a:r>
              <a:rPr lang="es-CL" sz="1300" dirty="0">
                <a:solidFill>
                  <a:schemeClr val="tx2"/>
                </a:solidFill>
              </a:rPr>
              <a:t> Reuniones con los roles ya identificados en nómina, desvinculación y gobernanza de datos.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Semanas 11 a 13 · Manuales y acta de validación.</a:t>
            </a:r>
            <a:r>
              <a:rPr lang="es-CL" sz="1300" dirty="0">
                <a:solidFill>
                  <a:schemeClr val="tx2"/>
                </a:solidFill>
              </a:rPr>
              <a:t> Consolidación de los dos manuales bajo el formato del MGO y validación formal con los dueños de proceso.</a:t>
            </a:r>
            <a:endParaRPr lang="es-CL" sz="1300"/>
          </a:p>
          <a:p>
            <a:pPr marL="228600" indent="-228600">
              <a:spcBef>
                <a:spcPts val="450"/>
              </a:spcBef>
              <a:buFont typeface="Wingdings" pitchFamily="2" charset="2"/>
              <a:buChar char="q"/>
            </a:pPr>
            <a:r>
              <a:rPr lang="es-CL" sz="1300" b="1" dirty="0">
                <a:solidFill>
                  <a:schemeClr val="tx2"/>
                </a:solidFill>
              </a:rPr>
              <a:t>Desde la semana 12 · Inicio de OE2.</a:t>
            </a:r>
            <a:r>
              <a:rPr lang="es-CL" sz="1300" dirty="0">
                <a:solidFill>
                  <a:schemeClr val="tx2"/>
                </a:solidFill>
              </a:rPr>
              <a:t> Identificación de eventos de riesgo por tarea, en talleres con los dueños de proceso.</a:t>
            </a:r>
            <a:endParaRPr lang="es-CL" sz="1300"/>
          </a:p>
        </p:txBody>
      </p:sp>
      <p:sp>
        <p:nvSpPr>
          <p:cNvPr id="11" name="10 CuadroTexto"/>
          <p:cNvSpPr txBox="1"/>
          <p:nvPr/>
        </p:nvSpPr>
        <p:spPr>
          <a:xfrm>
            <a:off x="323528" y="6200000"/>
            <a:ext cx="8352928" cy="450000"/>
          </a:xfrm>
          <a:prstGeom prst="rect">
            <a:avLst/>
          </a:prstGeom>
          <a:noFill/>
        </p:spPr>
        <p:txBody>
          <a:bodyPr wrap="square" lIns="91396" tIns="45697" rIns="91396" bIns="45697" rtlCol="0">
            <a:spAutoFit/>
          </a:bodyPr>
          <a:lstStyle/>
          <a:p>
            <a:r>
              <a:rPr lang="es-CL" sz="1000" i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Segundo hito de avance: semana 13.</a:t>
            </a:r>
            <a:endParaRPr lang="es-CL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500000" y="2900000"/>
            <a:ext cx="6144000" cy="9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2800" b="1" dirty="0">
                <a:solidFill>
                  <a:prstClr val="black">
                    <a:lumMod val="65000"/>
                    <a:lumOff val="35000"/>
                  </a:prstClr>
                </a:solidFill>
              </a:rPr>
              <a:t>Gracias por su atención</a:t>
            </a:r>
            <a:endParaRPr lang="es-CL" sz="2800"/>
          </a:p>
        </p:txBody>
      </p:sp>
      <p:sp>
        <p:nvSpPr>
          <p:cNvPr id="3" name="2 CuadroTexto"/>
          <p:cNvSpPr txBox="1"/>
          <p:nvPr/>
        </p:nvSpPr>
        <p:spPr>
          <a:xfrm>
            <a:off x="1500000" y="4000000"/>
            <a:ext cx="6144000" cy="1200000"/>
          </a:xfrm>
          <a:prstGeom prst="rect">
            <a:avLst/>
          </a:prstGeom>
          <a:noFill/>
        </p:spPr>
        <p:txBody>
          <a:bodyPr wrap="square" lIns="82014" tIns="45697" rIns="82014" bIns="45697" rtlCol="0">
            <a:spAutoFit/>
          </a:bodyPr>
          <a:lstStyle/>
          <a:p>
            <a:pPr algn="ctr"/>
            <a:r>
              <a:rPr lang="es-CL" sz="1400" b="1" dirty="0">
                <a:solidFill>
                  <a:srgbClr val="1F497D">
                    <a:lumMod val="75000"/>
                  </a:srgbClr>
                </a:solidFill>
              </a:rPr>
              <a:t>Bastián Darwit Vera</a:t>
            </a:r>
            <a:endParaRPr lang="es-CL" sz="14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Magíster en Sistemas de Gestión Integral de la Calidad · Universidad de La Frontera</a:t>
            </a:r>
            <a:endParaRPr lang="es-CL" sz="1200"/>
          </a:p>
          <a:p>
            <a:pPr algn="ctr"/>
            <a:r>
              <a:rPr lang="es-CL" sz="1200" dirty="0">
                <a:solidFill>
                  <a:srgbClr val="1F497D">
                    <a:lumMod val="75000"/>
                  </a:srgbClr>
                </a:solidFill>
              </a:rPr>
              <a:t>Temuco, 12 de septiembre de 2026</a:t>
            </a:r>
            <a:endParaRPr lang="es-CL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1 · Trabajo Final de Grado</dc:title>
  <dc:creator>Bastián Darwit Vera</dc:creator>
  <cp:lastModifiedBy>Bastián Darwit Vera</cp:lastModifiedBy>
  <cp:revision>7</cp:revision>
  <cp:lastPrinted>2017-06-14T16:22:49Z</cp:lastPrinted>
  <dcterms:created xsi:type="dcterms:W3CDTF">2016-09-10T16:04:57Z</dcterms:created>
  <dcterms:modified xsi:type="dcterms:W3CDTF">2017-08-09T21:55:14Z</dcterms:modified>
</cp:coreProperties>
</file>