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 id="2147483682" r:id="rId3"/>
  </p:sldMasterIdLst>
  <p:notesMasterIdLst>
    <p:notesMasterId r:id="rId12"/>
  </p:notesMasterIdLst>
  <p:sldIdLst>
    <p:sldId id="256" r:id="rId501"/>
    <p:sldId id="257" r:id="rId502"/>
    <p:sldId id="258" r:id="rId503"/>
    <p:sldId id="259" r:id="rId504"/>
    <p:sldId id="260" r:id="rId505"/>
    <p:sldId id="261" r:id="rId506"/>
    <p:sldId id="262" r:id="rId507"/>
    <p:sldId id="263" r:id="rId508"/>
    <p:sldId id="264" r:id="rId509"/>
    <p:sldId id="265" r:id="rId510"/>
    <p:sldId id="266" r:id="rId511"/>
    <p:sldId id="267" r:id="rId512"/>
    <p:sldId id="268" r:id="rId513"/>
    <p:sldId id="269" r:id="rId514"/>
  </p:sldIdLst>
  <p:sldSz cx="9144000" cy="6858000" type="screen4x3"/>
  <p:notesSz cx="6858000" cy="9144000"/>
  <p:defaultTextStyle>
    <a:defPPr>
      <a:defRPr lang="es-CL"/>
    </a:defPPr>
    <a:lvl1pPr marL="0" algn="l" defTabSz="913961" rtl="0" eaLnBrk="1" latinLnBrk="0" hangingPunct="1">
      <a:defRPr sz="1800" kern="1200">
        <a:solidFill>
          <a:schemeClr val="tx1"/>
        </a:solidFill>
        <a:latin typeface="+mn-lt"/>
        <a:ea typeface="+mn-ea"/>
        <a:cs typeface="+mn-cs"/>
      </a:defRPr>
    </a:lvl1pPr>
    <a:lvl2pPr marL="456980" algn="l" defTabSz="913961" rtl="0" eaLnBrk="1" latinLnBrk="0" hangingPunct="1">
      <a:defRPr sz="1800" kern="1200">
        <a:solidFill>
          <a:schemeClr val="tx1"/>
        </a:solidFill>
        <a:latin typeface="+mn-lt"/>
        <a:ea typeface="+mn-ea"/>
        <a:cs typeface="+mn-cs"/>
      </a:defRPr>
    </a:lvl2pPr>
    <a:lvl3pPr marL="913961" algn="l" defTabSz="913961" rtl="0" eaLnBrk="1" latinLnBrk="0" hangingPunct="1">
      <a:defRPr sz="1800" kern="1200">
        <a:solidFill>
          <a:schemeClr val="tx1"/>
        </a:solidFill>
        <a:latin typeface="+mn-lt"/>
        <a:ea typeface="+mn-ea"/>
        <a:cs typeface="+mn-cs"/>
      </a:defRPr>
    </a:lvl3pPr>
    <a:lvl4pPr marL="1370940" algn="l" defTabSz="913961" rtl="0" eaLnBrk="1" latinLnBrk="0" hangingPunct="1">
      <a:defRPr sz="1800" kern="1200">
        <a:solidFill>
          <a:schemeClr val="tx1"/>
        </a:solidFill>
        <a:latin typeface="+mn-lt"/>
        <a:ea typeface="+mn-ea"/>
        <a:cs typeface="+mn-cs"/>
      </a:defRPr>
    </a:lvl4pPr>
    <a:lvl5pPr marL="1827921" algn="l" defTabSz="913961" rtl="0" eaLnBrk="1" latinLnBrk="0" hangingPunct="1">
      <a:defRPr sz="1800" kern="1200">
        <a:solidFill>
          <a:schemeClr val="tx1"/>
        </a:solidFill>
        <a:latin typeface="+mn-lt"/>
        <a:ea typeface="+mn-ea"/>
        <a:cs typeface="+mn-cs"/>
      </a:defRPr>
    </a:lvl5pPr>
    <a:lvl6pPr marL="2284899" algn="l" defTabSz="913961" rtl="0" eaLnBrk="1" latinLnBrk="0" hangingPunct="1">
      <a:defRPr sz="1800" kern="1200">
        <a:solidFill>
          <a:schemeClr val="tx1"/>
        </a:solidFill>
        <a:latin typeface="+mn-lt"/>
        <a:ea typeface="+mn-ea"/>
        <a:cs typeface="+mn-cs"/>
      </a:defRPr>
    </a:lvl6pPr>
    <a:lvl7pPr marL="2741882" algn="l" defTabSz="913961" rtl="0" eaLnBrk="1" latinLnBrk="0" hangingPunct="1">
      <a:defRPr sz="1800" kern="1200">
        <a:solidFill>
          <a:schemeClr val="tx1"/>
        </a:solidFill>
        <a:latin typeface="+mn-lt"/>
        <a:ea typeface="+mn-ea"/>
        <a:cs typeface="+mn-cs"/>
      </a:defRPr>
    </a:lvl7pPr>
    <a:lvl8pPr marL="3198861" algn="l" defTabSz="913961" rtl="0" eaLnBrk="1" latinLnBrk="0" hangingPunct="1">
      <a:defRPr sz="1800" kern="1200">
        <a:solidFill>
          <a:schemeClr val="tx1"/>
        </a:solidFill>
        <a:latin typeface="+mn-lt"/>
        <a:ea typeface="+mn-ea"/>
        <a:cs typeface="+mn-cs"/>
      </a:defRPr>
    </a:lvl8pPr>
    <a:lvl9pPr marL="3655840" algn="l" defTabSz="913961"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4" d="100"/>
          <a:sy n="114" d="100"/>
        </p:scale>
        <p:origin x="-147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15" Type="http://schemas.openxmlformats.org/officeDocument/2006/relationships/theme" Target="theme/theme1.xml"/><Relationship Id="rId14" Type="http://schemas.openxmlformats.org/officeDocument/2006/relationships/viewProps" Target="viewProps.xml"/><Relationship Id="rId501" Type="http://schemas.openxmlformats.org/officeDocument/2006/relationships/slide" Target="slides/slide1.xml"/><Relationship Id="rId502" Type="http://schemas.openxmlformats.org/officeDocument/2006/relationships/slide" Target="slides/slide2.xml"/><Relationship Id="rId503" Type="http://schemas.openxmlformats.org/officeDocument/2006/relationships/slide" Target="slides/slide3.xml"/><Relationship Id="rId504" Type="http://schemas.openxmlformats.org/officeDocument/2006/relationships/slide" Target="slides/slide4.xml"/><Relationship Id="rId505" Type="http://schemas.openxmlformats.org/officeDocument/2006/relationships/slide" Target="slides/slide5.xml"/><Relationship Id="rId506" Type="http://schemas.openxmlformats.org/officeDocument/2006/relationships/slide" Target="slides/slide6.xml"/><Relationship Id="rId507" Type="http://schemas.openxmlformats.org/officeDocument/2006/relationships/slide" Target="slides/slide7.xml"/><Relationship Id="rId508" Type="http://schemas.openxmlformats.org/officeDocument/2006/relationships/slide" Target="slides/slide8.xml"/><Relationship Id="rId509" Type="http://schemas.openxmlformats.org/officeDocument/2006/relationships/slide" Target="slides/slide9.xml"/><Relationship Id="rId510" Type="http://schemas.openxmlformats.org/officeDocument/2006/relationships/slide" Target="slides/slide10.xml"/><Relationship Id="rId511" Type="http://schemas.openxmlformats.org/officeDocument/2006/relationships/slide" Target="slides/slide11.xml"/><Relationship Id="rId512" Type="http://schemas.openxmlformats.org/officeDocument/2006/relationships/slide" Target="slides/slide12.xml"/><Relationship Id="rId513" Type="http://schemas.openxmlformats.org/officeDocument/2006/relationships/slide" Target="slides/slide13.xml"/><Relationship Id="rId51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114A46-6E62-43DB-BF60-607EEC7479EF}" type="datetimeFigureOut">
              <a:rPr lang="es-CL" smtClean="0"/>
              <a:t>09-08-2017</a:t>
            </a:fld>
            <a:endParaRPr lang="es-C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L"/>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83DA489-9F24-40B1-A85B-D6DE9635E61E}" type="slidenum">
              <a:rPr lang="es-CL" smtClean="0"/>
              <a:t>‹Nº›</a:t>
            </a:fld>
            <a:endParaRPr lang="es-CL"/>
          </a:p>
        </p:txBody>
      </p:sp>
    </p:spTree>
    <p:extLst>
      <p:ext uri="{BB962C8B-B14F-4D97-AF65-F5344CB8AC3E}">
        <p14:creationId xmlns:p14="http://schemas.microsoft.com/office/powerpoint/2010/main" val="3789452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7"/>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053" indent="0" algn="ctr">
              <a:buNone/>
              <a:defRPr>
                <a:solidFill>
                  <a:schemeClr val="tx1">
                    <a:tint val="75000"/>
                  </a:schemeClr>
                </a:solidFill>
              </a:defRPr>
            </a:lvl2pPr>
            <a:lvl3pPr marL="914107" indent="0" algn="ctr">
              <a:buNone/>
              <a:defRPr>
                <a:solidFill>
                  <a:schemeClr val="tx1">
                    <a:tint val="75000"/>
                  </a:schemeClr>
                </a:solidFill>
              </a:defRPr>
            </a:lvl3pPr>
            <a:lvl4pPr marL="1371160" indent="0" algn="ctr">
              <a:buNone/>
              <a:defRPr>
                <a:solidFill>
                  <a:schemeClr val="tx1">
                    <a:tint val="75000"/>
                  </a:schemeClr>
                </a:solidFill>
              </a:defRPr>
            </a:lvl4pPr>
            <a:lvl5pPr marL="1828214" indent="0" algn="ctr">
              <a:buNone/>
              <a:defRPr>
                <a:solidFill>
                  <a:schemeClr val="tx1">
                    <a:tint val="75000"/>
                  </a:schemeClr>
                </a:solidFill>
              </a:defRPr>
            </a:lvl5pPr>
            <a:lvl6pPr marL="2285266" indent="0" algn="ctr">
              <a:buNone/>
              <a:defRPr>
                <a:solidFill>
                  <a:schemeClr val="tx1">
                    <a:tint val="75000"/>
                  </a:schemeClr>
                </a:solidFill>
              </a:defRPr>
            </a:lvl6pPr>
            <a:lvl7pPr marL="2742321" indent="0" algn="ctr">
              <a:buNone/>
              <a:defRPr>
                <a:solidFill>
                  <a:schemeClr val="tx1">
                    <a:tint val="75000"/>
                  </a:schemeClr>
                </a:solidFill>
              </a:defRPr>
            </a:lvl7pPr>
            <a:lvl8pPr marL="3199374" indent="0" algn="ctr">
              <a:buNone/>
              <a:defRPr>
                <a:solidFill>
                  <a:schemeClr val="tx1">
                    <a:tint val="75000"/>
                  </a:schemeClr>
                </a:solidFill>
              </a:defRPr>
            </a:lvl8pPr>
            <a:lvl9pPr marL="3656426" indent="0" algn="ctr">
              <a:buNone/>
              <a:defRPr>
                <a:solidFill>
                  <a:schemeClr val="tx1">
                    <a:tint val="75000"/>
                  </a:schemeClr>
                </a:solidFill>
              </a:defRPr>
            </a:lvl9pPr>
          </a:lstStyle>
          <a:p>
            <a:r>
              <a:rPr lang="es-ES" smtClean="0"/>
              <a:t>Haga clic para modificar el estilo de subtítulo del patrón</a:t>
            </a:r>
            <a:endParaRPr lang="es-CL"/>
          </a:p>
        </p:txBody>
      </p:sp>
      <p:sp>
        <p:nvSpPr>
          <p:cNvPr id="4" name="3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3731545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2744369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1"/>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053" indent="0">
              <a:buNone/>
              <a:defRPr sz="1800">
                <a:solidFill>
                  <a:schemeClr val="tx1">
                    <a:tint val="75000"/>
                  </a:schemeClr>
                </a:solidFill>
              </a:defRPr>
            </a:lvl2pPr>
            <a:lvl3pPr marL="914107" indent="0">
              <a:buNone/>
              <a:defRPr sz="1600">
                <a:solidFill>
                  <a:schemeClr val="tx1">
                    <a:tint val="75000"/>
                  </a:schemeClr>
                </a:solidFill>
              </a:defRPr>
            </a:lvl3pPr>
            <a:lvl4pPr marL="1371160" indent="0">
              <a:buNone/>
              <a:defRPr sz="1400">
                <a:solidFill>
                  <a:schemeClr val="tx1">
                    <a:tint val="75000"/>
                  </a:schemeClr>
                </a:solidFill>
              </a:defRPr>
            </a:lvl4pPr>
            <a:lvl5pPr marL="1828214" indent="0">
              <a:buNone/>
              <a:defRPr sz="1400">
                <a:solidFill>
                  <a:schemeClr val="tx1">
                    <a:tint val="75000"/>
                  </a:schemeClr>
                </a:solidFill>
              </a:defRPr>
            </a:lvl5pPr>
            <a:lvl6pPr marL="2285266" indent="0">
              <a:buNone/>
              <a:defRPr sz="1400">
                <a:solidFill>
                  <a:schemeClr val="tx1">
                    <a:tint val="75000"/>
                  </a:schemeClr>
                </a:solidFill>
              </a:defRPr>
            </a:lvl6pPr>
            <a:lvl7pPr marL="2742321" indent="0">
              <a:buNone/>
              <a:defRPr sz="1400">
                <a:solidFill>
                  <a:schemeClr val="tx1">
                    <a:tint val="75000"/>
                  </a:schemeClr>
                </a:solidFill>
              </a:defRPr>
            </a:lvl7pPr>
            <a:lvl8pPr marL="3199374" indent="0">
              <a:buNone/>
              <a:defRPr sz="1400">
                <a:solidFill>
                  <a:schemeClr val="tx1">
                    <a:tint val="75000"/>
                  </a:schemeClr>
                </a:solidFill>
              </a:defRPr>
            </a:lvl8pPr>
            <a:lvl9pPr marL="3656426"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3090800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202"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9254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053" indent="0">
              <a:buNone/>
              <a:defRPr sz="2000" b="1"/>
            </a:lvl2pPr>
            <a:lvl3pPr marL="914107" indent="0">
              <a:buNone/>
              <a:defRPr sz="1800" b="1"/>
            </a:lvl3pPr>
            <a:lvl4pPr marL="1371160" indent="0">
              <a:buNone/>
              <a:defRPr sz="1600" b="1"/>
            </a:lvl4pPr>
            <a:lvl5pPr marL="1828214" indent="0">
              <a:buNone/>
              <a:defRPr sz="1600" b="1"/>
            </a:lvl5pPr>
            <a:lvl6pPr marL="2285266" indent="0">
              <a:buNone/>
              <a:defRPr sz="1600" b="1"/>
            </a:lvl6pPr>
            <a:lvl7pPr marL="2742321" indent="0">
              <a:buNone/>
              <a:defRPr sz="1600" b="1"/>
            </a:lvl7pPr>
            <a:lvl8pPr marL="3199374" indent="0">
              <a:buNone/>
              <a:defRPr sz="1600" b="1"/>
            </a:lvl8pPr>
            <a:lvl9pPr marL="3656426"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6" y="1535113"/>
            <a:ext cx="4041775" cy="639762"/>
          </a:xfrm>
        </p:spPr>
        <p:txBody>
          <a:bodyPr anchor="b"/>
          <a:lstStyle>
            <a:lvl1pPr marL="0" indent="0">
              <a:buNone/>
              <a:defRPr sz="2400" b="1"/>
            </a:lvl1pPr>
            <a:lvl2pPr marL="457053" indent="0">
              <a:buNone/>
              <a:defRPr sz="2000" b="1"/>
            </a:lvl2pPr>
            <a:lvl3pPr marL="914107" indent="0">
              <a:buNone/>
              <a:defRPr sz="1800" b="1"/>
            </a:lvl3pPr>
            <a:lvl4pPr marL="1371160" indent="0">
              <a:buNone/>
              <a:defRPr sz="1600" b="1"/>
            </a:lvl4pPr>
            <a:lvl5pPr marL="1828214" indent="0">
              <a:buNone/>
              <a:defRPr sz="1600" b="1"/>
            </a:lvl5pPr>
            <a:lvl6pPr marL="2285266" indent="0">
              <a:buNone/>
              <a:defRPr sz="1600" b="1"/>
            </a:lvl6pPr>
            <a:lvl7pPr marL="2742321" indent="0">
              <a:buNone/>
              <a:defRPr sz="1600" b="1"/>
            </a:lvl7pPr>
            <a:lvl8pPr marL="3199374" indent="0">
              <a:buNone/>
              <a:defRPr sz="1600" b="1"/>
            </a:lvl8pPr>
            <a:lvl9pPr marL="3656426"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CL">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3883234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CL">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pic>
        <p:nvPicPr>
          <p:cNvPr id="6" name="5 Imagen" descr="ACADÉMICA 1.jpg"/>
          <p:cNvPicPr>
            <a:picLocks noChangeAspect="1"/>
          </p:cNvPicPr>
          <p:nvPr userDrawn="1"/>
        </p:nvPicPr>
        <p:blipFill>
          <a:blip r:embed="rId2" cstate="print"/>
          <a:stretch>
            <a:fillRect/>
          </a:stretch>
        </p:blipFill>
        <p:spPr>
          <a:xfrm>
            <a:off x="14087" y="0"/>
            <a:ext cx="9115826" cy="6858000"/>
          </a:xfrm>
          <a:prstGeom prst="rect">
            <a:avLst/>
          </a:prstGeom>
        </p:spPr>
      </p:pic>
    </p:spTree>
    <p:extLst>
      <p:ext uri="{BB962C8B-B14F-4D97-AF65-F5344CB8AC3E}">
        <p14:creationId xmlns:p14="http://schemas.microsoft.com/office/powerpoint/2010/main" val="148164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CL">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33517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2" y="273051"/>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2"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2" y="1435102"/>
            <a:ext cx="3008313" cy="4691063"/>
          </a:xfrm>
        </p:spPr>
        <p:txBody>
          <a:bodyPr/>
          <a:lstStyle>
            <a:lvl1pPr marL="0" indent="0">
              <a:buNone/>
              <a:defRPr sz="1400"/>
            </a:lvl1pPr>
            <a:lvl2pPr marL="457053" indent="0">
              <a:buNone/>
              <a:defRPr sz="1200"/>
            </a:lvl2pPr>
            <a:lvl3pPr marL="914107" indent="0">
              <a:buNone/>
              <a:defRPr sz="1000"/>
            </a:lvl3pPr>
            <a:lvl4pPr marL="1371160" indent="0">
              <a:buNone/>
              <a:defRPr sz="900"/>
            </a:lvl4pPr>
            <a:lvl5pPr marL="1828214" indent="0">
              <a:buNone/>
              <a:defRPr sz="900"/>
            </a:lvl5pPr>
            <a:lvl6pPr marL="2285266" indent="0">
              <a:buNone/>
              <a:defRPr sz="900"/>
            </a:lvl6pPr>
            <a:lvl7pPr marL="2742321" indent="0">
              <a:buNone/>
              <a:defRPr sz="900"/>
            </a:lvl7pPr>
            <a:lvl8pPr marL="3199374" indent="0">
              <a:buNone/>
              <a:defRPr sz="900"/>
            </a:lvl8pPr>
            <a:lvl9pPr marL="3656426"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589473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053" indent="0">
              <a:buNone/>
              <a:defRPr sz="2800"/>
            </a:lvl2pPr>
            <a:lvl3pPr marL="914107" indent="0">
              <a:buNone/>
              <a:defRPr sz="2400"/>
            </a:lvl3pPr>
            <a:lvl4pPr marL="1371160" indent="0">
              <a:buNone/>
              <a:defRPr sz="2000"/>
            </a:lvl4pPr>
            <a:lvl5pPr marL="1828214" indent="0">
              <a:buNone/>
              <a:defRPr sz="2000"/>
            </a:lvl5pPr>
            <a:lvl6pPr marL="2285266" indent="0">
              <a:buNone/>
              <a:defRPr sz="2000"/>
            </a:lvl6pPr>
            <a:lvl7pPr marL="2742321" indent="0">
              <a:buNone/>
              <a:defRPr sz="2000"/>
            </a:lvl7pPr>
            <a:lvl8pPr marL="3199374" indent="0">
              <a:buNone/>
              <a:defRPr sz="2000"/>
            </a:lvl8pPr>
            <a:lvl9pPr marL="3656426" indent="0">
              <a:buNone/>
              <a:defRPr sz="2000"/>
            </a:lvl9pPr>
          </a:lstStyle>
          <a:p>
            <a:endParaRPr lang="es-CL"/>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053" indent="0">
              <a:buNone/>
              <a:defRPr sz="1200"/>
            </a:lvl2pPr>
            <a:lvl3pPr marL="914107" indent="0">
              <a:buNone/>
              <a:defRPr sz="1000"/>
            </a:lvl3pPr>
            <a:lvl4pPr marL="1371160" indent="0">
              <a:buNone/>
              <a:defRPr sz="900"/>
            </a:lvl4pPr>
            <a:lvl5pPr marL="1828214" indent="0">
              <a:buNone/>
              <a:defRPr sz="900"/>
            </a:lvl5pPr>
            <a:lvl6pPr marL="2285266" indent="0">
              <a:buNone/>
              <a:defRPr sz="900"/>
            </a:lvl6pPr>
            <a:lvl7pPr marL="2742321" indent="0">
              <a:buNone/>
              <a:defRPr sz="900"/>
            </a:lvl7pPr>
            <a:lvl8pPr marL="3199374" indent="0">
              <a:buNone/>
              <a:defRPr sz="900"/>
            </a:lvl8pPr>
            <a:lvl9pPr marL="3656426"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09A6D5B-B4A4-483F-9CD3-3E3D1DF6D3BC}"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D0C98D3C-C1FD-49F7-AE1B-30D0118F83EB}"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2315409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404" y="2130085"/>
            <a:ext cx="7773193" cy="1470472"/>
          </a:xfrm>
        </p:spPr>
        <p:txBody>
          <a:bodyPr/>
          <a:lstStyle/>
          <a:p>
            <a:r>
              <a:rPr lang="es-ES" dirty="0" smtClean="0"/>
              <a:t>Haga clic para modificar el estilo de título del patrón</a:t>
            </a:r>
            <a:endParaRPr lang="es-CL" dirty="0"/>
          </a:p>
        </p:txBody>
      </p:sp>
      <p:sp>
        <p:nvSpPr>
          <p:cNvPr id="3" name="2 Subtítulo"/>
          <p:cNvSpPr>
            <a:spLocks noGrp="1"/>
          </p:cNvSpPr>
          <p:nvPr>
            <p:ph type="subTitle" idx="1"/>
          </p:nvPr>
        </p:nvSpPr>
        <p:spPr>
          <a:xfrm>
            <a:off x="1372250" y="3886248"/>
            <a:ext cx="6399501" cy="1751961"/>
          </a:xfrm>
        </p:spPr>
        <p:txBody>
          <a:bodyPr/>
          <a:lstStyle>
            <a:lvl1pPr marL="0" indent="0" algn="ctr">
              <a:buNone/>
              <a:defRPr>
                <a:solidFill>
                  <a:schemeClr val="tx1">
                    <a:tint val="75000"/>
                  </a:schemeClr>
                </a:solidFill>
              </a:defRPr>
            </a:lvl1pPr>
            <a:lvl2pPr marL="410134" indent="0" algn="ctr">
              <a:buNone/>
              <a:defRPr>
                <a:solidFill>
                  <a:schemeClr val="tx1">
                    <a:tint val="75000"/>
                  </a:schemeClr>
                </a:solidFill>
              </a:defRPr>
            </a:lvl2pPr>
            <a:lvl3pPr marL="820269" indent="0" algn="ctr">
              <a:buNone/>
              <a:defRPr>
                <a:solidFill>
                  <a:schemeClr val="tx1">
                    <a:tint val="75000"/>
                  </a:schemeClr>
                </a:solidFill>
              </a:defRPr>
            </a:lvl3pPr>
            <a:lvl4pPr marL="1230403" indent="0" algn="ctr">
              <a:buNone/>
              <a:defRPr>
                <a:solidFill>
                  <a:schemeClr val="tx1">
                    <a:tint val="75000"/>
                  </a:schemeClr>
                </a:solidFill>
              </a:defRPr>
            </a:lvl4pPr>
            <a:lvl5pPr marL="1640536" indent="0" algn="ctr">
              <a:buNone/>
              <a:defRPr>
                <a:solidFill>
                  <a:schemeClr val="tx1">
                    <a:tint val="75000"/>
                  </a:schemeClr>
                </a:solidFill>
              </a:defRPr>
            </a:lvl5pPr>
            <a:lvl6pPr marL="2050670" indent="0" algn="ctr">
              <a:buNone/>
              <a:defRPr>
                <a:solidFill>
                  <a:schemeClr val="tx1">
                    <a:tint val="75000"/>
                  </a:schemeClr>
                </a:solidFill>
              </a:defRPr>
            </a:lvl6pPr>
            <a:lvl7pPr marL="2460804" indent="0" algn="ctr">
              <a:buNone/>
              <a:defRPr>
                <a:solidFill>
                  <a:schemeClr val="tx1">
                    <a:tint val="75000"/>
                  </a:schemeClr>
                </a:solidFill>
              </a:defRPr>
            </a:lvl7pPr>
            <a:lvl8pPr marL="2870939" indent="0" algn="ctr">
              <a:buNone/>
              <a:defRPr>
                <a:solidFill>
                  <a:schemeClr val="tx1">
                    <a:tint val="75000"/>
                  </a:schemeClr>
                </a:solidFill>
              </a:defRPr>
            </a:lvl8pPr>
            <a:lvl9pPr marL="3281073" indent="0" algn="ctr">
              <a:buNone/>
              <a:defRPr>
                <a:solidFill>
                  <a:schemeClr val="tx1">
                    <a:tint val="75000"/>
                  </a:schemeClr>
                </a:solidFill>
              </a:defRPr>
            </a:lvl9pPr>
          </a:lstStyle>
          <a:p>
            <a:r>
              <a:rPr lang="es-ES" dirty="0" smtClean="0"/>
              <a:t>Haga clic para modificar el estilo de subtítulo del patrón</a:t>
            </a:r>
            <a:endParaRPr lang="es-CL" dirty="0"/>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26875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193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921" y="4407215"/>
            <a:ext cx="7771750" cy="1361237"/>
          </a:xfrm>
        </p:spPr>
        <p:txBody>
          <a:bodyPr anchor="t"/>
          <a:lstStyle>
            <a:lvl1pPr algn="l">
              <a:defRPr sz="36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921" y="2907333"/>
            <a:ext cx="7771750" cy="1499881"/>
          </a:xfrm>
        </p:spPr>
        <p:txBody>
          <a:bodyPr anchor="b"/>
          <a:lstStyle>
            <a:lvl1pPr marL="0" indent="0">
              <a:buNone/>
              <a:defRPr sz="1800">
                <a:solidFill>
                  <a:schemeClr val="tx1">
                    <a:tint val="75000"/>
                  </a:schemeClr>
                </a:solidFill>
              </a:defRPr>
            </a:lvl1pPr>
            <a:lvl2pPr marL="410134" indent="0">
              <a:buNone/>
              <a:defRPr sz="1600">
                <a:solidFill>
                  <a:schemeClr val="tx1">
                    <a:tint val="75000"/>
                  </a:schemeClr>
                </a:solidFill>
              </a:defRPr>
            </a:lvl2pPr>
            <a:lvl3pPr marL="820269" indent="0">
              <a:buNone/>
              <a:defRPr sz="1400">
                <a:solidFill>
                  <a:schemeClr val="tx1">
                    <a:tint val="75000"/>
                  </a:schemeClr>
                </a:solidFill>
              </a:defRPr>
            </a:lvl3pPr>
            <a:lvl4pPr marL="1230403" indent="0">
              <a:buNone/>
              <a:defRPr sz="1300">
                <a:solidFill>
                  <a:schemeClr val="tx1">
                    <a:tint val="75000"/>
                  </a:schemeClr>
                </a:solidFill>
              </a:defRPr>
            </a:lvl4pPr>
            <a:lvl5pPr marL="1640536" indent="0">
              <a:buNone/>
              <a:defRPr sz="1300">
                <a:solidFill>
                  <a:schemeClr val="tx1">
                    <a:tint val="75000"/>
                  </a:schemeClr>
                </a:solidFill>
              </a:defRPr>
            </a:lvl5pPr>
            <a:lvl6pPr marL="2050670" indent="0">
              <a:buNone/>
              <a:defRPr sz="1300">
                <a:solidFill>
                  <a:schemeClr val="tx1">
                    <a:tint val="75000"/>
                  </a:schemeClr>
                </a:solidFill>
              </a:defRPr>
            </a:lvl6pPr>
            <a:lvl7pPr marL="2460804" indent="0">
              <a:buNone/>
              <a:defRPr sz="1300">
                <a:solidFill>
                  <a:schemeClr val="tx1">
                    <a:tint val="75000"/>
                  </a:schemeClr>
                </a:solidFill>
              </a:defRPr>
            </a:lvl7pPr>
            <a:lvl8pPr marL="2870939" indent="0">
              <a:buNone/>
              <a:defRPr sz="1300">
                <a:solidFill>
                  <a:schemeClr val="tx1">
                    <a:tint val="75000"/>
                  </a:schemeClr>
                </a:solidFill>
              </a:defRPr>
            </a:lvl8pPr>
            <a:lvl9pPr marL="3281073" indent="0">
              <a:buNone/>
              <a:defRPr sz="13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971258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417" y="1600715"/>
            <a:ext cx="4044600" cy="4524851"/>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0540" y="1600715"/>
            <a:ext cx="4046043" cy="4524851"/>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27828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418" y="1534892"/>
            <a:ext cx="4040271" cy="640006"/>
          </a:xfrm>
        </p:spPr>
        <p:txBody>
          <a:bodyPr anchor="b"/>
          <a:lstStyle>
            <a:lvl1pPr marL="0" indent="0">
              <a:buNone/>
              <a:defRPr sz="2200" b="1"/>
            </a:lvl1pPr>
            <a:lvl2pPr marL="410134" indent="0">
              <a:buNone/>
              <a:defRPr sz="1800" b="1"/>
            </a:lvl2pPr>
            <a:lvl3pPr marL="820269" indent="0">
              <a:buNone/>
              <a:defRPr sz="1600" b="1"/>
            </a:lvl3pPr>
            <a:lvl4pPr marL="1230403" indent="0">
              <a:buNone/>
              <a:defRPr sz="1400" b="1"/>
            </a:lvl4pPr>
            <a:lvl5pPr marL="1640536" indent="0">
              <a:buNone/>
              <a:defRPr sz="1400" b="1"/>
            </a:lvl5pPr>
            <a:lvl6pPr marL="2050670" indent="0">
              <a:buNone/>
              <a:defRPr sz="1400" b="1"/>
            </a:lvl6pPr>
            <a:lvl7pPr marL="2460804" indent="0">
              <a:buNone/>
              <a:defRPr sz="1400" b="1"/>
            </a:lvl7pPr>
            <a:lvl8pPr marL="2870939" indent="0">
              <a:buNone/>
              <a:defRPr sz="1400" b="1"/>
            </a:lvl8pPr>
            <a:lvl9pPr marL="3281073" indent="0">
              <a:buNone/>
              <a:defRPr sz="14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418" y="2174899"/>
            <a:ext cx="4040271" cy="3950667"/>
          </a:xfrm>
        </p:spPr>
        <p:txBody>
          <a:bodyPr/>
          <a:lstStyle>
            <a:lvl1pPr>
              <a:defRPr sz="22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4871" y="1534892"/>
            <a:ext cx="4041714" cy="640006"/>
          </a:xfrm>
        </p:spPr>
        <p:txBody>
          <a:bodyPr anchor="b"/>
          <a:lstStyle>
            <a:lvl1pPr marL="0" indent="0">
              <a:buNone/>
              <a:defRPr sz="2200" b="1"/>
            </a:lvl1pPr>
            <a:lvl2pPr marL="410134" indent="0">
              <a:buNone/>
              <a:defRPr sz="1800" b="1"/>
            </a:lvl2pPr>
            <a:lvl3pPr marL="820269" indent="0">
              <a:buNone/>
              <a:defRPr sz="1600" b="1"/>
            </a:lvl3pPr>
            <a:lvl4pPr marL="1230403" indent="0">
              <a:buNone/>
              <a:defRPr sz="1400" b="1"/>
            </a:lvl4pPr>
            <a:lvl5pPr marL="1640536" indent="0">
              <a:buNone/>
              <a:defRPr sz="1400" b="1"/>
            </a:lvl5pPr>
            <a:lvl6pPr marL="2050670" indent="0">
              <a:buNone/>
              <a:defRPr sz="1400" b="1"/>
            </a:lvl6pPr>
            <a:lvl7pPr marL="2460804" indent="0">
              <a:buNone/>
              <a:defRPr sz="1400" b="1"/>
            </a:lvl7pPr>
            <a:lvl8pPr marL="2870939" indent="0">
              <a:buNone/>
              <a:defRPr sz="1400" b="1"/>
            </a:lvl8pPr>
            <a:lvl9pPr marL="3281073" indent="0">
              <a:buNone/>
              <a:defRPr sz="14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4871" y="2174899"/>
            <a:ext cx="4041714" cy="3950667"/>
          </a:xfrm>
        </p:spPr>
        <p:txBody>
          <a:bodyPr/>
          <a:lstStyle>
            <a:lvl1pPr>
              <a:defRPr sz="22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CL">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2675173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CL">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4170191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CL">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252037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418" y="273089"/>
            <a:ext cx="3008559" cy="1162373"/>
          </a:xfrm>
        </p:spPr>
        <p:txBody>
          <a:bodyPr anchor="b"/>
          <a:lstStyle>
            <a:lvl1pPr algn="l">
              <a:defRPr sz="18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642" y="273089"/>
            <a:ext cx="5110943" cy="5852477"/>
          </a:xfrm>
        </p:spPr>
        <p:txBody>
          <a:bodyPr/>
          <a:lstStyle>
            <a:lvl1pPr>
              <a:defRPr sz="2900"/>
            </a:lvl1pPr>
            <a:lvl2pPr>
              <a:defRPr sz="2500"/>
            </a:lvl2pPr>
            <a:lvl3pPr>
              <a:defRPr sz="22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418" y="1435461"/>
            <a:ext cx="3008559" cy="4690104"/>
          </a:xfrm>
        </p:spPr>
        <p:txBody>
          <a:bodyPr/>
          <a:lstStyle>
            <a:lvl1pPr marL="0" indent="0">
              <a:buNone/>
              <a:defRPr sz="1300"/>
            </a:lvl1pPr>
            <a:lvl2pPr marL="410134" indent="0">
              <a:buNone/>
              <a:defRPr sz="1100"/>
            </a:lvl2pPr>
            <a:lvl3pPr marL="820269" indent="0">
              <a:buNone/>
              <a:defRPr sz="900"/>
            </a:lvl3pPr>
            <a:lvl4pPr marL="1230403" indent="0">
              <a:buNone/>
              <a:defRPr sz="800"/>
            </a:lvl4pPr>
            <a:lvl5pPr marL="1640536" indent="0">
              <a:buNone/>
              <a:defRPr sz="800"/>
            </a:lvl5pPr>
            <a:lvl6pPr marL="2050670" indent="0">
              <a:buNone/>
              <a:defRPr sz="800"/>
            </a:lvl6pPr>
            <a:lvl7pPr marL="2460804" indent="0">
              <a:buNone/>
              <a:defRPr sz="800"/>
            </a:lvl7pPr>
            <a:lvl8pPr marL="2870939" indent="0">
              <a:buNone/>
              <a:defRPr sz="800"/>
            </a:lvl8pPr>
            <a:lvl9pPr marL="3281073" indent="0">
              <a:buNone/>
              <a:defRPr sz="8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851223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150" y="4800740"/>
            <a:ext cx="5486111" cy="567182"/>
          </a:xfrm>
        </p:spPr>
        <p:txBody>
          <a:bodyPr anchor="b"/>
          <a:lstStyle>
            <a:lvl1pPr algn="l">
              <a:defRPr sz="18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150" y="613398"/>
            <a:ext cx="5486111" cy="4114520"/>
          </a:xfrm>
        </p:spPr>
        <p:txBody>
          <a:bodyPr/>
          <a:lstStyle>
            <a:lvl1pPr marL="0" indent="0">
              <a:buNone/>
              <a:defRPr sz="2900"/>
            </a:lvl1pPr>
            <a:lvl2pPr marL="410134" indent="0">
              <a:buNone/>
              <a:defRPr sz="2500"/>
            </a:lvl2pPr>
            <a:lvl3pPr marL="820269" indent="0">
              <a:buNone/>
              <a:defRPr sz="2200"/>
            </a:lvl3pPr>
            <a:lvl4pPr marL="1230403" indent="0">
              <a:buNone/>
              <a:defRPr sz="1800"/>
            </a:lvl4pPr>
            <a:lvl5pPr marL="1640536" indent="0">
              <a:buNone/>
              <a:defRPr sz="1800"/>
            </a:lvl5pPr>
            <a:lvl6pPr marL="2050670" indent="0">
              <a:buNone/>
              <a:defRPr sz="1800"/>
            </a:lvl6pPr>
            <a:lvl7pPr marL="2460804" indent="0">
              <a:buNone/>
              <a:defRPr sz="1800"/>
            </a:lvl7pPr>
            <a:lvl8pPr marL="2870939" indent="0">
              <a:buNone/>
              <a:defRPr sz="1800"/>
            </a:lvl8pPr>
            <a:lvl9pPr marL="3281073" indent="0">
              <a:buNone/>
              <a:defRPr sz="1800"/>
            </a:lvl9pPr>
          </a:lstStyle>
          <a:p>
            <a:endParaRPr lang="es-CL"/>
          </a:p>
        </p:txBody>
      </p:sp>
      <p:sp>
        <p:nvSpPr>
          <p:cNvPr id="4" name="3 Marcador de texto"/>
          <p:cNvSpPr>
            <a:spLocks noGrp="1"/>
          </p:cNvSpPr>
          <p:nvPr>
            <p:ph type="body" sz="half" idx="2"/>
          </p:nvPr>
        </p:nvSpPr>
        <p:spPr>
          <a:xfrm>
            <a:off x="1792150" y="5367922"/>
            <a:ext cx="5486111" cy="803858"/>
          </a:xfrm>
        </p:spPr>
        <p:txBody>
          <a:bodyPr/>
          <a:lstStyle>
            <a:lvl1pPr marL="0" indent="0">
              <a:buNone/>
              <a:defRPr sz="1300"/>
            </a:lvl1pPr>
            <a:lvl2pPr marL="410134" indent="0">
              <a:buNone/>
              <a:defRPr sz="1100"/>
            </a:lvl2pPr>
            <a:lvl3pPr marL="820269" indent="0">
              <a:buNone/>
              <a:defRPr sz="900"/>
            </a:lvl3pPr>
            <a:lvl4pPr marL="1230403" indent="0">
              <a:buNone/>
              <a:defRPr sz="800"/>
            </a:lvl4pPr>
            <a:lvl5pPr marL="1640536" indent="0">
              <a:buNone/>
              <a:defRPr sz="800"/>
            </a:lvl5pPr>
            <a:lvl6pPr marL="2050670" indent="0">
              <a:buNone/>
              <a:defRPr sz="800"/>
            </a:lvl6pPr>
            <a:lvl7pPr marL="2460804" indent="0">
              <a:buNone/>
              <a:defRPr sz="800"/>
            </a:lvl7pPr>
            <a:lvl8pPr marL="2870939" indent="0">
              <a:buNone/>
              <a:defRPr sz="800"/>
            </a:lvl8pPr>
            <a:lvl9pPr marL="3281073" indent="0">
              <a:buNone/>
              <a:defRPr sz="8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555124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98496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30376" y="274489"/>
            <a:ext cx="2056209" cy="5851077"/>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417" y="274489"/>
            <a:ext cx="6034434" cy="585107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9670648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404" y="2130084"/>
            <a:ext cx="7773193" cy="1470472"/>
          </a:xfrm>
        </p:spPr>
        <p:txBody>
          <a:bodyPr/>
          <a:lstStyle/>
          <a:p>
            <a:r>
              <a:rPr lang="es-ES" dirty="0" smtClean="0"/>
              <a:t>Haga clic para modificar el estilo de título del patrón</a:t>
            </a:r>
            <a:endParaRPr lang="es-CL" dirty="0"/>
          </a:p>
        </p:txBody>
      </p:sp>
      <p:sp>
        <p:nvSpPr>
          <p:cNvPr id="3" name="2 Subtítulo"/>
          <p:cNvSpPr>
            <a:spLocks noGrp="1"/>
          </p:cNvSpPr>
          <p:nvPr>
            <p:ph type="subTitle" idx="1"/>
          </p:nvPr>
        </p:nvSpPr>
        <p:spPr>
          <a:xfrm>
            <a:off x="1372250" y="3886247"/>
            <a:ext cx="6399501" cy="1751961"/>
          </a:xfrm>
        </p:spPr>
        <p:txBody>
          <a:bodyPr/>
          <a:lstStyle>
            <a:lvl1pPr marL="0" indent="0" algn="ctr">
              <a:buNone/>
              <a:defRPr>
                <a:solidFill>
                  <a:schemeClr val="tx1">
                    <a:tint val="75000"/>
                  </a:schemeClr>
                </a:solidFill>
              </a:defRPr>
            </a:lvl1pPr>
            <a:lvl2pPr marL="410200" indent="0" algn="ctr">
              <a:buNone/>
              <a:defRPr>
                <a:solidFill>
                  <a:schemeClr val="tx1">
                    <a:tint val="75000"/>
                  </a:schemeClr>
                </a:solidFill>
              </a:defRPr>
            </a:lvl2pPr>
            <a:lvl3pPr marL="820400" indent="0" algn="ctr">
              <a:buNone/>
              <a:defRPr>
                <a:solidFill>
                  <a:schemeClr val="tx1">
                    <a:tint val="75000"/>
                  </a:schemeClr>
                </a:solidFill>
              </a:defRPr>
            </a:lvl3pPr>
            <a:lvl4pPr marL="1230600" indent="0" algn="ctr">
              <a:buNone/>
              <a:defRPr>
                <a:solidFill>
                  <a:schemeClr val="tx1">
                    <a:tint val="75000"/>
                  </a:schemeClr>
                </a:solidFill>
              </a:defRPr>
            </a:lvl4pPr>
            <a:lvl5pPr marL="1640799" indent="0" algn="ctr">
              <a:buNone/>
              <a:defRPr>
                <a:solidFill>
                  <a:schemeClr val="tx1">
                    <a:tint val="75000"/>
                  </a:schemeClr>
                </a:solidFill>
              </a:defRPr>
            </a:lvl5pPr>
            <a:lvl6pPr marL="2050999" indent="0" algn="ctr">
              <a:buNone/>
              <a:defRPr>
                <a:solidFill>
                  <a:schemeClr val="tx1">
                    <a:tint val="75000"/>
                  </a:schemeClr>
                </a:solidFill>
              </a:defRPr>
            </a:lvl6pPr>
            <a:lvl7pPr marL="2461199" indent="0" algn="ctr">
              <a:buNone/>
              <a:defRPr>
                <a:solidFill>
                  <a:schemeClr val="tx1">
                    <a:tint val="75000"/>
                  </a:schemeClr>
                </a:solidFill>
              </a:defRPr>
            </a:lvl7pPr>
            <a:lvl8pPr marL="2871399" indent="0" algn="ctr">
              <a:buNone/>
              <a:defRPr>
                <a:solidFill>
                  <a:schemeClr val="tx1">
                    <a:tint val="75000"/>
                  </a:schemeClr>
                </a:solidFill>
              </a:defRPr>
            </a:lvl8pPr>
            <a:lvl9pPr marL="3281599" indent="0" algn="ctr">
              <a:buNone/>
              <a:defRPr>
                <a:solidFill>
                  <a:schemeClr val="tx1">
                    <a:tint val="75000"/>
                  </a:schemeClr>
                </a:solidFill>
              </a:defRPr>
            </a:lvl9pPr>
          </a:lstStyle>
          <a:p>
            <a:r>
              <a:rPr lang="es-ES" dirty="0" smtClean="0"/>
              <a:t>Haga clic para modificar el estilo de subtítulo del patrón</a:t>
            </a:r>
            <a:endParaRPr lang="es-CL" dirty="0"/>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794676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24076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921" y="4407214"/>
            <a:ext cx="7771750" cy="1361237"/>
          </a:xfrm>
        </p:spPr>
        <p:txBody>
          <a:bodyPr anchor="t"/>
          <a:lstStyle>
            <a:lvl1pPr algn="l">
              <a:defRPr sz="36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921" y="2907333"/>
            <a:ext cx="7771750" cy="1499881"/>
          </a:xfrm>
        </p:spPr>
        <p:txBody>
          <a:bodyPr anchor="b"/>
          <a:lstStyle>
            <a:lvl1pPr marL="0" indent="0">
              <a:buNone/>
              <a:defRPr sz="1800">
                <a:solidFill>
                  <a:schemeClr val="tx1">
                    <a:tint val="75000"/>
                  </a:schemeClr>
                </a:solidFill>
              </a:defRPr>
            </a:lvl1pPr>
            <a:lvl2pPr marL="410200" indent="0">
              <a:buNone/>
              <a:defRPr sz="1600">
                <a:solidFill>
                  <a:schemeClr val="tx1">
                    <a:tint val="75000"/>
                  </a:schemeClr>
                </a:solidFill>
              </a:defRPr>
            </a:lvl2pPr>
            <a:lvl3pPr marL="820400" indent="0">
              <a:buNone/>
              <a:defRPr sz="1400">
                <a:solidFill>
                  <a:schemeClr val="tx1">
                    <a:tint val="75000"/>
                  </a:schemeClr>
                </a:solidFill>
              </a:defRPr>
            </a:lvl3pPr>
            <a:lvl4pPr marL="1230600" indent="0">
              <a:buNone/>
              <a:defRPr sz="1300">
                <a:solidFill>
                  <a:schemeClr val="tx1">
                    <a:tint val="75000"/>
                  </a:schemeClr>
                </a:solidFill>
              </a:defRPr>
            </a:lvl4pPr>
            <a:lvl5pPr marL="1640799" indent="0">
              <a:buNone/>
              <a:defRPr sz="1300">
                <a:solidFill>
                  <a:schemeClr val="tx1">
                    <a:tint val="75000"/>
                  </a:schemeClr>
                </a:solidFill>
              </a:defRPr>
            </a:lvl5pPr>
            <a:lvl6pPr marL="2050999" indent="0">
              <a:buNone/>
              <a:defRPr sz="1300">
                <a:solidFill>
                  <a:schemeClr val="tx1">
                    <a:tint val="75000"/>
                  </a:schemeClr>
                </a:solidFill>
              </a:defRPr>
            </a:lvl6pPr>
            <a:lvl7pPr marL="2461199" indent="0">
              <a:buNone/>
              <a:defRPr sz="1300">
                <a:solidFill>
                  <a:schemeClr val="tx1">
                    <a:tint val="75000"/>
                  </a:schemeClr>
                </a:solidFill>
              </a:defRPr>
            </a:lvl7pPr>
            <a:lvl8pPr marL="2871399" indent="0">
              <a:buNone/>
              <a:defRPr sz="1300">
                <a:solidFill>
                  <a:schemeClr val="tx1">
                    <a:tint val="75000"/>
                  </a:schemeClr>
                </a:solidFill>
              </a:defRPr>
            </a:lvl8pPr>
            <a:lvl9pPr marL="3281599" indent="0">
              <a:buNone/>
              <a:defRPr sz="13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26973793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417" y="1600714"/>
            <a:ext cx="4044600" cy="4524851"/>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0540" y="1600714"/>
            <a:ext cx="4046043" cy="4524851"/>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7364600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417" y="1534892"/>
            <a:ext cx="4040271" cy="640006"/>
          </a:xfrm>
        </p:spPr>
        <p:txBody>
          <a:bodyPr anchor="b"/>
          <a:lstStyle>
            <a:lvl1pPr marL="0" indent="0">
              <a:buNone/>
              <a:defRPr sz="2200" b="1"/>
            </a:lvl1pPr>
            <a:lvl2pPr marL="410200" indent="0">
              <a:buNone/>
              <a:defRPr sz="1800" b="1"/>
            </a:lvl2pPr>
            <a:lvl3pPr marL="820400" indent="0">
              <a:buNone/>
              <a:defRPr sz="1600" b="1"/>
            </a:lvl3pPr>
            <a:lvl4pPr marL="1230600" indent="0">
              <a:buNone/>
              <a:defRPr sz="1400" b="1"/>
            </a:lvl4pPr>
            <a:lvl5pPr marL="1640799" indent="0">
              <a:buNone/>
              <a:defRPr sz="1400" b="1"/>
            </a:lvl5pPr>
            <a:lvl6pPr marL="2050999" indent="0">
              <a:buNone/>
              <a:defRPr sz="1400" b="1"/>
            </a:lvl6pPr>
            <a:lvl7pPr marL="2461199" indent="0">
              <a:buNone/>
              <a:defRPr sz="1400" b="1"/>
            </a:lvl7pPr>
            <a:lvl8pPr marL="2871399" indent="0">
              <a:buNone/>
              <a:defRPr sz="1400" b="1"/>
            </a:lvl8pPr>
            <a:lvl9pPr marL="3281599" indent="0">
              <a:buNone/>
              <a:defRPr sz="14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417" y="2174898"/>
            <a:ext cx="4040271" cy="3950667"/>
          </a:xfrm>
        </p:spPr>
        <p:txBody>
          <a:bodyPr/>
          <a:lstStyle>
            <a:lvl1pPr>
              <a:defRPr sz="22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4870" y="1534892"/>
            <a:ext cx="4041714" cy="640006"/>
          </a:xfrm>
        </p:spPr>
        <p:txBody>
          <a:bodyPr anchor="b"/>
          <a:lstStyle>
            <a:lvl1pPr marL="0" indent="0">
              <a:buNone/>
              <a:defRPr sz="2200" b="1"/>
            </a:lvl1pPr>
            <a:lvl2pPr marL="410200" indent="0">
              <a:buNone/>
              <a:defRPr sz="1800" b="1"/>
            </a:lvl2pPr>
            <a:lvl3pPr marL="820400" indent="0">
              <a:buNone/>
              <a:defRPr sz="1600" b="1"/>
            </a:lvl3pPr>
            <a:lvl4pPr marL="1230600" indent="0">
              <a:buNone/>
              <a:defRPr sz="1400" b="1"/>
            </a:lvl4pPr>
            <a:lvl5pPr marL="1640799" indent="0">
              <a:buNone/>
              <a:defRPr sz="1400" b="1"/>
            </a:lvl5pPr>
            <a:lvl6pPr marL="2050999" indent="0">
              <a:buNone/>
              <a:defRPr sz="1400" b="1"/>
            </a:lvl6pPr>
            <a:lvl7pPr marL="2461199" indent="0">
              <a:buNone/>
              <a:defRPr sz="1400" b="1"/>
            </a:lvl7pPr>
            <a:lvl8pPr marL="2871399" indent="0">
              <a:buNone/>
              <a:defRPr sz="1400" b="1"/>
            </a:lvl8pPr>
            <a:lvl9pPr marL="3281599" indent="0">
              <a:buNone/>
              <a:defRPr sz="14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4870" y="2174898"/>
            <a:ext cx="4041714" cy="3950667"/>
          </a:xfrm>
        </p:spPr>
        <p:txBody>
          <a:bodyPr/>
          <a:lstStyle>
            <a:lvl1pPr>
              <a:defRPr sz="22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8" name="7 Marcador de pie de página"/>
          <p:cNvSpPr>
            <a:spLocks noGrp="1"/>
          </p:cNvSpPr>
          <p:nvPr>
            <p:ph type="ftr" sz="quarter" idx="11"/>
          </p:nvPr>
        </p:nvSpPr>
        <p:spPr/>
        <p:txBody>
          <a:bodyPr/>
          <a:lstStyle/>
          <a:p>
            <a:endParaRPr lang="es-CL">
              <a:solidFill>
                <a:prstClr val="black">
                  <a:tint val="75000"/>
                </a:prstClr>
              </a:solidFill>
            </a:endParaRPr>
          </a:p>
        </p:txBody>
      </p:sp>
      <p:sp>
        <p:nvSpPr>
          <p:cNvPr id="9" name="8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34997947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4" name="3 Marcador de pie de página"/>
          <p:cNvSpPr>
            <a:spLocks noGrp="1"/>
          </p:cNvSpPr>
          <p:nvPr>
            <p:ph type="ftr" sz="quarter" idx="11"/>
          </p:nvPr>
        </p:nvSpPr>
        <p:spPr/>
        <p:txBody>
          <a:bodyPr/>
          <a:lstStyle/>
          <a:p>
            <a:endParaRPr lang="es-CL">
              <a:solidFill>
                <a:prstClr val="black">
                  <a:tint val="75000"/>
                </a:prstClr>
              </a:solidFill>
            </a:endParaRPr>
          </a:p>
        </p:txBody>
      </p:sp>
      <p:sp>
        <p:nvSpPr>
          <p:cNvPr id="5" name="4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36354421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3" name="2 Marcador de pie de página"/>
          <p:cNvSpPr>
            <a:spLocks noGrp="1"/>
          </p:cNvSpPr>
          <p:nvPr>
            <p:ph type="ftr" sz="quarter" idx="11"/>
          </p:nvPr>
        </p:nvSpPr>
        <p:spPr/>
        <p:txBody>
          <a:bodyPr/>
          <a:lstStyle/>
          <a:p>
            <a:endParaRPr lang="es-CL">
              <a:solidFill>
                <a:prstClr val="black">
                  <a:tint val="75000"/>
                </a:prstClr>
              </a:solidFill>
            </a:endParaRPr>
          </a:p>
        </p:txBody>
      </p:sp>
      <p:sp>
        <p:nvSpPr>
          <p:cNvPr id="4" name="3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40758548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417" y="273088"/>
            <a:ext cx="3008559" cy="1162373"/>
          </a:xfrm>
        </p:spPr>
        <p:txBody>
          <a:bodyPr anchor="b"/>
          <a:lstStyle>
            <a:lvl1pPr algn="l">
              <a:defRPr sz="18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641" y="273088"/>
            <a:ext cx="5110943" cy="5852477"/>
          </a:xfrm>
        </p:spPr>
        <p:txBody>
          <a:bodyPr/>
          <a:lstStyle>
            <a:lvl1pPr>
              <a:defRPr sz="2900"/>
            </a:lvl1pPr>
            <a:lvl2pPr>
              <a:defRPr sz="2500"/>
            </a:lvl2pPr>
            <a:lvl3pPr>
              <a:defRPr sz="22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417" y="1435461"/>
            <a:ext cx="3008559" cy="4690104"/>
          </a:xfrm>
        </p:spPr>
        <p:txBody>
          <a:bodyPr/>
          <a:lstStyle>
            <a:lvl1pPr marL="0" indent="0">
              <a:buNone/>
              <a:defRPr sz="1300"/>
            </a:lvl1pPr>
            <a:lvl2pPr marL="410200" indent="0">
              <a:buNone/>
              <a:defRPr sz="1100"/>
            </a:lvl2pPr>
            <a:lvl3pPr marL="820400" indent="0">
              <a:buNone/>
              <a:defRPr sz="900"/>
            </a:lvl3pPr>
            <a:lvl4pPr marL="1230600" indent="0">
              <a:buNone/>
              <a:defRPr sz="800"/>
            </a:lvl4pPr>
            <a:lvl5pPr marL="1640799" indent="0">
              <a:buNone/>
              <a:defRPr sz="800"/>
            </a:lvl5pPr>
            <a:lvl6pPr marL="2050999" indent="0">
              <a:buNone/>
              <a:defRPr sz="800"/>
            </a:lvl6pPr>
            <a:lvl7pPr marL="2461199" indent="0">
              <a:buNone/>
              <a:defRPr sz="800"/>
            </a:lvl7pPr>
            <a:lvl8pPr marL="2871399" indent="0">
              <a:buNone/>
              <a:defRPr sz="800"/>
            </a:lvl8pPr>
            <a:lvl9pPr marL="3281599" indent="0">
              <a:buNone/>
              <a:defRPr sz="8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7548275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149" y="4800740"/>
            <a:ext cx="5486111" cy="567182"/>
          </a:xfrm>
        </p:spPr>
        <p:txBody>
          <a:bodyPr anchor="b"/>
          <a:lstStyle>
            <a:lvl1pPr algn="l">
              <a:defRPr sz="18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149" y="613397"/>
            <a:ext cx="5486111" cy="4114520"/>
          </a:xfrm>
        </p:spPr>
        <p:txBody>
          <a:bodyPr/>
          <a:lstStyle>
            <a:lvl1pPr marL="0" indent="0">
              <a:buNone/>
              <a:defRPr sz="2900"/>
            </a:lvl1pPr>
            <a:lvl2pPr marL="410200" indent="0">
              <a:buNone/>
              <a:defRPr sz="2500"/>
            </a:lvl2pPr>
            <a:lvl3pPr marL="820400" indent="0">
              <a:buNone/>
              <a:defRPr sz="2200"/>
            </a:lvl3pPr>
            <a:lvl4pPr marL="1230600" indent="0">
              <a:buNone/>
              <a:defRPr sz="1800"/>
            </a:lvl4pPr>
            <a:lvl5pPr marL="1640799" indent="0">
              <a:buNone/>
              <a:defRPr sz="1800"/>
            </a:lvl5pPr>
            <a:lvl6pPr marL="2050999" indent="0">
              <a:buNone/>
              <a:defRPr sz="1800"/>
            </a:lvl6pPr>
            <a:lvl7pPr marL="2461199" indent="0">
              <a:buNone/>
              <a:defRPr sz="1800"/>
            </a:lvl7pPr>
            <a:lvl8pPr marL="2871399" indent="0">
              <a:buNone/>
              <a:defRPr sz="1800"/>
            </a:lvl8pPr>
            <a:lvl9pPr marL="3281599" indent="0">
              <a:buNone/>
              <a:defRPr sz="1800"/>
            </a:lvl9pPr>
          </a:lstStyle>
          <a:p>
            <a:endParaRPr lang="es-CL"/>
          </a:p>
        </p:txBody>
      </p:sp>
      <p:sp>
        <p:nvSpPr>
          <p:cNvPr id="4" name="3 Marcador de texto"/>
          <p:cNvSpPr>
            <a:spLocks noGrp="1"/>
          </p:cNvSpPr>
          <p:nvPr>
            <p:ph type="body" sz="half" idx="2"/>
          </p:nvPr>
        </p:nvSpPr>
        <p:spPr>
          <a:xfrm>
            <a:off x="1792149" y="5367922"/>
            <a:ext cx="5486111" cy="803858"/>
          </a:xfrm>
        </p:spPr>
        <p:txBody>
          <a:bodyPr/>
          <a:lstStyle>
            <a:lvl1pPr marL="0" indent="0">
              <a:buNone/>
              <a:defRPr sz="1300"/>
            </a:lvl1pPr>
            <a:lvl2pPr marL="410200" indent="0">
              <a:buNone/>
              <a:defRPr sz="1100"/>
            </a:lvl2pPr>
            <a:lvl3pPr marL="820400" indent="0">
              <a:buNone/>
              <a:defRPr sz="900"/>
            </a:lvl3pPr>
            <a:lvl4pPr marL="1230600" indent="0">
              <a:buNone/>
              <a:defRPr sz="800"/>
            </a:lvl4pPr>
            <a:lvl5pPr marL="1640799" indent="0">
              <a:buNone/>
              <a:defRPr sz="800"/>
            </a:lvl5pPr>
            <a:lvl6pPr marL="2050999" indent="0">
              <a:buNone/>
              <a:defRPr sz="800"/>
            </a:lvl6pPr>
            <a:lvl7pPr marL="2461199" indent="0">
              <a:buNone/>
              <a:defRPr sz="800"/>
            </a:lvl7pPr>
            <a:lvl8pPr marL="2871399" indent="0">
              <a:buNone/>
              <a:defRPr sz="800"/>
            </a:lvl8pPr>
            <a:lvl9pPr marL="3281599" indent="0">
              <a:buNone/>
              <a:defRPr sz="8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6" name="5 Marcador de pie de página"/>
          <p:cNvSpPr>
            <a:spLocks noGrp="1"/>
          </p:cNvSpPr>
          <p:nvPr>
            <p:ph type="ftr" sz="quarter" idx="11"/>
          </p:nvPr>
        </p:nvSpPr>
        <p:spPr/>
        <p:txBody>
          <a:bodyPr/>
          <a:lstStyle/>
          <a:p>
            <a:endParaRPr lang="es-CL">
              <a:solidFill>
                <a:prstClr val="black">
                  <a:tint val="75000"/>
                </a:prstClr>
              </a:solidFill>
            </a:endParaRPr>
          </a:p>
        </p:txBody>
      </p:sp>
      <p:sp>
        <p:nvSpPr>
          <p:cNvPr id="7" name="6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911883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16964866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30375" y="274488"/>
            <a:ext cx="2056209" cy="5851077"/>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417" y="274488"/>
            <a:ext cx="6034434" cy="585107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97172ED1-F058-4296-9A1C-85EC5A9AEE84}" type="datetimeFigureOut">
              <a:rPr lang="es-CL" smtClean="0">
                <a:solidFill>
                  <a:prstClr val="black">
                    <a:tint val="75000"/>
                  </a:prstClr>
                </a:solidFill>
              </a:rPr>
              <a:pPr/>
              <a:t>09-08-2017</a:t>
            </a:fld>
            <a:endParaRPr lang="es-CL">
              <a:solidFill>
                <a:prstClr val="black">
                  <a:tint val="75000"/>
                </a:prstClr>
              </a:solidFill>
            </a:endParaRPr>
          </a:p>
        </p:txBody>
      </p:sp>
      <p:sp>
        <p:nvSpPr>
          <p:cNvPr id="5" name="4 Marcador de pie de página"/>
          <p:cNvSpPr>
            <a:spLocks noGrp="1"/>
          </p:cNvSpPr>
          <p:nvPr>
            <p:ph type="ftr" sz="quarter" idx="11"/>
          </p:nvPr>
        </p:nvSpPr>
        <p:spPr/>
        <p:txBody>
          <a:bodyPr/>
          <a:lstStyle/>
          <a:p>
            <a:endParaRPr lang="es-CL">
              <a:solidFill>
                <a:prstClr val="black">
                  <a:tint val="75000"/>
                </a:prstClr>
              </a:solidFill>
            </a:endParaRPr>
          </a:p>
        </p:txBody>
      </p:sp>
      <p:sp>
        <p:nvSpPr>
          <p:cNvPr id="6" name="5 Marcador de número de diapositiva"/>
          <p:cNvSpPr>
            <a:spLocks noGrp="1"/>
          </p:cNvSpPr>
          <p:nvPr>
            <p:ph type="sldNum" sz="quarter" idx="12"/>
          </p:nvPr>
        </p:nvSpPr>
        <p:spPr/>
        <p:txBody>
          <a:bodyPr/>
          <a:lstStyle/>
          <a:p>
            <a:fld id="{B07E5F88-547F-4B54-AAD7-10680895DAA5}" type="slidenum">
              <a:rPr lang="es-CL" smtClean="0">
                <a:solidFill>
                  <a:prstClr val="black">
                    <a:tint val="75000"/>
                  </a:prstClr>
                </a:solidFill>
              </a:rPr>
              <a:pPr/>
              <a:t>‹Nº›</a:t>
            </a:fld>
            <a:endParaRPr lang="es-CL">
              <a:solidFill>
                <a:prstClr val="black">
                  <a:tint val="75000"/>
                </a:prstClr>
              </a:solidFill>
            </a:endParaRPr>
          </a:p>
        </p:txBody>
      </p:sp>
    </p:spTree>
    <p:extLst>
      <p:ext uri="{BB962C8B-B14F-4D97-AF65-F5344CB8AC3E}">
        <p14:creationId xmlns:p14="http://schemas.microsoft.com/office/powerpoint/2010/main" val="61746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www.ufro.cl/"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3.jpe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hyperlink" Target="http://www.ufro.cl/" TargetMode="Externa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3.jpe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hyperlink" Target="http://www.ufro.cl/"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2" y="274639"/>
            <a:ext cx="8229600" cy="1143000"/>
          </a:xfrm>
          <a:prstGeom prst="rect">
            <a:avLst/>
          </a:prstGeom>
        </p:spPr>
        <p:txBody>
          <a:bodyPr vert="horz" lIns="91411" tIns="45704" rIns="91411" bIns="45704" rtlCol="0" anchor="ctr">
            <a:normAutofit/>
          </a:bodyPr>
          <a:lstStyle/>
          <a:p>
            <a:r>
              <a:rPr lang="es-ES" dirty="0" smtClean="0"/>
              <a:t>Haga clic para modificar el estilo de título del patrón</a:t>
            </a:r>
            <a:endParaRPr lang="es-CL" dirty="0"/>
          </a:p>
        </p:txBody>
      </p:sp>
      <p:sp>
        <p:nvSpPr>
          <p:cNvPr id="3" name="2 Marcador de texto"/>
          <p:cNvSpPr>
            <a:spLocks noGrp="1"/>
          </p:cNvSpPr>
          <p:nvPr>
            <p:ph type="body" idx="1"/>
          </p:nvPr>
        </p:nvSpPr>
        <p:spPr>
          <a:xfrm>
            <a:off x="457202" y="1600202"/>
            <a:ext cx="8229600" cy="4525963"/>
          </a:xfrm>
          <a:prstGeom prst="rect">
            <a:avLst/>
          </a:prstGeom>
        </p:spPr>
        <p:txBody>
          <a:bodyPr vert="horz" lIns="91411" tIns="45704" rIns="91411" bIns="45704"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200" y="6356352"/>
            <a:ext cx="2133600" cy="365125"/>
          </a:xfrm>
          <a:prstGeom prst="rect">
            <a:avLst/>
          </a:prstGeom>
        </p:spPr>
        <p:txBody>
          <a:bodyPr vert="horz" lIns="91411" tIns="45704" rIns="91411" bIns="45704" rtlCol="0" anchor="ctr"/>
          <a:lstStyle>
            <a:lvl1pPr algn="l">
              <a:defRPr sz="1200">
                <a:solidFill>
                  <a:schemeClr val="tx1">
                    <a:tint val="75000"/>
                  </a:schemeClr>
                </a:solidFill>
              </a:defRPr>
            </a:lvl1pPr>
          </a:lstStyle>
          <a:p>
            <a:pPr defTabSz="914107"/>
            <a:fld id="{109A6D5B-B4A4-483F-9CD3-3E3D1DF6D3BC}" type="datetimeFigureOut">
              <a:rPr lang="es-CL" smtClean="0">
                <a:solidFill>
                  <a:prstClr val="black">
                    <a:tint val="75000"/>
                  </a:prstClr>
                </a:solidFill>
              </a:rPr>
              <a:pPr defTabSz="914107"/>
              <a:t>09-08-2017</a:t>
            </a:fld>
            <a:endParaRPr lang="es-CL">
              <a:solidFill>
                <a:prstClr val="black">
                  <a:tint val="75000"/>
                </a:prstClr>
              </a:solidFill>
            </a:endParaRPr>
          </a:p>
        </p:txBody>
      </p:sp>
      <p:sp>
        <p:nvSpPr>
          <p:cNvPr id="5" name="4 Marcador de pie de página"/>
          <p:cNvSpPr>
            <a:spLocks noGrp="1"/>
          </p:cNvSpPr>
          <p:nvPr>
            <p:ph type="ftr" sz="quarter" idx="3"/>
          </p:nvPr>
        </p:nvSpPr>
        <p:spPr>
          <a:xfrm>
            <a:off x="3124202" y="6356352"/>
            <a:ext cx="2895600" cy="365125"/>
          </a:xfrm>
          <a:prstGeom prst="rect">
            <a:avLst/>
          </a:prstGeom>
        </p:spPr>
        <p:txBody>
          <a:bodyPr vert="horz" lIns="91411" tIns="45704" rIns="91411" bIns="45704" rtlCol="0" anchor="ctr"/>
          <a:lstStyle>
            <a:lvl1pPr algn="ctr">
              <a:defRPr sz="1200">
                <a:solidFill>
                  <a:schemeClr val="tx1">
                    <a:tint val="75000"/>
                  </a:schemeClr>
                </a:solidFill>
              </a:defRPr>
            </a:lvl1pPr>
          </a:lstStyle>
          <a:p>
            <a:pPr defTabSz="914107"/>
            <a:endParaRPr lang="es-CL">
              <a:solidFill>
                <a:prstClr val="black">
                  <a:tint val="75000"/>
                </a:prstClr>
              </a:solidFill>
            </a:endParaRPr>
          </a:p>
        </p:txBody>
      </p:sp>
      <p:sp>
        <p:nvSpPr>
          <p:cNvPr id="6" name="5 Marcador de número de diapositiva"/>
          <p:cNvSpPr>
            <a:spLocks noGrp="1"/>
          </p:cNvSpPr>
          <p:nvPr>
            <p:ph type="sldNum" sz="quarter" idx="4"/>
          </p:nvPr>
        </p:nvSpPr>
        <p:spPr>
          <a:xfrm>
            <a:off x="6553202" y="6356352"/>
            <a:ext cx="2133600" cy="365125"/>
          </a:xfrm>
          <a:prstGeom prst="rect">
            <a:avLst/>
          </a:prstGeom>
        </p:spPr>
        <p:txBody>
          <a:bodyPr vert="horz" lIns="91411" tIns="45704" rIns="91411" bIns="45704" rtlCol="0" anchor="ctr"/>
          <a:lstStyle>
            <a:lvl1pPr algn="r">
              <a:defRPr sz="1200">
                <a:solidFill>
                  <a:schemeClr val="tx1">
                    <a:tint val="75000"/>
                  </a:schemeClr>
                </a:solidFill>
              </a:defRPr>
            </a:lvl1pPr>
          </a:lstStyle>
          <a:p>
            <a:pPr defTabSz="914107"/>
            <a:fld id="{D0C98D3C-C1FD-49F7-AE1B-30D0118F83EB}" type="slidenum">
              <a:rPr lang="es-CL" smtClean="0">
                <a:solidFill>
                  <a:prstClr val="black">
                    <a:tint val="75000"/>
                  </a:prstClr>
                </a:solidFill>
              </a:rPr>
              <a:pPr defTabSz="914107"/>
              <a:t>‹Nº›</a:t>
            </a:fld>
            <a:endParaRPr lang="es-CL">
              <a:solidFill>
                <a:prstClr val="black">
                  <a:tint val="75000"/>
                </a:prstClr>
              </a:solidFill>
            </a:endParaRPr>
          </a:p>
        </p:txBody>
      </p:sp>
      <p:pic>
        <p:nvPicPr>
          <p:cNvPr id="8" name="7 Imagen" descr="ACADÉMICA 1.jpg"/>
          <p:cNvPicPr>
            <a:picLocks noChangeAspect="1"/>
          </p:cNvPicPr>
          <p:nvPr userDrawn="1"/>
        </p:nvPicPr>
        <p:blipFill>
          <a:blip r:embed="rId11" cstate="print"/>
          <a:stretch>
            <a:fillRect/>
          </a:stretch>
        </p:blipFill>
        <p:spPr>
          <a:xfrm>
            <a:off x="14089" y="2"/>
            <a:ext cx="9115825" cy="6857999"/>
          </a:xfrm>
          <a:prstGeom prst="rect">
            <a:avLst/>
          </a:prstGeom>
        </p:spPr>
      </p:pic>
      <p:sp>
        <p:nvSpPr>
          <p:cNvPr id="9" name="8 CuadroTexto">
            <a:hlinkClick r:id="rId12"/>
          </p:cNvPr>
          <p:cNvSpPr txBox="1"/>
          <p:nvPr userDrawn="1"/>
        </p:nvSpPr>
        <p:spPr>
          <a:xfrm>
            <a:off x="4117466" y="2483691"/>
            <a:ext cx="1038934" cy="282884"/>
          </a:xfrm>
          <a:prstGeom prst="rect">
            <a:avLst/>
          </a:prstGeom>
          <a:noFill/>
        </p:spPr>
        <p:txBody>
          <a:bodyPr wrap="square" lIns="82027" tIns="41014" rIns="82027" bIns="41014" rtlCol="0">
            <a:spAutoFit/>
          </a:bodyPr>
          <a:lstStyle/>
          <a:p>
            <a:pPr algn="ctr" defTabSz="914107"/>
            <a:r>
              <a:rPr lang="es-ES" sz="1300" b="1" dirty="0" smtClean="0">
                <a:solidFill>
                  <a:srgbClr val="1F497D">
                    <a:lumMod val="75000"/>
                  </a:srgbClr>
                </a:solidFill>
                <a:cs typeface="Calibri" pitchFamily="34" charset="0"/>
              </a:rPr>
              <a:t>www.ufro.cl</a:t>
            </a:r>
            <a:endParaRPr lang="es-CL" sz="1300" b="1" dirty="0">
              <a:solidFill>
                <a:srgbClr val="1F497D">
                  <a:lumMod val="75000"/>
                </a:srgbClr>
              </a:solidFill>
              <a:cs typeface="Calibri" pitchFamily="34" charset="0"/>
            </a:endParaRPr>
          </a:p>
        </p:txBody>
      </p:sp>
    </p:spTree>
    <p:extLst>
      <p:ext uri="{BB962C8B-B14F-4D97-AF65-F5344CB8AC3E}">
        <p14:creationId xmlns:p14="http://schemas.microsoft.com/office/powerpoint/2010/main" val="14483175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914107" rtl="0" eaLnBrk="1" latinLnBrk="0" hangingPunct="1">
        <a:spcBef>
          <a:spcPct val="0"/>
        </a:spcBef>
        <a:buNone/>
        <a:defRPr sz="4400" kern="1200">
          <a:solidFill>
            <a:schemeClr val="tx1"/>
          </a:solidFill>
          <a:latin typeface="+mj-lt"/>
          <a:ea typeface="+mj-ea"/>
          <a:cs typeface="+mj-cs"/>
        </a:defRPr>
      </a:lvl1pPr>
    </p:titleStyle>
    <p:bodyStyle>
      <a:lvl1pPr marL="342790" indent="-342790" algn="l" defTabSz="91410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711" indent="-285659" algn="l" defTabSz="91410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634" indent="-228527" algn="l" defTabSz="91410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688" indent="-228527" algn="l" defTabSz="91410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6741" indent="-228527" algn="l" defTabSz="91410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3794" indent="-228527" algn="l" defTabSz="91410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847" indent="-228527" algn="l" defTabSz="91410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902" indent="-228527" algn="l" defTabSz="91410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954" indent="-228527" algn="l" defTabSz="91410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L"/>
      </a:defPPr>
      <a:lvl1pPr marL="0" algn="l" defTabSz="914107" rtl="0" eaLnBrk="1" latinLnBrk="0" hangingPunct="1">
        <a:defRPr sz="1800" kern="1200">
          <a:solidFill>
            <a:schemeClr val="tx1"/>
          </a:solidFill>
          <a:latin typeface="+mn-lt"/>
          <a:ea typeface="+mn-ea"/>
          <a:cs typeface="+mn-cs"/>
        </a:defRPr>
      </a:lvl1pPr>
      <a:lvl2pPr marL="457053" algn="l" defTabSz="914107" rtl="0" eaLnBrk="1" latinLnBrk="0" hangingPunct="1">
        <a:defRPr sz="1800" kern="1200">
          <a:solidFill>
            <a:schemeClr val="tx1"/>
          </a:solidFill>
          <a:latin typeface="+mn-lt"/>
          <a:ea typeface="+mn-ea"/>
          <a:cs typeface="+mn-cs"/>
        </a:defRPr>
      </a:lvl2pPr>
      <a:lvl3pPr marL="914107" algn="l" defTabSz="914107" rtl="0" eaLnBrk="1" latinLnBrk="0" hangingPunct="1">
        <a:defRPr sz="1800" kern="1200">
          <a:solidFill>
            <a:schemeClr val="tx1"/>
          </a:solidFill>
          <a:latin typeface="+mn-lt"/>
          <a:ea typeface="+mn-ea"/>
          <a:cs typeface="+mn-cs"/>
        </a:defRPr>
      </a:lvl3pPr>
      <a:lvl4pPr marL="1371160" algn="l" defTabSz="914107" rtl="0" eaLnBrk="1" latinLnBrk="0" hangingPunct="1">
        <a:defRPr sz="1800" kern="1200">
          <a:solidFill>
            <a:schemeClr val="tx1"/>
          </a:solidFill>
          <a:latin typeface="+mn-lt"/>
          <a:ea typeface="+mn-ea"/>
          <a:cs typeface="+mn-cs"/>
        </a:defRPr>
      </a:lvl4pPr>
      <a:lvl5pPr marL="1828214" algn="l" defTabSz="914107" rtl="0" eaLnBrk="1" latinLnBrk="0" hangingPunct="1">
        <a:defRPr sz="1800" kern="1200">
          <a:solidFill>
            <a:schemeClr val="tx1"/>
          </a:solidFill>
          <a:latin typeface="+mn-lt"/>
          <a:ea typeface="+mn-ea"/>
          <a:cs typeface="+mn-cs"/>
        </a:defRPr>
      </a:lvl5pPr>
      <a:lvl6pPr marL="2285266" algn="l" defTabSz="914107" rtl="0" eaLnBrk="1" latinLnBrk="0" hangingPunct="1">
        <a:defRPr sz="1800" kern="1200">
          <a:solidFill>
            <a:schemeClr val="tx1"/>
          </a:solidFill>
          <a:latin typeface="+mn-lt"/>
          <a:ea typeface="+mn-ea"/>
          <a:cs typeface="+mn-cs"/>
        </a:defRPr>
      </a:lvl6pPr>
      <a:lvl7pPr marL="2742321" algn="l" defTabSz="914107" rtl="0" eaLnBrk="1" latinLnBrk="0" hangingPunct="1">
        <a:defRPr sz="1800" kern="1200">
          <a:solidFill>
            <a:schemeClr val="tx1"/>
          </a:solidFill>
          <a:latin typeface="+mn-lt"/>
          <a:ea typeface="+mn-ea"/>
          <a:cs typeface="+mn-cs"/>
        </a:defRPr>
      </a:lvl7pPr>
      <a:lvl8pPr marL="3199374" algn="l" defTabSz="914107" rtl="0" eaLnBrk="1" latinLnBrk="0" hangingPunct="1">
        <a:defRPr sz="1800" kern="1200">
          <a:solidFill>
            <a:schemeClr val="tx1"/>
          </a:solidFill>
          <a:latin typeface="+mn-lt"/>
          <a:ea typeface="+mn-ea"/>
          <a:cs typeface="+mn-cs"/>
        </a:defRPr>
      </a:lvl8pPr>
      <a:lvl9pPr marL="3656426" algn="l" defTabSz="91410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417" y="274489"/>
            <a:ext cx="8229166" cy="1142767"/>
          </a:xfrm>
          <a:prstGeom prst="rect">
            <a:avLst/>
          </a:prstGeom>
        </p:spPr>
        <p:txBody>
          <a:bodyPr vert="horz" lIns="82027" tIns="41014" rIns="82027" bIns="41014"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417" y="1600715"/>
            <a:ext cx="8229166" cy="4524851"/>
          </a:xfrm>
          <a:prstGeom prst="rect">
            <a:avLst/>
          </a:prstGeom>
        </p:spPr>
        <p:txBody>
          <a:bodyPr vert="horz" lIns="82027" tIns="41014" rIns="82027" bIns="41014"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417" y="6356641"/>
            <a:ext cx="2132686" cy="365517"/>
          </a:xfrm>
          <a:prstGeom prst="rect">
            <a:avLst/>
          </a:prstGeom>
        </p:spPr>
        <p:txBody>
          <a:bodyPr vert="horz" lIns="82027" tIns="41014" rIns="82027" bIns="41014" rtlCol="0" anchor="ctr"/>
          <a:lstStyle>
            <a:lvl1pPr algn="l">
              <a:defRPr sz="1100">
                <a:solidFill>
                  <a:schemeClr val="tx1">
                    <a:tint val="75000"/>
                  </a:schemeClr>
                </a:solidFill>
              </a:defRPr>
            </a:lvl1pPr>
          </a:lstStyle>
          <a:p>
            <a:pPr defTabSz="914107"/>
            <a:fld id="{97172ED1-F058-4296-9A1C-85EC5A9AEE84}" type="datetimeFigureOut">
              <a:rPr lang="es-CL" smtClean="0">
                <a:solidFill>
                  <a:prstClr val="black">
                    <a:tint val="75000"/>
                  </a:prstClr>
                </a:solidFill>
              </a:rPr>
              <a:pPr defTabSz="914107"/>
              <a:t>09-08-2017</a:t>
            </a:fld>
            <a:endParaRPr lang="es-CL">
              <a:solidFill>
                <a:prstClr val="black">
                  <a:tint val="75000"/>
                </a:prstClr>
              </a:solidFill>
            </a:endParaRPr>
          </a:p>
        </p:txBody>
      </p:sp>
      <p:sp>
        <p:nvSpPr>
          <p:cNvPr id="5" name="4 Marcador de pie de página"/>
          <p:cNvSpPr>
            <a:spLocks noGrp="1"/>
          </p:cNvSpPr>
          <p:nvPr>
            <p:ph type="ftr" sz="quarter" idx="3"/>
          </p:nvPr>
        </p:nvSpPr>
        <p:spPr>
          <a:xfrm>
            <a:off x="3123996" y="6356641"/>
            <a:ext cx="2896008" cy="365517"/>
          </a:xfrm>
          <a:prstGeom prst="rect">
            <a:avLst/>
          </a:prstGeom>
        </p:spPr>
        <p:txBody>
          <a:bodyPr vert="horz" lIns="82027" tIns="41014" rIns="82027" bIns="41014" rtlCol="0" anchor="ctr"/>
          <a:lstStyle>
            <a:lvl1pPr algn="ctr">
              <a:defRPr sz="1100">
                <a:solidFill>
                  <a:schemeClr val="tx1">
                    <a:tint val="75000"/>
                  </a:schemeClr>
                </a:solidFill>
              </a:defRPr>
            </a:lvl1pPr>
          </a:lstStyle>
          <a:p>
            <a:pPr defTabSz="914107"/>
            <a:endParaRPr lang="es-CL">
              <a:solidFill>
                <a:prstClr val="black">
                  <a:tint val="75000"/>
                </a:prstClr>
              </a:solidFill>
            </a:endParaRPr>
          </a:p>
        </p:txBody>
      </p:sp>
      <p:sp>
        <p:nvSpPr>
          <p:cNvPr id="6" name="5 Marcador de número de diapositiva"/>
          <p:cNvSpPr>
            <a:spLocks noGrp="1"/>
          </p:cNvSpPr>
          <p:nvPr>
            <p:ph type="sldNum" sz="quarter" idx="4"/>
          </p:nvPr>
        </p:nvSpPr>
        <p:spPr>
          <a:xfrm>
            <a:off x="6553898" y="6356641"/>
            <a:ext cx="2132686" cy="365517"/>
          </a:xfrm>
          <a:prstGeom prst="rect">
            <a:avLst/>
          </a:prstGeom>
        </p:spPr>
        <p:txBody>
          <a:bodyPr vert="horz" lIns="82027" tIns="41014" rIns="82027" bIns="41014" rtlCol="0" anchor="ctr"/>
          <a:lstStyle>
            <a:lvl1pPr algn="r">
              <a:defRPr sz="1100">
                <a:solidFill>
                  <a:schemeClr val="tx1">
                    <a:tint val="75000"/>
                  </a:schemeClr>
                </a:solidFill>
              </a:defRPr>
            </a:lvl1pPr>
          </a:lstStyle>
          <a:p>
            <a:pPr defTabSz="914107"/>
            <a:fld id="{B07E5F88-547F-4B54-AAD7-10680895DAA5}" type="slidenum">
              <a:rPr lang="es-CL" smtClean="0">
                <a:solidFill>
                  <a:prstClr val="black">
                    <a:tint val="75000"/>
                  </a:prstClr>
                </a:solidFill>
              </a:rPr>
              <a:pPr defTabSz="914107"/>
              <a:t>‹Nº›</a:t>
            </a:fld>
            <a:endParaRPr lang="es-CL">
              <a:solidFill>
                <a:prstClr val="black">
                  <a:tint val="75000"/>
                </a:prstClr>
              </a:solidFill>
            </a:endParaRPr>
          </a:p>
        </p:txBody>
      </p:sp>
      <p:pic>
        <p:nvPicPr>
          <p:cNvPr id="7" name="6 Imagen" descr="ACADÉMICA 2.jpg"/>
          <p:cNvPicPr>
            <a:picLocks noChangeAspect="1"/>
          </p:cNvPicPr>
          <p:nvPr userDrawn="1"/>
        </p:nvPicPr>
        <p:blipFill>
          <a:blip r:embed="rId13" cstate="print"/>
          <a:stretch>
            <a:fillRect/>
          </a:stretch>
        </p:blipFill>
        <p:spPr>
          <a:xfrm>
            <a:off x="14087" y="2"/>
            <a:ext cx="9115824" cy="6857999"/>
          </a:xfrm>
          <a:prstGeom prst="rect">
            <a:avLst/>
          </a:prstGeom>
        </p:spPr>
      </p:pic>
      <p:sp>
        <p:nvSpPr>
          <p:cNvPr id="8" name="7 CuadroTexto">
            <a:hlinkClick r:id="rId14"/>
          </p:cNvPr>
          <p:cNvSpPr txBox="1"/>
          <p:nvPr userDrawn="1"/>
        </p:nvSpPr>
        <p:spPr>
          <a:xfrm>
            <a:off x="6909602" y="6517013"/>
            <a:ext cx="1038934" cy="282884"/>
          </a:xfrm>
          <a:prstGeom prst="rect">
            <a:avLst/>
          </a:prstGeom>
          <a:noFill/>
        </p:spPr>
        <p:txBody>
          <a:bodyPr wrap="square" lIns="82027" tIns="41014" rIns="82027" bIns="41014" rtlCol="0">
            <a:spAutoFit/>
          </a:bodyPr>
          <a:lstStyle/>
          <a:p>
            <a:pPr algn="ctr" defTabSz="914107"/>
            <a:r>
              <a:rPr lang="es-ES" sz="1300" b="1" dirty="0" smtClean="0">
                <a:solidFill>
                  <a:prstClr val="white"/>
                </a:solidFill>
                <a:cs typeface="Calibri" pitchFamily="34" charset="0"/>
              </a:rPr>
              <a:t>www.ufro.cl</a:t>
            </a:r>
            <a:endParaRPr lang="es-CL" sz="1300" b="1" dirty="0">
              <a:solidFill>
                <a:prstClr val="white"/>
              </a:solidFill>
              <a:cs typeface="Calibri" pitchFamily="34" charset="0"/>
            </a:endParaRPr>
          </a:p>
        </p:txBody>
      </p:sp>
    </p:spTree>
    <p:extLst>
      <p:ext uri="{BB962C8B-B14F-4D97-AF65-F5344CB8AC3E}">
        <p14:creationId xmlns:p14="http://schemas.microsoft.com/office/powerpoint/2010/main" val="384403663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ctr" defTabSz="820269" rtl="0" eaLnBrk="1" latinLnBrk="0" hangingPunct="1">
        <a:spcBef>
          <a:spcPct val="0"/>
        </a:spcBef>
        <a:buNone/>
        <a:defRPr sz="3900" kern="1200">
          <a:solidFill>
            <a:schemeClr val="tx1"/>
          </a:solidFill>
          <a:latin typeface="+mj-lt"/>
          <a:ea typeface="+mj-ea"/>
          <a:cs typeface="+mj-cs"/>
        </a:defRPr>
      </a:lvl1pPr>
    </p:titleStyle>
    <p:bodyStyle>
      <a:lvl1pPr marL="307601" indent="-307601" algn="l" defTabSz="820269"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66468" indent="-256334" algn="l" defTabSz="820269" rtl="0" eaLnBrk="1" latinLnBrk="0" hangingPunct="1">
        <a:spcBef>
          <a:spcPct val="20000"/>
        </a:spcBef>
        <a:buFont typeface="Arial" pitchFamily="34" charset="0"/>
        <a:buChar char="–"/>
        <a:defRPr sz="2500" kern="1200">
          <a:solidFill>
            <a:schemeClr val="tx1"/>
          </a:solidFill>
          <a:latin typeface="+mn-lt"/>
          <a:ea typeface="+mn-ea"/>
          <a:cs typeface="+mn-cs"/>
        </a:defRPr>
      </a:lvl2pPr>
      <a:lvl3pPr marL="1025335" indent="-205067" algn="l" defTabSz="820269"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35469" indent="-205067" algn="l" defTabSz="820269"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45603" indent="-205067" algn="l" defTabSz="820269"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55738" indent="-205067" algn="l" defTabSz="820269"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65872" indent="-205067" algn="l" defTabSz="820269"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6005" indent="-205067" algn="l" defTabSz="820269"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6140" indent="-205067" algn="l" defTabSz="820269"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s-CL"/>
      </a:defPPr>
      <a:lvl1pPr marL="0" algn="l" defTabSz="820269" rtl="0" eaLnBrk="1" latinLnBrk="0" hangingPunct="1">
        <a:defRPr sz="1600" kern="1200">
          <a:solidFill>
            <a:schemeClr val="tx1"/>
          </a:solidFill>
          <a:latin typeface="+mn-lt"/>
          <a:ea typeface="+mn-ea"/>
          <a:cs typeface="+mn-cs"/>
        </a:defRPr>
      </a:lvl1pPr>
      <a:lvl2pPr marL="410134" algn="l" defTabSz="820269" rtl="0" eaLnBrk="1" latinLnBrk="0" hangingPunct="1">
        <a:defRPr sz="1600" kern="1200">
          <a:solidFill>
            <a:schemeClr val="tx1"/>
          </a:solidFill>
          <a:latin typeface="+mn-lt"/>
          <a:ea typeface="+mn-ea"/>
          <a:cs typeface="+mn-cs"/>
        </a:defRPr>
      </a:lvl2pPr>
      <a:lvl3pPr marL="820269" algn="l" defTabSz="820269" rtl="0" eaLnBrk="1" latinLnBrk="0" hangingPunct="1">
        <a:defRPr sz="1600" kern="1200">
          <a:solidFill>
            <a:schemeClr val="tx1"/>
          </a:solidFill>
          <a:latin typeface="+mn-lt"/>
          <a:ea typeface="+mn-ea"/>
          <a:cs typeface="+mn-cs"/>
        </a:defRPr>
      </a:lvl3pPr>
      <a:lvl4pPr marL="1230403" algn="l" defTabSz="820269" rtl="0" eaLnBrk="1" latinLnBrk="0" hangingPunct="1">
        <a:defRPr sz="1600" kern="1200">
          <a:solidFill>
            <a:schemeClr val="tx1"/>
          </a:solidFill>
          <a:latin typeface="+mn-lt"/>
          <a:ea typeface="+mn-ea"/>
          <a:cs typeface="+mn-cs"/>
        </a:defRPr>
      </a:lvl4pPr>
      <a:lvl5pPr marL="1640536" algn="l" defTabSz="820269" rtl="0" eaLnBrk="1" latinLnBrk="0" hangingPunct="1">
        <a:defRPr sz="1600" kern="1200">
          <a:solidFill>
            <a:schemeClr val="tx1"/>
          </a:solidFill>
          <a:latin typeface="+mn-lt"/>
          <a:ea typeface="+mn-ea"/>
          <a:cs typeface="+mn-cs"/>
        </a:defRPr>
      </a:lvl5pPr>
      <a:lvl6pPr marL="2050670" algn="l" defTabSz="820269" rtl="0" eaLnBrk="1" latinLnBrk="0" hangingPunct="1">
        <a:defRPr sz="1600" kern="1200">
          <a:solidFill>
            <a:schemeClr val="tx1"/>
          </a:solidFill>
          <a:latin typeface="+mn-lt"/>
          <a:ea typeface="+mn-ea"/>
          <a:cs typeface="+mn-cs"/>
        </a:defRPr>
      </a:lvl6pPr>
      <a:lvl7pPr marL="2460804" algn="l" defTabSz="820269" rtl="0" eaLnBrk="1" latinLnBrk="0" hangingPunct="1">
        <a:defRPr sz="1600" kern="1200">
          <a:solidFill>
            <a:schemeClr val="tx1"/>
          </a:solidFill>
          <a:latin typeface="+mn-lt"/>
          <a:ea typeface="+mn-ea"/>
          <a:cs typeface="+mn-cs"/>
        </a:defRPr>
      </a:lvl7pPr>
      <a:lvl8pPr marL="2870939" algn="l" defTabSz="820269" rtl="0" eaLnBrk="1" latinLnBrk="0" hangingPunct="1">
        <a:defRPr sz="1600" kern="1200">
          <a:solidFill>
            <a:schemeClr val="tx1"/>
          </a:solidFill>
          <a:latin typeface="+mn-lt"/>
          <a:ea typeface="+mn-ea"/>
          <a:cs typeface="+mn-cs"/>
        </a:defRPr>
      </a:lvl8pPr>
      <a:lvl9pPr marL="3281073" algn="l" defTabSz="820269" rtl="0" eaLnBrk="1" latinLnBrk="0" hangingPunct="1">
        <a:defRPr sz="1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417" y="274488"/>
            <a:ext cx="8229166" cy="1142767"/>
          </a:xfrm>
          <a:prstGeom prst="rect">
            <a:avLst/>
          </a:prstGeom>
        </p:spPr>
        <p:txBody>
          <a:bodyPr vert="horz" lIns="82040" tIns="41020" rIns="82040" bIns="41020"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417" y="1600714"/>
            <a:ext cx="8229166" cy="4524851"/>
          </a:xfrm>
          <a:prstGeom prst="rect">
            <a:avLst/>
          </a:prstGeom>
        </p:spPr>
        <p:txBody>
          <a:bodyPr vert="horz" lIns="82040" tIns="41020" rIns="82040" bIns="410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417" y="6356640"/>
            <a:ext cx="2132686" cy="365517"/>
          </a:xfrm>
          <a:prstGeom prst="rect">
            <a:avLst/>
          </a:prstGeom>
        </p:spPr>
        <p:txBody>
          <a:bodyPr vert="horz" lIns="82040" tIns="41020" rIns="82040" bIns="41020" rtlCol="0" anchor="ctr"/>
          <a:lstStyle>
            <a:lvl1pPr algn="l">
              <a:defRPr sz="1100">
                <a:solidFill>
                  <a:schemeClr val="tx1">
                    <a:tint val="75000"/>
                  </a:schemeClr>
                </a:solidFill>
              </a:defRPr>
            </a:lvl1pPr>
          </a:lstStyle>
          <a:p>
            <a:pPr defTabSz="914253"/>
            <a:fld id="{97172ED1-F058-4296-9A1C-85EC5A9AEE84}" type="datetimeFigureOut">
              <a:rPr lang="es-CL" smtClean="0">
                <a:solidFill>
                  <a:prstClr val="black">
                    <a:tint val="75000"/>
                  </a:prstClr>
                </a:solidFill>
              </a:rPr>
              <a:pPr defTabSz="914253"/>
              <a:t>09-08-2017</a:t>
            </a:fld>
            <a:endParaRPr lang="es-CL">
              <a:solidFill>
                <a:prstClr val="black">
                  <a:tint val="75000"/>
                </a:prstClr>
              </a:solidFill>
            </a:endParaRPr>
          </a:p>
        </p:txBody>
      </p:sp>
      <p:sp>
        <p:nvSpPr>
          <p:cNvPr id="5" name="4 Marcador de pie de página"/>
          <p:cNvSpPr>
            <a:spLocks noGrp="1"/>
          </p:cNvSpPr>
          <p:nvPr>
            <p:ph type="ftr" sz="quarter" idx="3"/>
          </p:nvPr>
        </p:nvSpPr>
        <p:spPr>
          <a:xfrm>
            <a:off x="3123996" y="6356640"/>
            <a:ext cx="2896008" cy="365517"/>
          </a:xfrm>
          <a:prstGeom prst="rect">
            <a:avLst/>
          </a:prstGeom>
        </p:spPr>
        <p:txBody>
          <a:bodyPr vert="horz" lIns="82040" tIns="41020" rIns="82040" bIns="41020" rtlCol="0" anchor="ctr"/>
          <a:lstStyle>
            <a:lvl1pPr algn="ctr">
              <a:defRPr sz="1100">
                <a:solidFill>
                  <a:schemeClr val="tx1">
                    <a:tint val="75000"/>
                  </a:schemeClr>
                </a:solidFill>
              </a:defRPr>
            </a:lvl1pPr>
          </a:lstStyle>
          <a:p>
            <a:pPr defTabSz="914253"/>
            <a:endParaRPr lang="es-CL">
              <a:solidFill>
                <a:prstClr val="black">
                  <a:tint val="75000"/>
                </a:prstClr>
              </a:solidFill>
            </a:endParaRPr>
          </a:p>
        </p:txBody>
      </p:sp>
      <p:sp>
        <p:nvSpPr>
          <p:cNvPr id="6" name="5 Marcador de número de diapositiva"/>
          <p:cNvSpPr>
            <a:spLocks noGrp="1"/>
          </p:cNvSpPr>
          <p:nvPr>
            <p:ph type="sldNum" sz="quarter" idx="4"/>
          </p:nvPr>
        </p:nvSpPr>
        <p:spPr>
          <a:xfrm>
            <a:off x="6553898" y="6356640"/>
            <a:ext cx="2132686" cy="365517"/>
          </a:xfrm>
          <a:prstGeom prst="rect">
            <a:avLst/>
          </a:prstGeom>
        </p:spPr>
        <p:txBody>
          <a:bodyPr vert="horz" lIns="82040" tIns="41020" rIns="82040" bIns="41020" rtlCol="0" anchor="ctr"/>
          <a:lstStyle>
            <a:lvl1pPr algn="r">
              <a:defRPr sz="1100">
                <a:solidFill>
                  <a:schemeClr val="tx1">
                    <a:tint val="75000"/>
                  </a:schemeClr>
                </a:solidFill>
              </a:defRPr>
            </a:lvl1pPr>
          </a:lstStyle>
          <a:p>
            <a:pPr defTabSz="914253"/>
            <a:fld id="{B07E5F88-547F-4B54-AAD7-10680895DAA5}" type="slidenum">
              <a:rPr lang="es-CL" smtClean="0">
                <a:solidFill>
                  <a:prstClr val="black">
                    <a:tint val="75000"/>
                  </a:prstClr>
                </a:solidFill>
              </a:rPr>
              <a:pPr defTabSz="914253"/>
              <a:t>‹Nº›</a:t>
            </a:fld>
            <a:endParaRPr lang="es-CL">
              <a:solidFill>
                <a:prstClr val="black">
                  <a:tint val="75000"/>
                </a:prstClr>
              </a:solidFill>
            </a:endParaRPr>
          </a:p>
        </p:txBody>
      </p:sp>
      <p:pic>
        <p:nvPicPr>
          <p:cNvPr id="7" name="6 Imagen" descr="ACADÉMICA 2.jpg"/>
          <p:cNvPicPr>
            <a:picLocks noChangeAspect="1"/>
          </p:cNvPicPr>
          <p:nvPr userDrawn="1"/>
        </p:nvPicPr>
        <p:blipFill>
          <a:blip r:embed="rId13" cstate="print"/>
          <a:stretch>
            <a:fillRect/>
          </a:stretch>
        </p:blipFill>
        <p:spPr>
          <a:xfrm>
            <a:off x="14087" y="1"/>
            <a:ext cx="9115824" cy="6857999"/>
          </a:xfrm>
          <a:prstGeom prst="rect">
            <a:avLst/>
          </a:prstGeom>
        </p:spPr>
      </p:pic>
      <p:sp>
        <p:nvSpPr>
          <p:cNvPr id="8" name="7 CuadroTexto">
            <a:hlinkClick r:id="rId14"/>
          </p:cNvPr>
          <p:cNvSpPr txBox="1"/>
          <p:nvPr userDrawn="1"/>
        </p:nvSpPr>
        <p:spPr>
          <a:xfrm>
            <a:off x="6909602" y="6517013"/>
            <a:ext cx="1038934" cy="282896"/>
          </a:xfrm>
          <a:prstGeom prst="rect">
            <a:avLst/>
          </a:prstGeom>
          <a:noFill/>
        </p:spPr>
        <p:txBody>
          <a:bodyPr wrap="square" lIns="82040" tIns="41020" rIns="82040" bIns="41020" rtlCol="0">
            <a:spAutoFit/>
          </a:bodyPr>
          <a:lstStyle/>
          <a:p>
            <a:pPr algn="ctr" defTabSz="914253"/>
            <a:r>
              <a:rPr lang="es-ES" sz="1300" b="1" dirty="0" smtClean="0">
                <a:solidFill>
                  <a:prstClr val="white"/>
                </a:solidFill>
                <a:cs typeface="Calibri" pitchFamily="34" charset="0"/>
              </a:rPr>
              <a:t>www.ufro.cl</a:t>
            </a:r>
            <a:endParaRPr lang="es-CL" sz="1300" b="1" dirty="0">
              <a:solidFill>
                <a:prstClr val="white"/>
              </a:solidFill>
              <a:cs typeface="Calibri" pitchFamily="34" charset="0"/>
            </a:endParaRPr>
          </a:p>
        </p:txBody>
      </p:sp>
    </p:spTree>
    <p:extLst>
      <p:ext uri="{BB962C8B-B14F-4D97-AF65-F5344CB8AC3E}">
        <p14:creationId xmlns:p14="http://schemas.microsoft.com/office/powerpoint/2010/main" val="3116251170"/>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ctr" defTabSz="820400" rtl="0" eaLnBrk="1" latinLnBrk="0" hangingPunct="1">
        <a:spcBef>
          <a:spcPct val="0"/>
        </a:spcBef>
        <a:buNone/>
        <a:defRPr sz="3900" kern="1200">
          <a:solidFill>
            <a:schemeClr val="tx1"/>
          </a:solidFill>
          <a:latin typeface="+mj-lt"/>
          <a:ea typeface="+mj-ea"/>
          <a:cs typeface="+mj-cs"/>
        </a:defRPr>
      </a:lvl1pPr>
    </p:titleStyle>
    <p:bodyStyle>
      <a:lvl1pPr marL="307650" indent="-307650" algn="l" defTabSz="820400"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66575" indent="-256375" algn="l" defTabSz="820400" rtl="0" eaLnBrk="1" latinLnBrk="0" hangingPunct="1">
        <a:spcBef>
          <a:spcPct val="20000"/>
        </a:spcBef>
        <a:buFont typeface="Arial" pitchFamily="34" charset="0"/>
        <a:buChar char="–"/>
        <a:defRPr sz="2500" kern="1200">
          <a:solidFill>
            <a:schemeClr val="tx1"/>
          </a:solidFill>
          <a:latin typeface="+mn-lt"/>
          <a:ea typeface="+mn-ea"/>
          <a:cs typeface="+mn-cs"/>
        </a:defRPr>
      </a:lvl2pPr>
      <a:lvl3pPr marL="1025500" indent="-205100" algn="l" defTabSz="820400"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35699" indent="-205100" algn="l" defTabSz="820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45899" indent="-205100" algn="l" defTabSz="820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56099" indent="-205100" algn="l" defTabSz="820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66299" indent="-205100" algn="l" defTabSz="820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76499" indent="-205100" algn="l" defTabSz="820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86699" indent="-205100" algn="l" defTabSz="82040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s-CL"/>
      </a:defPPr>
      <a:lvl1pPr marL="0" algn="l" defTabSz="820400" rtl="0" eaLnBrk="1" latinLnBrk="0" hangingPunct="1">
        <a:defRPr sz="1600" kern="1200">
          <a:solidFill>
            <a:schemeClr val="tx1"/>
          </a:solidFill>
          <a:latin typeface="+mn-lt"/>
          <a:ea typeface="+mn-ea"/>
          <a:cs typeface="+mn-cs"/>
        </a:defRPr>
      </a:lvl1pPr>
      <a:lvl2pPr marL="410200" algn="l" defTabSz="820400" rtl="0" eaLnBrk="1" latinLnBrk="0" hangingPunct="1">
        <a:defRPr sz="1600" kern="1200">
          <a:solidFill>
            <a:schemeClr val="tx1"/>
          </a:solidFill>
          <a:latin typeface="+mn-lt"/>
          <a:ea typeface="+mn-ea"/>
          <a:cs typeface="+mn-cs"/>
        </a:defRPr>
      </a:lvl2pPr>
      <a:lvl3pPr marL="820400" algn="l" defTabSz="820400" rtl="0" eaLnBrk="1" latinLnBrk="0" hangingPunct="1">
        <a:defRPr sz="1600" kern="1200">
          <a:solidFill>
            <a:schemeClr val="tx1"/>
          </a:solidFill>
          <a:latin typeface="+mn-lt"/>
          <a:ea typeface="+mn-ea"/>
          <a:cs typeface="+mn-cs"/>
        </a:defRPr>
      </a:lvl3pPr>
      <a:lvl4pPr marL="1230600" algn="l" defTabSz="820400" rtl="0" eaLnBrk="1" latinLnBrk="0" hangingPunct="1">
        <a:defRPr sz="1600" kern="1200">
          <a:solidFill>
            <a:schemeClr val="tx1"/>
          </a:solidFill>
          <a:latin typeface="+mn-lt"/>
          <a:ea typeface="+mn-ea"/>
          <a:cs typeface="+mn-cs"/>
        </a:defRPr>
      </a:lvl4pPr>
      <a:lvl5pPr marL="1640799" algn="l" defTabSz="820400" rtl="0" eaLnBrk="1" latinLnBrk="0" hangingPunct="1">
        <a:defRPr sz="1600" kern="1200">
          <a:solidFill>
            <a:schemeClr val="tx1"/>
          </a:solidFill>
          <a:latin typeface="+mn-lt"/>
          <a:ea typeface="+mn-ea"/>
          <a:cs typeface="+mn-cs"/>
        </a:defRPr>
      </a:lvl5pPr>
      <a:lvl6pPr marL="2050999" algn="l" defTabSz="820400" rtl="0" eaLnBrk="1" latinLnBrk="0" hangingPunct="1">
        <a:defRPr sz="1600" kern="1200">
          <a:solidFill>
            <a:schemeClr val="tx1"/>
          </a:solidFill>
          <a:latin typeface="+mn-lt"/>
          <a:ea typeface="+mn-ea"/>
          <a:cs typeface="+mn-cs"/>
        </a:defRPr>
      </a:lvl6pPr>
      <a:lvl7pPr marL="2461199" algn="l" defTabSz="820400" rtl="0" eaLnBrk="1" latinLnBrk="0" hangingPunct="1">
        <a:defRPr sz="1600" kern="1200">
          <a:solidFill>
            <a:schemeClr val="tx1"/>
          </a:solidFill>
          <a:latin typeface="+mn-lt"/>
          <a:ea typeface="+mn-ea"/>
          <a:cs typeface="+mn-cs"/>
        </a:defRPr>
      </a:lvl7pPr>
      <a:lvl8pPr marL="2871399" algn="l" defTabSz="820400" rtl="0" eaLnBrk="1" latinLnBrk="0" hangingPunct="1">
        <a:defRPr sz="1600" kern="1200">
          <a:solidFill>
            <a:schemeClr val="tx1"/>
          </a:solidFill>
          <a:latin typeface="+mn-lt"/>
          <a:ea typeface="+mn-ea"/>
          <a:cs typeface="+mn-cs"/>
        </a:defRPr>
      </a:lvl8pPr>
      <a:lvl9pPr marL="3281599" algn="l" defTabSz="82040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9"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10" Type="http://schemas.openxmlformats.org/officeDocument/2006/relationships/image" Target="../media/av2_mp8_mapa_macroprocesos.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10" Type="http://schemas.openxmlformats.org/officeDocument/2006/relationships/image" Target="../media/av2_mp8_apertura.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10" Type="http://schemas.openxmlformats.org/officeDocument/2006/relationships/image" Target="../media/av2_mp8_c1_flujograma.png"/><Relationship Id="rId11" Type="http://schemas.openxmlformats.org/officeDocument/2006/relationships/image" Target="../media/av2_mp8_c1_tareas.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10" Type="http://schemas.openxmlformats.org/officeDocument/2006/relationships/image" Target="../media/av2_mp8_sipoc.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10" Type="http://schemas.openxmlformats.org/officeDocument/2006/relationships/image" Target="../media/av2_mp21_ficha.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tetitulo"/>
          <p:cNvSpPr txBox="1"/>
          <p:nvPr/>
        </p:nvSpPr>
        <p:spPr>
          <a:xfrm>
            <a:off x="731520" y="2907792"/>
            <a:ext cx="7680960" cy="329184"/>
          </a:xfrm>
          <a:prstGeom prst="rect">
            <a:avLst/>
          </a:prstGeom>
          <a:noFill/>
        </p:spPr>
        <p:txBody>
          <a:bodyPr wrap="square" lIns="36576" tIns="18288" rIns="36576" bIns="18288" anchor="ctr"/>
          <a:lstStyle/>
          <a:p>
            <a:pPr algn="ctr">
              <a:buNone/>
            </a:pPr>
            <a:r>
              <a:rPr lang="es-CL" sz="1500" dirty="0" b="1">
                <a:solidFill>
                  <a:srgbClr val="595959"/>
                </a:solidFill>
                <a:latin typeface="Calibri"/>
                <a:cs typeface="Calibri"/>
              </a:rPr>
              <a:t>Avance 2 · Trabajo Final de Grado</a:t>
            </a:r>
          </a:p>
        </p:txBody>
      </p:sp>
      <p:sp>
        <p:nvSpPr>
          <p:cNvPr id="3" name="Titulo"/>
          <p:cNvSpPr txBox="1"/>
          <p:nvPr/>
        </p:nvSpPr>
        <p:spPr>
          <a:xfrm>
            <a:off x="731520" y="3273552"/>
            <a:ext cx="7680960" cy="896112"/>
          </a:xfrm>
          <a:prstGeom prst="rect">
            <a:avLst/>
          </a:prstGeom>
          <a:noFill/>
        </p:spPr>
        <p:txBody>
          <a:bodyPr wrap="square" lIns="36576" tIns="18288" rIns="36576" bIns="18288" anchor="ctr"/>
          <a:lstStyle/>
          <a:p>
            <a:pPr algn="ctr">
              <a:lnSpc>
                <a:spcPct val="108000"/>
              </a:lnSpc>
              <a:buNone/>
            </a:pPr>
            <a:r>
              <a:rPr lang="es-CL" sz="16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4" name="Programa"/>
          <p:cNvSpPr txBox="1"/>
          <p:nvPr/>
        </p:nvSpPr>
        <p:spPr>
          <a:xfrm>
            <a:off x="731520" y="4224528"/>
            <a:ext cx="7680960" cy="420624"/>
          </a:xfrm>
          <a:prstGeom prst="rect">
            <a:avLst/>
          </a:prstGeom>
          <a:noFill/>
        </p:spPr>
        <p:txBody>
          <a:bodyPr wrap="square" lIns="36576" tIns="18288" rIns="36576" bIns="18288" anchor="ctr"/>
          <a:lstStyle/>
          <a:p>
            <a:pPr algn="ctr">
              <a:buNone/>
            </a:pPr>
            <a:r>
              <a:rPr lang="es-CL" sz="1150" dirty="0" b="1">
                <a:solidFill>
                  <a:srgbClr val="3A3A3A"/>
                </a:solidFill>
                <a:latin typeface="Calibri"/>
                <a:cs typeface="Calibri"/>
              </a:rPr>
              <a:t>Magíster en Sistemas de Gestión Integral de la Calidad</a:t>
            </a:r>
          </a:p>
          <a:p>
            <a:pPr algn="ctr">
              <a:buNone/>
            </a:pPr>
            <a:r>
              <a:rPr lang="es-CL" sz="1000" dirty="0">
                <a:solidFill>
                  <a:srgbClr val="6B6B6B"/>
                </a:solidFill>
                <a:latin typeface="Calibri"/>
                <a:cs typeface="Calibri"/>
              </a:rPr>
              <a:t>Facultad de Ingeniería y Ciencias · Universidad de La Frontera</a:t>
            </a:r>
          </a:p>
        </p:txBody>
      </p:sp>
      <p:sp>
        <p:nvSpPr>
          <p:cNvPr id="5" name="Autoria"/>
          <p:cNvSpPr txBox="1"/>
          <p:nvPr/>
        </p:nvSpPr>
        <p:spPr>
          <a:xfrm>
            <a:off x="2103120" y="4700016"/>
            <a:ext cx="4937760" cy="841248"/>
          </a:xfrm>
          <a:prstGeom prst="rect">
            <a:avLst/>
          </a:prstGeom>
          <a:noFill/>
        </p:spPr>
        <p:txBody>
          <a:bodyPr wrap="square" lIns="36576" tIns="18288" rIns="36576" bIns="18288" anchor="ctr"/>
          <a:lstStyle/>
          <a:p>
            <a:pPr algn="ctr">
              <a:buNone/>
            </a:pPr>
            <a:r>
              <a:rPr lang="es-CL" sz="1150" dirty="0">
                <a:solidFill>
                  <a:srgbClr val="7F7F7F"/>
                </a:solidFill>
                <a:latin typeface="Calibri"/>
                <a:cs typeface="Calibri"/>
              </a:rPr>
              <a:t>| </a:t>
            </a:r>
            <a:r>
              <a:rPr lang="es-CL" sz="1150" dirty="0" b="1">
                <a:solidFill>
                  <a:srgbClr val="17375E"/>
                </a:solidFill>
                <a:latin typeface="Calibri"/>
                <a:cs typeface="Calibri"/>
              </a:rPr>
              <a:t>Estudiante: </a:t>
            </a:r>
            <a:r>
              <a:rPr lang="es-CL" sz="1150" dirty="0">
                <a:solidFill>
                  <a:srgbClr val="17375E"/>
                </a:solidFill>
                <a:latin typeface="Calibri"/>
                <a:cs typeface="Calibri"/>
              </a:rPr>
              <a:t>Bastián Darwit Vera</a:t>
            </a:r>
            <a:r>
              <a:rPr lang="es-CL" sz="1150" dirty="0">
                <a:solidFill>
                  <a:srgbClr val="7F7F7F"/>
                </a:solidFill>
                <a:latin typeface="Calibri"/>
                <a:cs typeface="Calibri"/>
              </a:rPr>
              <a:t> |</a:t>
            </a:r>
          </a:p>
          <a:p>
            <a:pPr algn="ctr">
              <a:spcBef>
                <a:spcPts val="200"/>
              </a:spcBef>
              <a:buNone/>
            </a:pPr>
            <a:r>
              <a:rPr lang="es-CL" sz="1100" dirty="0" b="1">
                <a:solidFill>
                  <a:srgbClr val="17375E"/>
                </a:solidFill>
                <a:latin typeface="Calibri"/>
                <a:cs typeface="Calibri"/>
              </a:rPr>
              <a:t>Profesor guía: </a:t>
            </a:r>
            <a:r>
              <a:rPr lang="es-CL" sz="1100" dirty="0">
                <a:solidFill>
                  <a:srgbClr val="17375E"/>
                </a:solidFill>
                <a:latin typeface="Calibri"/>
                <a:cs typeface="Calibri"/>
              </a:rPr>
              <a:t>Carlos Muñoz P.</a:t>
            </a:r>
          </a:p>
          <a:p>
            <a:pPr algn="ctr">
              <a:spcBef>
                <a:spcPts val="200"/>
              </a:spcBef>
              <a:buNone/>
            </a:pPr>
            <a:r>
              <a:rPr lang="es-CL" sz="1100" dirty="0" b="1">
                <a:solidFill>
                  <a:srgbClr val="17375E"/>
                </a:solidFill>
                <a:latin typeface="Calibri"/>
                <a:cs typeface="Calibri"/>
              </a:rPr>
              <a:t>Profesor co-guía: </a:t>
            </a:r>
            <a:r>
              <a:rPr lang="es-CL" sz="1100" dirty="0">
                <a:solidFill>
                  <a:srgbClr val="17375E"/>
                </a:solidFill>
                <a:latin typeface="Calibri"/>
                <a:cs typeface="Calibri"/>
              </a:rPr>
              <a:t>Manuel Echiburú Fuenzalida</a:t>
            </a:r>
          </a:p>
        </p:txBody>
      </p:sp>
      <p:sp>
        <p:nvSpPr>
          <p:cNvPr id="6" name="Fecha"/>
          <p:cNvSpPr txBox="1"/>
          <p:nvPr/>
        </p:nvSpPr>
        <p:spPr>
          <a:xfrm>
            <a:off x="3200400" y="5833872"/>
            <a:ext cx="2743200" cy="274320"/>
          </a:xfrm>
          <a:prstGeom prst="rect">
            <a:avLst/>
          </a:prstGeom>
          <a:noFill/>
        </p:spPr>
        <p:txBody>
          <a:bodyPr wrap="square" lIns="36576" tIns="18288" rIns="36576" bIns="18288" anchor="ctr"/>
          <a:lstStyle/>
          <a:p>
            <a:pPr algn="ctr">
              <a:buNone/>
            </a:pPr>
            <a:r>
              <a:rPr lang="es-CL" sz="1100" dirty="0" b="1">
                <a:solidFill>
                  <a:srgbClr val="17375E"/>
                </a:solidFill>
                <a:latin typeface="Calibri"/>
                <a:cs typeface="Calibri"/>
              </a:rPr>
              <a:t>Fecha: </a:t>
            </a:r>
            <a:r>
              <a:rPr lang="es-CL" sz="1100" dirty="0">
                <a:solidFill>
                  <a:srgbClr val="17375E"/>
                </a:solidFill>
                <a:latin typeface="Calibri"/>
                <a:cs typeface="Calibri"/>
              </a:rPr>
              <a:t>14/10/2026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institucional"/>
          <p:cNvPicPr>
            <a:picLocks noChangeAspect="1"/>
          </p:cNvPicPr>
          <p:nvPr/>
        </p:nvPicPr>
        <p:blipFill>
          <a:blip r:embed="rId9"/>
          <a:stretch>
            <a:fillRect/>
          </a:stretch>
        </p:blipFill>
        <p:spPr>
          <a:xfrm>
            <a:off x="676656" y="1664208"/>
            <a:ext cx="3566160" cy="4453128"/>
          </a:xfrm>
          <a:prstGeom prst="rect">
            <a:avLst/>
          </a:prstGeom>
        </p:spPr>
      </p:pic>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del trabajo"/>
          <p:cNvSpPr txBox="1"/>
          <p:nvPr/>
        </p:nvSpPr>
        <p:spPr>
          <a:xfrm>
            <a:off x="4572000" y="1664208"/>
            <a:ext cx="4114800" cy="2286000"/>
          </a:xfrm>
          <a:prstGeom prst="rect">
            <a:avLst/>
          </a:prstGeom>
          <a:noFill/>
        </p:spPr>
        <p:txBody>
          <a:bodyPr wrap="square" lIns="36576" tIns="18288" rIns="36576" bIns="18288" anchor="t"/>
          <a:lstStyle/>
          <a:p>
            <a:pPr algn="l">
              <a:lnSpc>
                <a:spcPct val="105000"/>
              </a:lnSpc>
              <a:buNone/>
            </a:pPr>
            <a:r>
              <a:rPr lang="es-CL" sz="2000" dirty="0" b="1">
                <a:solidFill>
                  <a:srgbClr val="595959"/>
                </a:solidFill>
                <a:latin typeface="Calibri"/>
                <a:cs typeface="Calibri"/>
              </a:rPr>
              <a:t>Propuesta de un sistema de gestión de riesgos para los macroprocesos de Gestión de Personas (MP8) y Servicios Generales (MP21) de Celulosa Arauco y Constitución S.A.</a:t>
            </a:r>
          </a:p>
        </p:txBody>
      </p:sp>
      <p:sp>
        <p:nvSpPr>
          <p:cNvPr id="5" name="Regla"/>
          <p:cNvSpPr/>
          <p:nvPr/>
        </p:nvSpPr>
        <p:spPr>
          <a:xfrm>
            <a:off x="4608576" y="4078224"/>
            <a:ext cx="4023360" cy="12802"/>
          </a:xfrm>
          <a:prstGeom prst="rect">
            <a:avLst/>
          </a:prstGeom>
          <a:solidFill>
            <a:srgbClr val="B8C6D9"/>
          </a:solidFill>
          <a:ln>
            <a:noFill/>
          </a:ln>
        </p:spPr>
        <p:txBody>
          <a:bodyPr/>
          <a:lstStyle/>
          <a:p>
            <a:endParaRPr lang="es-CL"/>
          </a:p>
        </p:txBody>
      </p:sp>
      <p:sp>
        <p:nvSpPr>
          <p:cNvPr id="6" name="Precision"/>
          <p:cNvSpPr txBox="1"/>
          <p:nvPr/>
        </p:nvSpPr>
        <p:spPr>
          <a:xfrm>
            <a:off x="4572000" y="4187952"/>
            <a:ext cx="4114800" cy="1828800"/>
          </a:xfrm>
          <a:prstGeom prst="rect">
            <a:avLst/>
          </a:prstGeom>
          <a:noFill/>
        </p:spPr>
        <p:txBody>
          <a:bodyPr wrap="square" lIns="36576" tIns="18288" rIns="36576" bIns="18288" anchor="t"/>
          <a:lstStyle/>
          <a:p>
            <a:pPr algn="l">
              <a:lnSpc>
                <a:spcPct val="110000"/>
              </a:lnSpc>
              <a:buNone/>
            </a:pPr>
            <a:r>
              <a:rPr lang="es-CL" sz="1200" dirty="0" b="1">
                <a:solidFill>
                  <a:srgbClr val="17375E"/>
                </a:solidFill>
                <a:latin typeface="Calibri"/>
                <a:cs typeface="Calibri"/>
              </a:rPr>
              <a:t>Título sin modificaciones</a:t>
            </a:r>
            <a:r>
              <a:rPr lang="es-CL" sz="1200" dirty="0">
                <a:solidFill>
                  <a:srgbClr val="3A3A3A"/>
                </a:solidFill>
                <a:latin typeface="Calibri"/>
                <a:cs typeface="Calibri"/>
              </a:rPr>
              <a:t> respecto del anteproyecto aprobado y del Avance 1.</a:t>
            </a:r>
          </a:p>
          <a:p>
            <a:pPr algn="l">
              <a:lnSpc>
                <a:spcPct val="110000"/>
              </a:lnSpc>
              <a:spcBef>
                <a:spcPts val="800"/>
              </a:spcBef>
              <a:buNone/>
            </a:pPr>
            <a:r>
              <a:rPr lang="es-CL" sz="1200" dirty="0">
                <a:solidFill>
                  <a:srgbClr val="3A3A3A"/>
                </a:solidFill>
                <a:latin typeface="Calibri"/>
                <a:cs typeface="Calibri"/>
              </a:rPr>
              <a:t>El trabajo comprende el </a:t>
            </a:r>
            <a:r>
              <a:rPr lang="es-CL" sz="1200" dirty="0" b="1">
                <a:solidFill>
                  <a:srgbClr val="3A3A3A"/>
                </a:solidFill>
                <a:latin typeface="Calibri"/>
                <a:cs typeface="Calibri"/>
              </a:rPr>
              <a:t>diseño</a:t>
            </a:r>
            <a:r>
              <a:rPr lang="es-CL" sz="1200" dirty="0">
                <a:solidFill>
                  <a:srgbClr val="3A3A3A"/>
                </a:solidFill>
                <a:latin typeface="Calibri"/>
                <a:cs typeface="Calibri"/>
              </a:rPr>
              <a:t> del sistema de gestión de riesgos; su implementación no forma parte del alcance.</a:t>
            </a:r>
          </a:p>
          <a:p>
            <a:pPr algn="l">
              <a:lnSpc>
                <a:spcPct val="110000"/>
              </a:lnSpc>
              <a:spcBef>
                <a:spcPts val="800"/>
              </a:spcBef>
              <a:buNone/>
            </a:pPr>
            <a:r>
              <a:rPr lang="es-CL" sz="1200" dirty="0">
                <a:solidFill>
                  <a:srgbClr val="3A3A3A"/>
                </a:solidFill>
                <a:latin typeface="Calibri"/>
                <a:cs typeface="Calibri"/>
              </a:rPr>
              <a:t>Este avance reporta la arquitectura de procesos consolidada en los manuales de MP8 y MP21.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Problema (1 de 2) · Organización y unidad de estudio</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3</a:t>
            </a:r>
          </a:p>
        </p:txBody>
      </p:sp>
      <p:sp>
        <p:nvSpPr>
          <p:cNvPr id="6" name="Organizacion"/>
          <p:cNvSpPr txBox="1"/>
          <p:nvPr/>
        </p:nvSpPr>
        <p:spPr>
          <a:xfrm>
            <a:off x="411480" y="2029968"/>
            <a:ext cx="8321040" cy="658368"/>
          </a:xfrm>
          <a:prstGeom prst="rect">
            <a:avLst/>
          </a:prstGeom>
          <a:noFill/>
        </p:spPr>
        <p:txBody>
          <a:bodyPr wrap="square" lIns="36576" tIns="18288" rIns="36576" bIns="18288" anchor="t"/>
          <a:lstStyle/>
          <a:p>
            <a:pPr algn="l">
              <a:lnSpc>
                <a:spcPct val="108000"/>
              </a:lnSpc>
              <a:buNone/>
            </a:pPr>
            <a:r>
              <a:rPr lang="es-CL" sz="1250" dirty="0" b="1">
                <a:solidFill>
                  <a:srgbClr val="17375E"/>
                </a:solidFill>
                <a:latin typeface="Calibri"/>
                <a:cs typeface="Calibri"/>
              </a:rPr>
              <a:t>Celulosa Arauco y Constitución S.A.</a:t>
            </a:r>
            <a:r>
              <a:rPr lang="es-CL" sz="1250" dirty="0">
                <a:solidFill>
                  <a:srgbClr val="3A3A3A"/>
                </a:solidFill>
                <a:latin typeface="Calibri"/>
                <a:cs typeface="Calibri"/>
              </a:rPr>
              <a:t>, Negocio de Celulosa: cinco plantas en Chile (Arauco, Constitución, Licancel, Nueva Aldea y Valdivia) y una en Argentina. Sus procesos se ordenan en 21 macroprocesos bajo el </a:t>
            </a:r>
            <a:r>
              <a:rPr lang="es-CL" sz="1250" dirty="0" b="1">
                <a:solidFill>
                  <a:srgbClr val="3A3A3A"/>
                </a:solidFill>
                <a:latin typeface="Calibri"/>
                <a:cs typeface="Calibri"/>
              </a:rPr>
              <a:t>Modelo de Gestión Operacional (MGO)</a:t>
            </a:r>
            <a:r>
              <a:rPr lang="es-CL" sz="1250" dirty="0">
                <a:solidFill>
                  <a:srgbClr val="3A3A3A"/>
                </a:solidFill>
                <a:latin typeface="Calibri"/>
                <a:cs typeface="Calibri"/>
              </a:rPr>
              <a:t>.</a:t>
            </a:r>
          </a:p>
        </p:txBody>
      </p:sp>
      <p:pic>
        <p:nvPicPr>
          <p:cNvPr id="7" name="Captura mapa macroprocesos"/>
          <p:cNvPicPr>
            <a:picLocks noChangeAspect="1"/>
          </p:cNvPicPr>
          <p:nvPr/>
        </p:nvPicPr>
        <p:blipFill>
          <a:blip r:embed="rId10"/>
          <a:stretch>
            <a:fillRect/>
          </a:stretch>
        </p:blipFill>
        <p:spPr>
          <a:xfrm>
            <a:off x="411480" y="2788920"/>
            <a:ext cx="5760720" cy="2537978"/>
          </a:xfrm>
          <a:prstGeom prst="rect">
            <a:avLst/>
          </a:prstGeom>
        </p:spPr>
      </p:pic>
      <p:sp>
        <p:nvSpPr>
          <p:cNvPr id="8" name="Borde captura"/>
          <p:cNvSpPr/>
          <p:nvPr/>
        </p:nvSpPr>
        <p:spPr>
          <a:xfrm>
            <a:off x="411480" y="2788920"/>
            <a:ext cx="5760720" cy="2537978"/>
          </a:xfrm>
          <a:prstGeom prst="rect">
            <a:avLst/>
          </a:prstGeom>
          <a:noFill/>
          <a:ln w="9525">
            <a:solidFill>
              <a:srgbClr val="B8C6D9"/>
            </a:solidFill>
          </a:ln>
        </p:spPr>
        <p:txBody>
          <a:bodyPr/>
          <a:lstStyle/>
          <a:p>
            <a:endParaRPr lang="es-CL"/>
          </a:p>
        </p:txBody>
      </p:sp>
      <p:sp>
        <p:nvSpPr>
          <p:cNvPr id="9" name="Senal 1"/>
          <p:cNvSpPr/>
          <p:nvPr/>
        </p:nvSpPr>
        <p:spPr>
          <a:xfrm>
            <a:off x="3030977" y="3033479"/>
            <a:ext cx="499987" cy="570637"/>
          </a:xfrm>
          <a:prstGeom prst="rect">
            <a:avLst/>
          </a:prstGeom>
          <a:noFill/>
          <a:ln w="25400">
            <a:solidFill>
              <a:srgbClr val="17375E"/>
            </a:solidFill>
          </a:ln>
        </p:spPr>
        <p:txBody>
          <a:bodyPr/>
          <a:lstStyle/>
          <a:p>
            <a:endParaRPr lang="es-CL"/>
          </a:p>
        </p:txBody>
      </p:sp>
      <p:sp>
        <p:nvSpPr>
          <p:cNvPr id="10" name="Marca 1"/>
          <p:cNvSpPr/>
          <p:nvPr/>
        </p:nvSpPr>
        <p:spPr>
          <a:xfrm>
            <a:off x="3432209" y="2912778"/>
            <a:ext cx="219456" cy="219456"/>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1</a:t>
            </a:r>
          </a:p>
        </p:txBody>
      </p:sp>
      <p:sp>
        <p:nvSpPr>
          <p:cNvPr id="11" name="Senal 2"/>
          <p:cNvSpPr/>
          <p:nvPr/>
        </p:nvSpPr>
        <p:spPr>
          <a:xfrm>
            <a:off x="5389612" y="4718218"/>
            <a:ext cx="521726" cy="570637"/>
          </a:xfrm>
          <a:prstGeom prst="rect">
            <a:avLst/>
          </a:prstGeom>
          <a:noFill/>
          <a:ln w="25400">
            <a:solidFill>
              <a:srgbClr val="17375E"/>
            </a:solidFill>
          </a:ln>
        </p:spPr>
        <p:txBody>
          <a:bodyPr/>
          <a:lstStyle/>
          <a:p>
            <a:endParaRPr lang="es-CL"/>
          </a:p>
        </p:txBody>
      </p:sp>
      <p:sp>
        <p:nvSpPr>
          <p:cNvPr id="12" name="Marca 2"/>
          <p:cNvSpPr/>
          <p:nvPr/>
        </p:nvSpPr>
        <p:spPr>
          <a:xfrm>
            <a:off x="5812582" y="4597517"/>
            <a:ext cx="219456" cy="219456"/>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2</a:t>
            </a:r>
          </a:p>
        </p:txBody>
      </p:sp>
      <p:sp>
        <p:nvSpPr>
          <p:cNvPr id="13" name="Rotulo figura"/>
          <p:cNvSpPr txBox="1"/>
          <p:nvPr/>
        </p:nvSpPr>
        <p:spPr>
          <a:xfrm>
            <a:off x="411480" y="5363474"/>
            <a:ext cx="5760720" cy="237744"/>
          </a:xfrm>
          <a:prstGeom prst="rect">
            <a:avLst/>
          </a:prstGeom>
          <a:noFill/>
        </p:spPr>
        <p:txBody>
          <a:bodyPr wrap="square" lIns="36576" tIns="18288" rIns="36576" bIns="18288" anchor="ctr"/>
          <a:lstStyle/>
          <a:p>
            <a:pPr algn="l">
              <a:buNone/>
            </a:pPr>
            <a:r>
              <a:rPr lang="es-CL" sz="900" dirty="0" b="1">
                <a:solidFill>
                  <a:srgbClr val="17375E"/>
                </a:solidFill>
                <a:latin typeface="Calibri"/>
                <a:cs typeface="Calibri"/>
              </a:rPr>
              <a:t>Figura 1. </a:t>
            </a:r>
            <a:r>
              <a:rPr lang="es-CL" sz="900" dirty="0" i="1">
                <a:solidFill>
                  <a:srgbClr val="6B6B6B"/>
                </a:solidFill>
                <a:latin typeface="Calibri"/>
                <a:cs typeface="Calibri"/>
              </a:rPr>
              <a:t>Mapa de macroprocesos del Negocio de Celulosa según el MGO.</a:t>
            </a:r>
          </a:p>
        </p:txBody>
      </p:sp>
      <p:sp>
        <p:nvSpPr>
          <p:cNvPr id="14" name="Encabezado"/>
          <p:cNvSpPr txBox="1"/>
          <p:nvPr/>
        </p:nvSpPr>
        <p:spPr>
          <a:xfrm>
            <a:off x="6446520" y="2788920"/>
            <a:ext cx="2286000" cy="274320"/>
          </a:xfrm>
          <a:prstGeom prst="rect">
            <a:avLst/>
          </a:prstGeom>
          <a:noFill/>
        </p:spPr>
        <p:txBody>
          <a:bodyPr wrap="square" lIns="36576" tIns="18288" rIns="36576" bIns="18288" anchor="ctr"/>
          <a:lstStyle/>
          <a:p>
            <a:pPr algn="l">
              <a:buNone/>
            </a:pPr>
            <a:r>
              <a:rPr lang="es-CL" sz="1250" dirty="0" b="1">
                <a:solidFill>
                  <a:srgbClr val="1F497D"/>
                </a:solidFill>
                <a:latin typeface="Calibri"/>
                <a:cs typeface="Calibri"/>
              </a:rPr>
              <a:t>Unidad de estudio</a:t>
            </a:r>
          </a:p>
        </p:txBody>
      </p:sp>
      <p:sp>
        <p:nvSpPr>
          <p:cNvPr id="15" name="Ley marca 1"/>
          <p:cNvSpPr/>
          <p:nvPr/>
        </p:nvSpPr>
        <p:spPr>
          <a:xfrm>
            <a:off x="6446520" y="3145536"/>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1</a:t>
            </a:r>
          </a:p>
        </p:txBody>
      </p:sp>
      <p:sp>
        <p:nvSpPr>
          <p:cNvPr id="16" name="Ley texto 1"/>
          <p:cNvSpPr txBox="1"/>
          <p:nvPr/>
        </p:nvSpPr>
        <p:spPr>
          <a:xfrm>
            <a:off x="6720840" y="3127248"/>
            <a:ext cx="2011680" cy="598932"/>
          </a:xfrm>
          <a:prstGeom prst="rect">
            <a:avLst/>
          </a:prstGeom>
          <a:noFill/>
        </p:spPr>
        <p:txBody>
          <a:bodyPr wrap="square" lIns="36576" tIns="18288" rIns="36576" bIns="18288" anchor="t"/>
          <a:lstStyle/>
          <a:p>
            <a:pPr algn="l">
              <a:lnSpc>
                <a:spcPct val="105000"/>
              </a:lnSpc>
              <a:buNone/>
            </a:pPr>
            <a:r>
              <a:rPr lang="es-CL" sz="1050" dirty="0" b="1">
                <a:solidFill>
                  <a:srgbClr val="17375E"/>
                </a:solidFill>
                <a:latin typeface="Calibri"/>
                <a:cs typeface="Calibri"/>
              </a:rPr>
              <a:t>MP8 Gestión de Personas. </a:t>
            </a:r>
            <a:r>
              <a:rPr lang="es-CL" sz="1050" dirty="0">
                <a:solidFill>
                  <a:srgbClr val="3A3A3A"/>
                </a:solidFill>
                <a:latin typeface="Calibri"/>
                <a:cs typeface="Calibri"/>
              </a:rPr>
              <a:t>Transversal a los negocios de celulosa, madera y forestal.</a:t>
            </a:r>
          </a:p>
        </p:txBody>
      </p:sp>
      <p:sp>
        <p:nvSpPr>
          <p:cNvPr id="17" name="Ley marca 2"/>
          <p:cNvSpPr/>
          <p:nvPr/>
        </p:nvSpPr>
        <p:spPr>
          <a:xfrm>
            <a:off x="6446520" y="3854196"/>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2</a:t>
            </a:r>
          </a:p>
        </p:txBody>
      </p:sp>
      <p:sp>
        <p:nvSpPr>
          <p:cNvPr id="18" name="Ley texto 2"/>
          <p:cNvSpPr txBox="1"/>
          <p:nvPr/>
        </p:nvSpPr>
        <p:spPr>
          <a:xfrm>
            <a:off x="6720840" y="3835908"/>
            <a:ext cx="2011680" cy="598932"/>
          </a:xfrm>
          <a:prstGeom prst="rect">
            <a:avLst/>
          </a:prstGeom>
          <a:noFill/>
        </p:spPr>
        <p:txBody>
          <a:bodyPr wrap="square" lIns="36576" tIns="18288" rIns="36576" bIns="18288" anchor="t"/>
          <a:lstStyle/>
          <a:p>
            <a:pPr algn="l">
              <a:lnSpc>
                <a:spcPct val="105000"/>
              </a:lnSpc>
              <a:buNone/>
            </a:pPr>
            <a:r>
              <a:rPr lang="es-CL" sz="1050" dirty="0" b="1">
                <a:solidFill>
                  <a:srgbClr val="17375E"/>
                </a:solidFill>
                <a:latin typeface="Calibri"/>
                <a:cs typeface="Calibri"/>
              </a:rPr>
              <a:t>MP21 Servicios Generales. </a:t>
            </a:r>
            <a:r>
              <a:rPr lang="es-CL" sz="1050" dirty="0">
                <a:solidFill>
                  <a:srgbClr val="3A3A3A"/>
                </a:solidFill>
                <a:latin typeface="Calibri"/>
                <a:cs typeface="Calibri"/>
              </a:rPr>
              <a:t>Soporte; transversal a celulosa y forestal.</a:t>
            </a:r>
          </a:p>
        </p:txBody>
      </p:sp>
      <p:sp>
        <p:nvSpPr>
          <p:cNvPr id="19" name="Unidad"/>
          <p:cNvSpPr txBox="1"/>
          <p:nvPr/>
        </p:nvSpPr>
        <p:spPr>
          <a:xfrm>
            <a:off x="6446520" y="4617720"/>
            <a:ext cx="2286000" cy="1097280"/>
          </a:xfrm>
          <a:prstGeom prst="rect">
            <a:avLst/>
          </a:prstGeom>
          <a:noFill/>
        </p:spPr>
        <p:txBody>
          <a:bodyPr wrap="square" lIns="36576" tIns="18288" rIns="36576" bIns="18288" anchor="t"/>
          <a:lstStyle/>
          <a:p>
            <a:pPr algn="l">
              <a:lnSpc>
                <a:spcPct val="105000"/>
              </a:lnSpc>
              <a:buNone/>
            </a:pPr>
            <a:r>
              <a:rPr lang="es-CL" sz="1050" dirty="0" b="1">
                <a:solidFill>
                  <a:srgbClr val="17375E"/>
                </a:solidFill>
                <a:latin typeface="Calibri"/>
                <a:cs typeface="Calibri"/>
              </a:rPr>
              <a:t>Unidad de análisis: </a:t>
            </a:r>
            <a:r>
              <a:rPr lang="es-CL" sz="1050" dirty="0">
                <a:solidFill>
                  <a:srgbClr val="3A3A3A"/>
                </a:solidFill>
                <a:latin typeface="Calibri"/>
                <a:cs typeface="Calibri"/>
              </a:rPr>
              <a:t>el nivel corporativo que diseña ambos macroprocesos para el conjunto de las plantas.</a:t>
            </a:r>
          </a:p>
        </p:txBody>
      </p:sp>
      <p:sp>
        <p:nvSpPr>
          <p:cNvPr id="20"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Fuente: elaboración propia sobre el mapa de macroprocesos de los manuales MP8 y MP21 (v1) y la sección 1.5 del informe.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Problema (2 de 2) · Descripción y relevancia</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4</a:t>
            </a:r>
          </a:p>
        </p:txBody>
      </p:sp>
      <p:sp>
        <p:nvSpPr>
          <p:cNvPr id="6" name="Encabezado"/>
          <p:cNvSpPr txBox="1"/>
          <p:nvPr/>
        </p:nvSpPr>
        <p:spPr>
          <a:xfrm>
            <a:off x="411480" y="2029968"/>
            <a:ext cx="8321040" cy="274320"/>
          </a:xfrm>
          <a:prstGeom prst="rect">
            <a:avLst/>
          </a:prstGeom>
          <a:noFill/>
        </p:spPr>
        <p:txBody>
          <a:bodyPr wrap="square" lIns="36576" tIns="18288" rIns="36576" bIns="18288" anchor="ctr"/>
          <a:lstStyle/>
          <a:p>
            <a:pPr algn="l">
              <a:buNone/>
            </a:pPr>
            <a:r>
              <a:rPr lang="es-CL" sz="1300" dirty="0" b="1">
                <a:solidFill>
                  <a:srgbClr val="1F497D"/>
                </a:solidFill>
                <a:latin typeface="Calibri"/>
                <a:cs typeface="Calibri"/>
              </a:rPr>
              <a:t>Descripción del problema</a:t>
            </a:r>
          </a:p>
        </p:txBody>
      </p:sp>
      <p:sp>
        <p:nvSpPr>
          <p:cNvPr id="7" name="Problema"/>
          <p:cNvSpPr txBox="1"/>
          <p:nvPr/>
        </p:nvSpPr>
        <p:spPr>
          <a:xfrm>
            <a:off x="411480" y="2322576"/>
            <a:ext cx="8321040" cy="640080"/>
          </a:xfrm>
          <a:prstGeom prst="rect">
            <a:avLst/>
          </a:prstGeom>
          <a:noFill/>
        </p:spPr>
        <p:txBody>
          <a:bodyPr wrap="square" lIns="36576" tIns="18288" rIns="36576" bIns="18288" anchor="t"/>
          <a:lstStyle/>
          <a:p>
            <a:pPr algn="l">
              <a:lnSpc>
                <a:spcPct val="108000"/>
              </a:lnSpc>
              <a:buNone/>
            </a:pPr>
            <a:r>
              <a:rPr lang="es-CL" sz="1200" dirty="0">
                <a:solidFill>
                  <a:srgbClr val="3A3A3A"/>
                </a:solidFill>
                <a:latin typeface="Calibri"/>
                <a:cs typeface="Calibri"/>
              </a:rPr>
              <a:t>MP8 y MP21 operan sin un sistema de gestión de riesgos estructurado y sin una arquitectura de procesos formalizada bajo el MGO, lo que limita la trazabilidad de responsabilidades y la gestión de sus riesgos operacionales.</a:t>
            </a:r>
          </a:p>
        </p:txBody>
      </p:sp>
      <p:sp>
        <p:nvSpPr>
          <p:cNvPr id="8" name="Carencia num 1"/>
          <p:cNvSpPr txBox="1"/>
          <p:nvPr/>
        </p:nvSpPr>
        <p:spPr>
          <a:xfrm>
            <a:off x="411480" y="2980944"/>
            <a:ext cx="329184" cy="274320"/>
          </a:xfrm>
          <a:prstGeom prst="rect">
            <a:avLst/>
          </a:prstGeom>
          <a:noFill/>
        </p:spPr>
        <p:txBody>
          <a:bodyPr wrap="square" lIns="36576" tIns="18288" rIns="36576" bIns="18288" anchor="ctr"/>
          <a:lstStyle/>
          <a:p>
            <a:pPr algn="l">
              <a:buNone/>
            </a:pPr>
            <a:r>
              <a:rPr lang="es-CL" sz="1300" dirty="0" b="1">
                <a:solidFill>
                  <a:srgbClr val="4F81BD"/>
                </a:solidFill>
                <a:latin typeface="Calibri"/>
                <a:cs typeface="Calibri"/>
              </a:rPr>
              <a:t>1</a:t>
            </a:r>
          </a:p>
        </p:txBody>
      </p:sp>
      <p:sp>
        <p:nvSpPr>
          <p:cNvPr id="9" name="Carencia 1"/>
          <p:cNvSpPr txBox="1"/>
          <p:nvPr/>
        </p:nvSpPr>
        <p:spPr>
          <a:xfrm>
            <a:off x="777240" y="2980944"/>
            <a:ext cx="7955280" cy="274320"/>
          </a:xfrm>
          <a:prstGeom prst="rect">
            <a:avLst/>
          </a:prstGeom>
          <a:noFill/>
        </p:spPr>
        <p:txBody>
          <a:bodyPr wrap="square" lIns="36576" tIns="18288" rIns="36576" bIns="18288" anchor="ctr"/>
          <a:lstStyle/>
          <a:p>
            <a:pPr algn="l">
              <a:buNone/>
            </a:pPr>
            <a:r>
              <a:rPr lang="es-CL" sz="1150" dirty="0" b="1">
                <a:solidFill>
                  <a:srgbClr val="17375E"/>
                </a:solidFill>
                <a:latin typeface="Calibri"/>
                <a:cs typeface="Calibri"/>
              </a:rPr>
              <a:t>Sin arquitectura formalizada </a:t>
            </a:r>
            <a:r>
              <a:rPr lang="es-CL" sz="1150" dirty="0">
                <a:solidFill>
                  <a:srgbClr val="3A3A3A"/>
                </a:solidFill>
                <a:latin typeface="Calibri"/>
                <a:cs typeface="Calibri"/>
              </a:rPr>
              <a:t>en los niveles del MGO, que sirva de base para analizar los riesgos.</a:t>
            </a:r>
          </a:p>
        </p:txBody>
      </p:sp>
      <p:sp>
        <p:nvSpPr>
          <p:cNvPr id="10" name="Carencia num 2"/>
          <p:cNvSpPr txBox="1"/>
          <p:nvPr/>
        </p:nvSpPr>
        <p:spPr>
          <a:xfrm>
            <a:off x="411480" y="3310128"/>
            <a:ext cx="329184" cy="274320"/>
          </a:xfrm>
          <a:prstGeom prst="rect">
            <a:avLst/>
          </a:prstGeom>
          <a:noFill/>
        </p:spPr>
        <p:txBody>
          <a:bodyPr wrap="square" lIns="36576" tIns="18288" rIns="36576" bIns="18288" anchor="ctr"/>
          <a:lstStyle/>
          <a:p>
            <a:pPr algn="l">
              <a:buNone/>
            </a:pPr>
            <a:r>
              <a:rPr lang="es-CL" sz="1300" dirty="0" b="1">
                <a:solidFill>
                  <a:srgbClr val="4F81BD"/>
                </a:solidFill>
                <a:latin typeface="Calibri"/>
                <a:cs typeface="Calibri"/>
              </a:rPr>
              <a:t>2</a:t>
            </a:r>
          </a:p>
        </p:txBody>
      </p:sp>
      <p:sp>
        <p:nvSpPr>
          <p:cNvPr id="11" name="Carencia 2"/>
          <p:cNvSpPr txBox="1"/>
          <p:nvPr/>
        </p:nvSpPr>
        <p:spPr>
          <a:xfrm>
            <a:off x="777240" y="3310128"/>
            <a:ext cx="7955280" cy="274320"/>
          </a:xfrm>
          <a:prstGeom prst="rect">
            <a:avLst/>
          </a:prstGeom>
          <a:noFill/>
        </p:spPr>
        <p:txBody>
          <a:bodyPr wrap="square" lIns="36576" tIns="18288" rIns="36576" bIns="18288" anchor="ctr"/>
          <a:lstStyle/>
          <a:p>
            <a:pPr algn="l">
              <a:buNone/>
            </a:pPr>
            <a:r>
              <a:rPr lang="es-CL" sz="1150" dirty="0" b="1">
                <a:solidFill>
                  <a:srgbClr val="17375E"/>
                </a:solidFill>
                <a:latin typeface="Calibri"/>
                <a:cs typeface="Calibri"/>
              </a:rPr>
              <a:t>Sin evaluación estructurada </a:t>
            </a:r>
            <a:r>
              <a:rPr lang="es-CL" sz="1150" dirty="0">
                <a:solidFill>
                  <a:srgbClr val="3A3A3A"/>
                </a:solidFill>
                <a:latin typeface="Calibri"/>
                <a:cs typeface="Calibri"/>
              </a:rPr>
              <a:t>de los riesgos operacionales de las tareas.</a:t>
            </a:r>
          </a:p>
        </p:txBody>
      </p:sp>
      <p:sp>
        <p:nvSpPr>
          <p:cNvPr id="12" name="Carencia num 3"/>
          <p:cNvSpPr txBox="1"/>
          <p:nvPr/>
        </p:nvSpPr>
        <p:spPr>
          <a:xfrm>
            <a:off x="411480" y="3639312"/>
            <a:ext cx="329184" cy="274320"/>
          </a:xfrm>
          <a:prstGeom prst="rect">
            <a:avLst/>
          </a:prstGeom>
          <a:noFill/>
        </p:spPr>
        <p:txBody>
          <a:bodyPr wrap="square" lIns="36576" tIns="18288" rIns="36576" bIns="18288" anchor="ctr"/>
          <a:lstStyle/>
          <a:p>
            <a:pPr algn="l">
              <a:buNone/>
            </a:pPr>
            <a:r>
              <a:rPr lang="es-CL" sz="1300" dirty="0" b="1">
                <a:solidFill>
                  <a:srgbClr val="4F81BD"/>
                </a:solidFill>
                <a:latin typeface="Calibri"/>
                <a:cs typeface="Calibri"/>
              </a:rPr>
              <a:t>3</a:t>
            </a:r>
          </a:p>
        </p:txBody>
      </p:sp>
      <p:sp>
        <p:nvSpPr>
          <p:cNvPr id="13" name="Carencia 3"/>
          <p:cNvSpPr txBox="1"/>
          <p:nvPr/>
        </p:nvSpPr>
        <p:spPr>
          <a:xfrm>
            <a:off x="777240" y="3639312"/>
            <a:ext cx="7955280" cy="274320"/>
          </a:xfrm>
          <a:prstGeom prst="rect">
            <a:avLst/>
          </a:prstGeom>
          <a:noFill/>
        </p:spPr>
        <p:txBody>
          <a:bodyPr wrap="square" lIns="36576" tIns="18288" rIns="36576" bIns="18288" anchor="ctr"/>
          <a:lstStyle/>
          <a:p>
            <a:pPr algn="l">
              <a:buNone/>
            </a:pPr>
            <a:r>
              <a:rPr lang="es-CL" sz="1150" dirty="0" b="1">
                <a:solidFill>
                  <a:srgbClr val="17375E"/>
                </a:solidFill>
                <a:latin typeface="Calibri"/>
                <a:cs typeface="Calibri"/>
              </a:rPr>
              <a:t>Sin un sistema que integre </a:t>
            </a:r>
            <a:r>
              <a:rPr lang="es-CL" sz="1150" dirty="0">
                <a:solidFill>
                  <a:srgbClr val="3A3A3A"/>
                </a:solidFill>
                <a:latin typeface="Calibri"/>
                <a:cs typeface="Calibri"/>
              </a:rPr>
              <a:t>riesgos, planes de mitigación, responsables y monitoreo.</a:t>
            </a:r>
          </a:p>
        </p:txBody>
      </p:sp>
      <p:sp>
        <p:nvSpPr>
          <p:cNvPr id="14" name="Regla"/>
          <p:cNvSpPr/>
          <p:nvPr/>
        </p:nvSpPr>
        <p:spPr>
          <a:xfrm>
            <a:off x="411480" y="4041648"/>
            <a:ext cx="8321040" cy="12802"/>
          </a:xfrm>
          <a:prstGeom prst="rect">
            <a:avLst/>
          </a:prstGeom>
          <a:solidFill>
            <a:srgbClr val="B8C6D9"/>
          </a:solidFill>
          <a:ln>
            <a:noFill/>
          </a:ln>
        </p:spPr>
        <p:txBody>
          <a:bodyPr/>
          <a:lstStyle/>
          <a:p>
            <a:endParaRPr lang="es-CL"/>
          </a:p>
        </p:txBody>
      </p:sp>
      <p:sp>
        <p:nvSpPr>
          <p:cNvPr id="15" name="Encabezado"/>
          <p:cNvSpPr txBox="1"/>
          <p:nvPr/>
        </p:nvSpPr>
        <p:spPr>
          <a:xfrm>
            <a:off x="411480" y="4151376"/>
            <a:ext cx="8321040" cy="274320"/>
          </a:xfrm>
          <a:prstGeom prst="rect">
            <a:avLst/>
          </a:prstGeom>
          <a:noFill/>
        </p:spPr>
        <p:txBody>
          <a:bodyPr wrap="square" lIns="36576" tIns="18288" rIns="36576" bIns="18288" anchor="ctr"/>
          <a:lstStyle/>
          <a:p>
            <a:pPr algn="l">
              <a:buNone/>
            </a:pPr>
            <a:r>
              <a:rPr lang="es-CL" sz="1300" dirty="0" b="1">
                <a:solidFill>
                  <a:srgbClr val="1F497D"/>
                </a:solidFill>
                <a:latin typeface="Calibri"/>
                <a:cs typeface="Calibri"/>
              </a:rPr>
              <a:t>Relevancia para la gestión de la calidad</a:t>
            </a:r>
          </a:p>
        </p:txBody>
      </p:sp>
      <p:sp>
        <p:nvSpPr>
          <p:cNvPr id="16" name="Relevancia 1"/>
          <p:cNvSpPr txBox="1"/>
          <p:nvPr/>
        </p:nvSpPr>
        <p:spPr>
          <a:xfrm>
            <a:off x="411480" y="4462272"/>
            <a:ext cx="4023360" cy="1481328"/>
          </a:xfrm>
          <a:prstGeom prst="rect">
            <a:avLst/>
          </a:prstGeom>
          <a:noFill/>
        </p:spPr>
        <p:txBody>
          <a:bodyPr wrap="square" lIns="36576" tIns="18288" rIns="36576" bIns="18288" anchor="t"/>
          <a:lstStyle/>
          <a:p>
            <a:pPr algn="l">
              <a:lnSpc>
                <a:spcPct val="108000"/>
              </a:lnSpc>
              <a:buNone/>
            </a:pPr>
            <a:r>
              <a:rPr lang="es-CL" sz="1100" dirty="0">
                <a:solidFill>
                  <a:srgbClr val="3A3A3A"/>
                </a:solidFill>
                <a:latin typeface="Calibri"/>
                <a:cs typeface="Calibri"/>
              </a:rPr>
              <a:t>La arquitectura de procesos es la condición previa para gestionar riesgos: ordena actividades dispersas y les asigna responsables trazables (Davenport, 1993; Teixeira et al., 2024).</a:t>
            </a:r>
          </a:p>
          <a:p>
            <a:pPr algn="l">
              <a:lnSpc>
                <a:spcPct val="108000"/>
              </a:lnSpc>
              <a:spcBef>
                <a:spcPts val="600"/>
              </a:spcBef>
              <a:buNone/>
            </a:pPr>
            <a:r>
              <a:rPr lang="es-CL" sz="1100" dirty="0">
                <a:solidFill>
                  <a:srgbClr val="3A3A3A"/>
                </a:solidFill>
                <a:latin typeface="Calibri"/>
                <a:cs typeface="Calibri"/>
              </a:rPr>
              <a:t>Un sistema sustentado en esa arquitectura puede replicarse en las cinco plantas y homogeneizar la gestión.</a:t>
            </a:r>
          </a:p>
        </p:txBody>
      </p:sp>
      <p:sp>
        <p:nvSpPr>
          <p:cNvPr id="17" name="Relevancia 2"/>
          <p:cNvSpPr txBox="1"/>
          <p:nvPr/>
        </p:nvSpPr>
        <p:spPr>
          <a:xfrm>
            <a:off x="4636008" y="4462272"/>
            <a:ext cx="4096512" cy="1481328"/>
          </a:xfrm>
          <a:prstGeom prst="rect">
            <a:avLst/>
          </a:prstGeom>
          <a:noFill/>
        </p:spPr>
        <p:txBody>
          <a:bodyPr wrap="square" lIns="36576" tIns="18288" rIns="36576" bIns="18288" anchor="t"/>
          <a:lstStyle/>
          <a:p>
            <a:pPr algn="l">
              <a:lnSpc>
                <a:spcPct val="108000"/>
              </a:lnSpc>
              <a:buNone/>
            </a:pPr>
            <a:r>
              <a:rPr lang="es-CL" sz="1100" dirty="0" b="1">
                <a:solidFill>
                  <a:srgbClr val="17375E"/>
                </a:solidFill>
                <a:latin typeface="Calibri"/>
                <a:cs typeface="Calibri"/>
              </a:rPr>
              <a:t>Evidencia externa, no proyectable al caso: </a:t>
            </a:r>
            <a:r>
              <a:rPr lang="es-CL" sz="1100" dirty="0">
                <a:solidFill>
                  <a:srgbClr val="3A3A3A"/>
                </a:solidFill>
                <a:latin typeface="Calibri"/>
                <a:cs typeface="Calibri"/>
              </a:rPr>
              <a:t>la adopción de ERM se asocia a una prima de valoración cercana al 20 % en aseguradoras (Hoyt y Liebenberg, 2011) y su madurez a una mayor Q de Tobin, del orden de 25 % (Farrell y Gallagher, 2015).</a:t>
            </a:r>
          </a:p>
        </p:txBody>
      </p:sp>
      <p:sp>
        <p:nvSpPr>
          <p:cNvPr id="18" name="Regla vertical"/>
          <p:cNvSpPr/>
          <p:nvPr/>
        </p:nvSpPr>
        <p:spPr>
          <a:xfrm>
            <a:off x="4526280" y="4498848"/>
            <a:ext cx="12802" cy="1371600"/>
          </a:xfrm>
          <a:prstGeom prst="rect">
            <a:avLst/>
          </a:prstGeom>
          <a:solidFill>
            <a:srgbClr val="B8C6D9"/>
          </a:solidFill>
          <a:ln>
            <a:noFill/>
          </a:ln>
        </p:spPr>
        <p:txBody>
          <a:bodyPr/>
          <a:lstStyle/>
          <a:p>
            <a:endParaRPr lang="es-CL"/>
          </a:p>
        </p:txBody>
      </p:sp>
      <p:sp>
        <p:nvSpPr>
          <p:cNvPr id="19"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Fuente: secciones 1.2 y 1.3 del informe de avance.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Marco teórico (1 de 2) · Qué dice la teoría</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5</a:t>
            </a:r>
          </a:p>
        </p:txBody>
      </p:sp>
      <p:sp>
        <p:nvSpPr>
          <p:cNvPr id="6" name="Bajada"/>
          <p:cNvSpPr txBox="1"/>
          <p:nvPr/>
        </p:nvSpPr>
        <p:spPr>
          <a:xfrm>
            <a:off x="411480" y="2029968"/>
            <a:ext cx="8321040" cy="402336"/>
          </a:xfrm>
          <a:prstGeom prst="rect">
            <a:avLst/>
          </a:prstGeom>
          <a:noFill/>
        </p:spPr>
        <p:txBody>
          <a:bodyPr wrap="square" lIns="36576" tIns="18288" rIns="36576" bIns="18288" anchor="ctr"/>
          <a:lstStyle/>
          <a:p>
            <a:pPr algn="l">
              <a:buNone/>
            </a:pPr>
            <a:r>
              <a:rPr lang="es-CL" sz="1150" dirty="0">
                <a:solidFill>
                  <a:srgbClr val="3A3A3A"/>
                </a:solidFill>
                <a:latin typeface="Calibri"/>
                <a:cs typeface="Calibri"/>
              </a:rPr>
              <a:t>Gestión por procesos y gestión de riesgos operan como disciplinas complementarias: primero se ordena el proceso y luego se gestionan sus riesgos.</a:t>
            </a:r>
          </a:p>
        </p:txBody>
      </p:sp>
      <p:graphicFrame>
        <p:nvGraphicFramePr>
          <p:cNvPr id="7" name="Tabla marco"/>
          <p:cNvGraphicFramePr>
            <a:graphicFrameLocks noGrp="1"/>
          </p:cNvGraphicFramePr>
          <p:nvPr/>
        </p:nvGraphicFramePr>
        <p:xfrm>
          <a:off x="411480" y="2487168"/>
          <a:ext cx="8321040" cy="3346704"/>
        </p:xfrm>
        <a:graphic>
          <a:graphicData uri="http://schemas.openxmlformats.org/drawingml/2006/table">
            <a:tbl>
              <a:tblPr firstRow="0" bandRow="0">
                <a:tableStyleId>{5940675A-B579-460E-94D1-54222C63F5DA}</a:tableStyleId>
              </a:tblPr>
              <a:tblGrid>
                <a:gridCol w="1920240"/>
                <a:gridCol w="4297680"/>
                <a:gridCol w="2103120"/>
              </a:tblGrid>
              <a:tr h="329184">
                <a:tc>
                  <a:txBody>
                    <a:bodyPr/>
                    <a:lstStyle/>
                    <a:p>
                      <a:pPr algn="l">
                        <a:buNone/>
                      </a:pPr>
                      <a:r>
                        <a:rPr lang="es-CL" sz="1050" dirty="0" b="1">
                          <a:solidFill>
                            <a:srgbClr val="17375E"/>
                          </a:solidFill>
                          <a:latin typeface="Calibri"/>
                          <a:cs typeface="Calibri"/>
                        </a:rPr>
                        <a:t>Concepto</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50" dirty="0" b="1">
                          <a:solidFill>
                            <a:srgbClr val="17375E"/>
                          </a:solidFill>
                          <a:latin typeface="Calibri"/>
                          <a:cs typeface="Calibri"/>
                        </a:rPr>
                        <a:t>Aporte al trabajo</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50" dirty="0" b="1">
                          <a:solidFill>
                            <a:srgbClr val="17375E"/>
                          </a:solidFill>
                          <a:latin typeface="Calibri"/>
                          <a:cs typeface="Calibri"/>
                        </a:rPr>
                        <a:t>Fuente</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r>
              <a:tr h="603504">
                <a:tc>
                  <a:txBody>
                    <a:bodyPr/>
                    <a:lstStyle/>
                    <a:p>
                      <a:pPr algn="l">
                        <a:buNone/>
                      </a:pPr>
                      <a:r>
                        <a:rPr lang="es-CL" sz="1050" dirty="0" b="1">
                          <a:solidFill>
                            <a:srgbClr val="17375E"/>
                          </a:solidFill>
                          <a:latin typeface="Calibri"/>
                          <a:cs typeface="Calibri"/>
                        </a:rPr>
                        <a:t>Gestión por procesos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Ordena las actividades en flujos que cruzan las áreas y aporta trazabilidad y control.</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50" dirty="0">
                          <a:solidFill>
                            <a:srgbClr val="6B6B6B"/>
                          </a:solidFill>
                          <a:latin typeface="Calibri"/>
                          <a:cs typeface="Calibri"/>
                        </a:rPr>
                        <a:t>Davenport (1993); Teixeira et al. (2024)</a:t>
                      </a:r>
                    </a:p>
                  </a:txBody>
                  <a:tcPr marL="45720" marR="45720" marT="18288" marB="18288" anchor="ctr">
                    <a:lnL>
                      <a:noFill/>
                    </a:lnL>
                    <a:lnR>
                      <a:noFill/>
                    </a:lnR>
                    <a:lnT>
                      <a:noFill/>
                    </a:lnT>
                    <a:lnB w="6350" cap="flat" cmpd="sng" algn="ctr">
                      <a:solidFill>
                        <a:srgbClr val="B8C6D9"/>
                      </a:solidFill>
                      <a:prstDash val="solid"/>
                    </a:lnB>
                    <a:noFill/>
                  </a:tcPr>
                </a:tc>
              </a:tr>
              <a:tr h="603504">
                <a:tc>
                  <a:txBody>
                    <a:bodyPr/>
                    <a:lstStyle/>
                    <a:p>
                      <a:pPr algn="l">
                        <a:buNone/>
                      </a:pPr>
                      <a:r>
                        <a:rPr lang="es-CL" sz="1050" dirty="0" b="1">
                          <a:solidFill>
                            <a:srgbClr val="17375E"/>
                          </a:solidFill>
                          <a:latin typeface="Calibri"/>
                          <a:cs typeface="Calibri"/>
                        </a:rPr>
                        <a:t>Marco de referencia</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El APQC PCF clasifica procesos con un lenguaje común y permite contrastar lo que debería existir con lo documentado.</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50" dirty="0">
                          <a:solidFill>
                            <a:srgbClr val="6B6B6B"/>
                          </a:solidFill>
                          <a:latin typeface="Calibri"/>
                          <a:cs typeface="Calibri"/>
                        </a:rPr>
                        <a:t>APQC (2023)</a:t>
                      </a:r>
                    </a:p>
                  </a:txBody>
                  <a:tcPr marL="45720" marR="45720" marT="18288" marB="18288" anchor="ctr">
                    <a:lnL>
                      <a:noFill/>
                    </a:lnL>
                    <a:lnR>
                      <a:noFill/>
                    </a:lnR>
                    <a:lnT>
                      <a:noFill/>
                    </a:lnT>
                    <a:lnB w="6350" cap="flat" cmpd="sng" algn="ctr">
                      <a:solidFill>
                        <a:srgbClr val="B8C6D9"/>
                      </a:solidFill>
                      <a:prstDash val="solid"/>
                    </a:lnB>
                    <a:noFill/>
                  </a:tcPr>
                </a:tc>
              </a:tr>
              <a:tr h="603504">
                <a:tc>
                  <a:txBody>
                    <a:bodyPr/>
                    <a:lstStyle/>
                    <a:p>
                      <a:pPr algn="l">
                        <a:buNone/>
                      </a:pPr>
                      <a:r>
                        <a:rPr lang="es-CL" sz="1050" dirty="0" b="1">
                          <a:solidFill>
                            <a:srgbClr val="17375E"/>
                          </a:solidFill>
                          <a:latin typeface="Calibri"/>
                          <a:cs typeface="Calibri"/>
                        </a:rPr>
                        <a:t>Madurez operativa</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Describe la progresión desde procesos informales hasta procesos definidos y gestionados con datos.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50" dirty="0">
                          <a:solidFill>
                            <a:srgbClr val="6B6B6B"/>
                          </a:solidFill>
                          <a:latin typeface="Calibri"/>
                          <a:cs typeface="Calibri"/>
                        </a:rPr>
                        <a:t>SEI (2010); Szelągowski y Berniak-Woźny (2022)</a:t>
                      </a:r>
                    </a:p>
                  </a:txBody>
                  <a:tcPr marL="45720" marR="45720" marT="18288" marB="18288" anchor="ctr">
                    <a:lnL>
                      <a:noFill/>
                    </a:lnL>
                    <a:lnR>
                      <a:noFill/>
                    </a:lnR>
                    <a:lnT>
                      <a:noFill/>
                    </a:lnT>
                    <a:lnB w="6350" cap="flat" cmpd="sng" algn="ctr">
                      <a:solidFill>
                        <a:srgbClr val="B8C6D9"/>
                      </a:solidFill>
                      <a:prstDash val="solid"/>
                    </a:lnB>
                    <a:noFill/>
                  </a:tcPr>
                </a:tc>
              </a:tr>
              <a:tr h="603504">
                <a:tc>
                  <a:txBody>
                    <a:bodyPr/>
                    <a:lstStyle/>
                    <a:p>
                      <a:pPr algn="l">
                        <a:buNone/>
                      </a:pPr>
                      <a:r>
                        <a:rPr lang="es-CL" sz="1050" dirty="0" b="1">
                          <a:solidFill>
                            <a:srgbClr val="17375E"/>
                          </a:solidFill>
                          <a:latin typeface="Calibri"/>
                          <a:cs typeface="Calibri"/>
                        </a:rPr>
                        <a:t>ERM y COSO II</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Ciclo de identificación de eventos, evaluación y respuesta al riesgo, aplicable en el nivel de tarea.</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50" dirty="0">
                          <a:solidFill>
                            <a:srgbClr val="6B6B6B"/>
                          </a:solidFill>
                          <a:latin typeface="Calibri"/>
                          <a:cs typeface="Calibri"/>
                        </a:rPr>
                        <a:t>COSO (2004, 2017); Anton y Nucu (2020)</a:t>
                      </a:r>
                    </a:p>
                  </a:txBody>
                  <a:tcPr marL="45720" marR="45720" marT="18288" marB="18288" anchor="ctr">
                    <a:lnL>
                      <a:noFill/>
                    </a:lnL>
                    <a:lnR>
                      <a:noFill/>
                    </a:lnR>
                    <a:lnT>
                      <a:noFill/>
                    </a:lnT>
                    <a:lnB w="6350" cap="flat" cmpd="sng" algn="ctr">
                      <a:solidFill>
                        <a:srgbClr val="B8C6D9"/>
                      </a:solidFill>
                      <a:prstDash val="solid"/>
                    </a:lnB>
                    <a:noFill/>
                  </a:tcPr>
                </a:tc>
              </a:tr>
              <a:tr h="603504">
                <a:tc>
                  <a:txBody>
                    <a:bodyPr/>
                    <a:lstStyle/>
                    <a:p>
                      <a:pPr algn="l">
                        <a:buNone/>
                      </a:pPr>
                      <a:r>
                        <a:rPr lang="es-CL" sz="1050" dirty="0" b="1">
                          <a:solidFill>
                            <a:srgbClr val="17375E"/>
                          </a:solidFill>
                          <a:latin typeface="Calibri"/>
                          <a:cs typeface="Calibri"/>
                        </a:rPr>
                        <a:t>Sistema de gestión de riesgos</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1050" dirty="0">
                          <a:solidFill>
                            <a:srgbClr val="3A3A3A"/>
                          </a:solidFill>
                          <a:latin typeface="Calibri"/>
                          <a:cs typeface="Calibri"/>
                        </a:rPr>
                        <a:t>Integra la valoración con el tratamiento, la gobernanza y el seguimiento; se distingue de un catálogo.</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950" dirty="0">
                          <a:solidFill>
                            <a:srgbClr val="6B6B6B"/>
                          </a:solidFill>
                          <a:latin typeface="Calibri"/>
                          <a:cs typeface="Calibri"/>
                        </a:rPr>
                        <a:t>COSO (2017)</a:t>
                      </a:r>
                    </a:p>
                  </a:txBody>
                  <a:tcPr marL="45720" marR="45720" marT="18288" marB="18288" anchor="ctr">
                    <a:lnL>
                      <a:noFill/>
                    </a:lnL>
                    <a:lnR>
                      <a:noFill/>
                    </a:lnR>
                    <a:lnT>
                      <a:noFill/>
                    </a:lnT>
                    <a:lnB w="15875" cap="flat" cmpd="sng" algn="ctr">
                      <a:solidFill>
                        <a:srgbClr val="17375E"/>
                      </a:solidFill>
                      <a:prstDash val="solid"/>
                    </a:lnB>
                    <a:noFill/>
                  </a:tcPr>
                </a:tc>
              </a:tr>
            </a:tbl>
          </a:graphicData>
        </a:graphic>
      </p:graphicFrame>
      <p:sp>
        <p:nvSpPr>
          <p:cNvPr id="8"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Fuente: sección 1.4 del informe de avance. Referencias completas en normas APA en el informe.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Marco teórico (2 de 2) · Qué se ha hecho en la práctica</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6</a:t>
            </a:r>
          </a:p>
        </p:txBody>
      </p:sp>
      <p:graphicFrame>
        <p:nvGraphicFramePr>
          <p:cNvPr id="6" name="Tabla practica"/>
          <p:cNvGraphicFramePr>
            <a:graphicFrameLocks noGrp="1"/>
          </p:cNvGraphicFramePr>
          <p:nvPr/>
        </p:nvGraphicFramePr>
        <p:xfrm>
          <a:off x="411480" y="2029968"/>
          <a:ext cx="8321040" cy="3072384"/>
        </p:xfrm>
        <a:graphic>
          <a:graphicData uri="http://schemas.openxmlformats.org/drawingml/2006/table">
            <a:tbl>
              <a:tblPr firstRow="0" bandRow="0">
                <a:tableStyleId>{5940675A-B579-460E-94D1-54222C63F5DA}</a:tableStyleId>
              </a:tblPr>
              <a:tblGrid>
                <a:gridCol w="1965960"/>
                <a:gridCol w="2331720"/>
                <a:gridCol w="4023360"/>
              </a:tblGrid>
              <a:tr h="329184">
                <a:tc>
                  <a:txBody>
                    <a:bodyPr/>
                    <a:lstStyle/>
                    <a:p>
                      <a:pPr algn="l">
                        <a:buNone/>
                      </a:pPr>
                      <a:r>
                        <a:rPr lang="es-CL" sz="1050" dirty="0" b="1">
                          <a:solidFill>
                            <a:srgbClr val="17375E"/>
                          </a:solidFill>
                          <a:latin typeface="Calibri"/>
                          <a:cs typeface="Calibri"/>
                        </a:rPr>
                        <a:t>Estudio</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50" dirty="0" b="1">
                          <a:solidFill>
                            <a:srgbClr val="17375E"/>
                          </a:solidFill>
                          <a:latin typeface="Calibri"/>
                          <a:cs typeface="Calibri"/>
                        </a:rPr>
                        <a:t>Contexto</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50" dirty="0" b="1">
                          <a:solidFill>
                            <a:srgbClr val="17375E"/>
                          </a:solidFill>
                          <a:latin typeface="Calibri"/>
                          <a:cs typeface="Calibri"/>
                        </a:rPr>
                        <a:t>Hallazgo</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r>
              <a:tr h="457200">
                <a:tc>
                  <a:txBody>
                    <a:bodyPr/>
                    <a:lstStyle/>
                    <a:p>
                      <a:pPr algn="l">
                        <a:buNone/>
                      </a:pPr>
                      <a:r>
                        <a:rPr lang="es-CL" sz="1050" dirty="0" b="1">
                          <a:solidFill>
                            <a:srgbClr val="17375E"/>
                          </a:solidFill>
                          <a:latin typeface="Calibri"/>
                          <a:cs typeface="Calibri"/>
                        </a:rPr>
                        <a:t>Hoyt y Liebenberg (2011)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Aseguradoras de EE. UU.</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Prima de valoración cercana al 20 % (Q de Tobin) en adoptantes de ERM frente a no adoptantes.</a:t>
                      </a:r>
                    </a:p>
                  </a:txBody>
                  <a:tcPr marL="45720" marR="45720" marT="18288" marB="18288" anchor="ctr">
                    <a:lnL>
                      <a:noFill/>
                    </a:lnL>
                    <a:lnR>
                      <a:noFill/>
                    </a:lnR>
                    <a:lnT>
                      <a:noFill/>
                    </a:lnT>
                    <a:lnB w="6350" cap="flat" cmpd="sng" algn="ctr">
                      <a:solidFill>
                        <a:srgbClr val="B8C6D9"/>
                      </a:solidFill>
                      <a:prstDash val="solid"/>
                    </a:lnB>
                    <a:noFill/>
                  </a:tcPr>
                </a:tc>
              </a:tr>
              <a:tr h="457200">
                <a:tc>
                  <a:txBody>
                    <a:bodyPr/>
                    <a:lstStyle/>
                    <a:p>
                      <a:pPr algn="l">
                        <a:buNone/>
                      </a:pPr>
                      <a:r>
                        <a:rPr lang="es-CL" sz="1050" dirty="0" b="1">
                          <a:solidFill>
                            <a:srgbClr val="17375E"/>
                          </a:solidFill>
                          <a:latin typeface="Calibri"/>
                          <a:cs typeface="Calibri"/>
                        </a:rPr>
                        <a:t>Farrell y Gallagher (2015)</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Empresas de distintos sectores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Mayor valor en empresas con madurez ERM avanzada, del orden de 25 %.</a:t>
                      </a:r>
                    </a:p>
                  </a:txBody>
                  <a:tcPr marL="45720" marR="45720" marT="18288" marB="18288" anchor="ctr">
                    <a:lnL>
                      <a:noFill/>
                    </a:lnL>
                    <a:lnR>
                      <a:noFill/>
                    </a:lnR>
                    <a:lnT>
                      <a:noFill/>
                    </a:lnT>
                    <a:lnB w="6350" cap="flat" cmpd="sng" algn="ctr">
                      <a:solidFill>
                        <a:srgbClr val="B8C6D9"/>
                      </a:solidFill>
                      <a:prstDash val="solid"/>
                    </a:lnB>
                    <a:noFill/>
                  </a:tcPr>
                </a:tc>
              </a:tr>
              <a:tr h="457200">
                <a:tc>
                  <a:txBody>
                    <a:bodyPr/>
                    <a:lstStyle/>
                    <a:p>
                      <a:pPr algn="l">
                        <a:buNone/>
                      </a:pPr>
                      <a:r>
                        <a:rPr lang="es-CL" sz="1050" dirty="0" b="1">
                          <a:solidFill>
                            <a:srgbClr val="17375E"/>
                          </a:solidFill>
                          <a:latin typeface="Calibri"/>
                          <a:cs typeface="Calibri"/>
                        </a:rPr>
                        <a:t>Yang et al. (2018)</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Pequeñas y medianas empresas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Las prácticas de ERM se asocian a mejor desempeño mediante la ventaja competitiva.</a:t>
                      </a:r>
                    </a:p>
                  </a:txBody>
                  <a:tcPr marL="45720" marR="45720" marT="18288" marB="18288" anchor="ctr">
                    <a:lnL>
                      <a:noFill/>
                    </a:lnL>
                    <a:lnR>
                      <a:noFill/>
                    </a:lnR>
                    <a:lnT>
                      <a:noFill/>
                    </a:lnT>
                    <a:lnB w="6350" cap="flat" cmpd="sng" algn="ctr">
                      <a:solidFill>
                        <a:srgbClr val="B8C6D9"/>
                      </a:solidFill>
                      <a:prstDash val="solid"/>
                    </a:lnB>
                    <a:noFill/>
                  </a:tcPr>
                </a:tc>
              </a:tr>
              <a:tr h="457200">
                <a:tc>
                  <a:txBody>
                    <a:bodyPr/>
                    <a:lstStyle/>
                    <a:p>
                      <a:pPr algn="l">
                        <a:buNone/>
                      </a:pPr>
                      <a:r>
                        <a:rPr lang="es-CL" sz="1050" dirty="0" b="1">
                          <a:solidFill>
                            <a:srgbClr val="17375E"/>
                          </a:solidFill>
                          <a:latin typeface="Calibri"/>
                          <a:cs typeface="Calibri"/>
                        </a:rPr>
                        <a:t>Tubis y Werbińska-W. (2021)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Procesos logísticos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Modelo de madurez de la gestión de riesgos por proceso.</a:t>
                      </a:r>
                    </a:p>
                  </a:txBody>
                  <a:tcPr marL="45720" marR="45720" marT="18288" marB="18288" anchor="ctr">
                    <a:lnL>
                      <a:noFill/>
                    </a:lnL>
                    <a:lnR>
                      <a:noFill/>
                    </a:lnR>
                    <a:lnT>
                      <a:noFill/>
                    </a:lnT>
                    <a:lnB w="6350" cap="flat" cmpd="sng" algn="ctr">
                      <a:solidFill>
                        <a:srgbClr val="B8C6D9"/>
                      </a:solidFill>
                      <a:prstDash val="solid"/>
                    </a:lnB>
                    <a:noFill/>
                  </a:tcPr>
                </a:tc>
              </a:tr>
              <a:tr h="457200">
                <a:tc>
                  <a:txBody>
                    <a:bodyPr/>
                    <a:lstStyle/>
                    <a:p>
                      <a:pPr algn="l">
                        <a:buNone/>
                      </a:pPr>
                      <a:r>
                        <a:rPr lang="es-CL" sz="1050" dirty="0" b="1">
                          <a:solidFill>
                            <a:srgbClr val="17375E"/>
                          </a:solidFill>
                          <a:latin typeface="Calibri"/>
                          <a:cs typeface="Calibri"/>
                        </a:rPr>
                        <a:t>Soner y Karadag (2026)</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Organizaciones de servicios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Índice de madurez ERM construido sobre COSO 2017.</a:t>
                      </a:r>
                    </a:p>
                  </a:txBody>
                  <a:tcPr marL="45720" marR="45720" marT="18288" marB="18288" anchor="ctr">
                    <a:lnL>
                      <a:noFill/>
                    </a:lnL>
                    <a:lnR>
                      <a:noFill/>
                    </a:lnR>
                    <a:lnT>
                      <a:noFill/>
                    </a:lnT>
                    <a:lnB w="6350" cap="flat" cmpd="sng" algn="ctr">
                      <a:solidFill>
                        <a:srgbClr val="B8C6D9"/>
                      </a:solidFill>
                      <a:prstDash val="solid"/>
                    </a:lnB>
                    <a:noFill/>
                  </a:tcPr>
                </a:tc>
              </a:tr>
              <a:tr h="457200">
                <a:tc>
                  <a:txBody>
                    <a:bodyPr/>
                    <a:lstStyle/>
                    <a:p>
                      <a:pPr algn="l">
                        <a:buNone/>
                      </a:pPr>
                      <a:r>
                        <a:rPr lang="es-CL" sz="1050" dirty="0" b="1">
                          <a:solidFill>
                            <a:srgbClr val="17375E"/>
                          </a:solidFill>
                          <a:latin typeface="Calibri"/>
                          <a:cs typeface="Calibri"/>
                        </a:rPr>
                        <a:t>Jagrič et al. (2026)</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1050" dirty="0">
                          <a:solidFill>
                            <a:srgbClr val="3A3A3A"/>
                          </a:solidFill>
                          <a:latin typeface="Calibri"/>
                          <a:cs typeface="Calibri"/>
                        </a:rPr>
                        <a:t>Empresas medianas y grandes (n = 181)</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1050" dirty="0">
                          <a:solidFill>
                            <a:srgbClr val="3A3A3A"/>
                          </a:solidFill>
                          <a:latin typeface="Calibri"/>
                          <a:cs typeface="Calibri"/>
                        </a:rPr>
                        <a:t>Asociación positiva y significativa entre la calidad de la gestión de riesgos y el desempeño.</a:t>
                      </a:r>
                    </a:p>
                  </a:txBody>
                  <a:tcPr marL="45720" marR="45720" marT="18288" marB="18288" anchor="ctr">
                    <a:lnL>
                      <a:noFill/>
                    </a:lnL>
                    <a:lnR>
                      <a:noFill/>
                    </a:lnR>
                    <a:lnT>
                      <a:noFill/>
                    </a:lnT>
                    <a:lnB w="15875" cap="flat" cmpd="sng" algn="ctr">
                      <a:solidFill>
                        <a:srgbClr val="17375E"/>
                      </a:solidFill>
                      <a:prstDash val="solid"/>
                    </a:lnB>
                    <a:noFill/>
                  </a:tcPr>
                </a:tc>
              </a:tr>
            </a:tbl>
          </a:graphicData>
        </a:graphic>
      </p:graphicFrame>
      <p:sp>
        <p:nvSpPr>
          <p:cNvPr id="7" name="Regla"/>
          <p:cNvSpPr/>
          <p:nvPr/>
        </p:nvSpPr>
        <p:spPr>
          <a:xfrm>
            <a:off x="411480" y="5230368"/>
            <a:ext cx="8321040" cy="12802"/>
          </a:xfrm>
          <a:prstGeom prst="rect">
            <a:avLst/>
          </a:prstGeom>
          <a:solidFill>
            <a:srgbClr val="B8C6D9"/>
          </a:solidFill>
          <a:ln>
            <a:noFill/>
          </a:ln>
        </p:spPr>
        <p:txBody>
          <a:bodyPr/>
          <a:lstStyle/>
          <a:p>
            <a:endParaRPr lang="es-CL"/>
          </a:p>
        </p:txBody>
      </p:sp>
      <p:sp>
        <p:nvSpPr>
          <p:cNvPr id="8" name="Brecha"/>
          <p:cNvSpPr txBox="1"/>
          <p:nvPr/>
        </p:nvSpPr>
        <p:spPr>
          <a:xfrm>
            <a:off x="411480" y="5303520"/>
            <a:ext cx="8321040" cy="640080"/>
          </a:xfrm>
          <a:prstGeom prst="rect">
            <a:avLst/>
          </a:prstGeom>
          <a:noFill/>
        </p:spPr>
        <p:txBody>
          <a:bodyPr wrap="square" lIns="36576" tIns="18288" rIns="36576" bIns="18288" anchor="t"/>
          <a:lstStyle/>
          <a:p>
            <a:pPr algn="l">
              <a:lnSpc>
                <a:spcPct val="108000"/>
              </a:lnSpc>
              <a:buNone/>
            </a:pPr>
            <a:r>
              <a:rPr lang="es-CL" sz="1150" dirty="0" b="1">
                <a:solidFill>
                  <a:srgbClr val="17375E"/>
                </a:solidFill>
                <a:latin typeface="Calibri"/>
                <a:cs typeface="Calibri"/>
              </a:rPr>
              <a:t>Brecha. </a:t>
            </a:r>
            <a:r>
              <a:rPr lang="es-CL" sz="1150" dirty="0">
                <a:solidFill>
                  <a:srgbClr val="3A3A3A"/>
                </a:solidFill>
                <a:latin typeface="Calibri"/>
                <a:cs typeface="Calibri"/>
              </a:rPr>
              <a:t>La evidencia se concentra en el nivel corporativo. En la revisión realizada no se identificaron estudios que documenten COSO II en el nivel de tarea de procesos de apoyo del sector forestal.</a:t>
            </a:r>
          </a:p>
        </p:txBody>
      </p:sp>
      <p:sp>
        <p:nvSpPr>
          <p:cNvPr id="9"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Fuente: sección 1.4.4 del informe de avance.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Desarrollo y resultados del OE1 (1 de 2)</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7</a:t>
            </a:r>
          </a:p>
        </p:txBody>
      </p:sp>
      <p:sp>
        <p:nvSpPr>
          <p:cNvPr id="6" name="Actividades"/>
          <p:cNvSpPr txBox="1"/>
          <p:nvPr/>
        </p:nvSpPr>
        <p:spPr>
          <a:xfrm>
            <a:off x="411480" y="2029968"/>
            <a:ext cx="8321040" cy="640080"/>
          </a:xfrm>
          <a:prstGeom prst="rect">
            <a:avLst/>
          </a:prstGeom>
          <a:noFill/>
        </p:spPr>
        <p:txBody>
          <a:bodyPr wrap="square" lIns="36576" tIns="18288" rIns="36576" bIns="18288" anchor="t"/>
          <a:lstStyle/>
          <a:p>
            <a:pPr algn="l">
              <a:lnSpc>
                <a:spcPct val="106000"/>
              </a:lnSpc>
              <a:buNone/>
            </a:pPr>
            <a:r>
              <a:rPr lang="es-CL" sz="1150" dirty="0" b="1">
                <a:solidFill>
                  <a:srgbClr val="17375E"/>
                </a:solidFill>
                <a:latin typeface="Calibri"/>
                <a:cs typeface="Calibri"/>
              </a:rPr>
              <a:t>Actividades realizadas. </a:t>
            </a:r>
            <a:r>
              <a:rPr lang="es-CL" sz="1150" dirty="0">
                <a:solidFill>
                  <a:srgbClr val="3A3A3A"/>
                </a:solidFill>
                <a:latin typeface="Calibri"/>
                <a:cs typeface="Calibri"/>
              </a:rPr>
              <a:t>A1.3.2 segmentación jerárquica de MP8 desde el flujo único del Avance 1, y A1.5 consolidación en manuales con el formato del MGO aprobado por la organización: MP8 v1 (58 láminas) y esqueleto MP21 v1 (37 láminas).</a:t>
            </a:r>
          </a:p>
        </p:txBody>
      </p:sp>
      <p:pic>
        <p:nvPicPr>
          <p:cNvPr id="7" name="Captura apertura MP8"/>
          <p:cNvPicPr>
            <a:picLocks noChangeAspect="1"/>
          </p:cNvPicPr>
          <p:nvPr/>
        </p:nvPicPr>
        <p:blipFill>
          <a:blip r:embed="rId10"/>
          <a:stretch>
            <a:fillRect/>
          </a:stretch>
        </p:blipFill>
        <p:spPr>
          <a:xfrm>
            <a:off x="411480" y="2761488"/>
            <a:ext cx="5074920" cy="2143090"/>
          </a:xfrm>
          <a:prstGeom prst="rect">
            <a:avLst/>
          </a:prstGeom>
        </p:spPr>
      </p:pic>
      <p:sp>
        <p:nvSpPr>
          <p:cNvPr id="8" name="Borde captura"/>
          <p:cNvSpPr/>
          <p:nvPr/>
        </p:nvSpPr>
        <p:spPr>
          <a:xfrm>
            <a:off x="411480" y="2761488"/>
            <a:ext cx="5074920" cy="2143090"/>
          </a:xfrm>
          <a:prstGeom prst="rect">
            <a:avLst/>
          </a:prstGeom>
          <a:noFill/>
          <a:ln w="9525">
            <a:solidFill>
              <a:srgbClr val="B8C6D9"/>
            </a:solidFill>
          </a:ln>
        </p:spPr>
        <p:txBody>
          <a:bodyPr/>
          <a:lstStyle/>
          <a:p>
            <a:endParaRPr lang="es-CL"/>
          </a:p>
        </p:txBody>
      </p:sp>
      <p:sp>
        <p:nvSpPr>
          <p:cNvPr id="9" name="Senal 1"/>
          <p:cNvSpPr/>
          <p:nvPr/>
        </p:nvSpPr>
        <p:spPr>
          <a:xfrm>
            <a:off x="452993" y="2803001"/>
            <a:ext cx="975547" cy="409937"/>
          </a:xfrm>
          <a:prstGeom prst="rect">
            <a:avLst/>
          </a:prstGeom>
          <a:noFill/>
          <a:ln w="25400">
            <a:solidFill>
              <a:srgbClr val="17375E"/>
            </a:solidFill>
          </a:ln>
        </p:spPr>
        <p:txBody>
          <a:bodyPr/>
          <a:lstStyle/>
          <a:p>
            <a:endParaRPr lang="es-CL"/>
          </a:p>
        </p:txBody>
      </p:sp>
      <p:sp>
        <p:nvSpPr>
          <p:cNvPr id="10" name="Marca 1"/>
          <p:cNvSpPr/>
          <p:nvPr/>
        </p:nvSpPr>
        <p:spPr>
          <a:xfrm>
            <a:off x="332292" y="2682300"/>
            <a:ext cx="219456" cy="219456"/>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1</a:t>
            </a:r>
          </a:p>
        </p:txBody>
      </p:sp>
      <p:sp>
        <p:nvSpPr>
          <p:cNvPr id="11" name="Senal 2"/>
          <p:cNvSpPr/>
          <p:nvPr/>
        </p:nvSpPr>
        <p:spPr>
          <a:xfrm>
            <a:off x="452993" y="3223316"/>
            <a:ext cx="975547" cy="321723"/>
          </a:xfrm>
          <a:prstGeom prst="rect">
            <a:avLst/>
          </a:prstGeom>
          <a:noFill/>
          <a:ln w="25400">
            <a:solidFill>
              <a:srgbClr val="17375E"/>
            </a:solidFill>
          </a:ln>
        </p:spPr>
        <p:txBody>
          <a:bodyPr/>
          <a:lstStyle/>
          <a:p>
            <a:endParaRPr lang="es-CL"/>
          </a:p>
        </p:txBody>
      </p:sp>
      <p:sp>
        <p:nvSpPr>
          <p:cNvPr id="12" name="Marca 2"/>
          <p:cNvSpPr/>
          <p:nvPr/>
        </p:nvSpPr>
        <p:spPr>
          <a:xfrm>
            <a:off x="332292" y="3446284"/>
            <a:ext cx="219456" cy="219456"/>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2</a:t>
            </a:r>
          </a:p>
        </p:txBody>
      </p:sp>
      <p:sp>
        <p:nvSpPr>
          <p:cNvPr id="13" name="Senal 3"/>
          <p:cNvSpPr/>
          <p:nvPr/>
        </p:nvSpPr>
        <p:spPr>
          <a:xfrm>
            <a:off x="2466356" y="2803001"/>
            <a:ext cx="975547" cy="2086010"/>
          </a:xfrm>
          <a:prstGeom prst="rect">
            <a:avLst/>
          </a:prstGeom>
          <a:noFill/>
          <a:ln w="25400">
            <a:solidFill>
              <a:srgbClr val="17375E"/>
            </a:solidFill>
          </a:ln>
        </p:spPr>
        <p:txBody>
          <a:bodyPr/>
          <a:lstStyle/>
          <a:p>
            <a:endParaRPr lang="es-CL"/>
          </a:p>
        </p:txBody>
      </p:sp>
      <p:sp>
        <p:nvSpPr>
          <p:cNvPr id="14" name="Marca 3"/>
          <p:cNvSpPr/>
          <p:nvPr/>
        </p:nvSpPr>
        <p:spPr>
          <a:xfrm>
            <a:off x="3343147" y="2682300"/>
            <a:ext cx="219456" cy="219456"/>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3</a:t>
            </a:r>
          </a:p>
        </p:txBody>
      </p:sp>
      <p:sp>
        <p:nvSpPr>
          <p:cNvPr id="15" name="Ley marca 1"/>
          <p:cNvSpPr/>
          <p:nvPr/>
        </p:nvSpPr>
        <p:spPr>
          <a:xfrm>
            <a:off x="411480" y="5014306"/>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1</a:t>
            </a:r>
          </a:p>
        </p:txBody>
      </p:sp>
      <p:sp>
        <p:nvSpPr>
          <p:cNvPr id="16" name="Ley texto 1"/>
          <p:cNvSpPr txBox="1"/>
          <p:nvPr/>
        </p:nvSpPr>
        <p:spPr>
          <a:xfrm>
            <a:off x="685800" y="4996018"/>
            <a:ext cx="4800600" cy="210312"/>
          </a:xfrm>
          <a:prstGeom prst="rect">
            <a:avLst/>
          </a:prstGeom>
          <a:noFill/>
        </p:spPr>
        <p:txBody>
          <a:bodyPr wrap="square" lIns="36576" tIns="18288" rIns="36576" bIns="18288" anchor="t"/>
          <a:lstStyle/>
          <a:p>
            <a:pPr algn="l">
              <a:lnSpc>
                <a:spcPct val="105000"/>
              </a:lnSpc>
              <a:buNone/>
            </a:pPr>
            <a:r>
              <a:rPr lang="es-CL" sz="1000" dirty="0" b="1">
                <a:solidFill>
                  <a:srgbClr val="17375E"/>
                </a:solidFill>
                <a:latin typeface="Calibri"/>
                <a:cs typeface="Calibri"/>
              </a:rPr>
              <a:t>Proceso</a:t>
            </a:r>
            <a:r>
              <a:rPr lang="es-CL" sz="1000" dirty="0">
                <a:solidFill>
                  <a:srgbClr val="3A3A3A"/>
                </a:solidFill>
                <a:latin typeface="Calibri"/>
                <a:cs typeface="Calibri"/>
              </a:rPr>
              <a:t> (A a E), con su ficha y SIPOC.</a:t>
            </a:r>
          </a:p>
        </p:txBody>
      </p:sp>
      <p:sp>
        <p:nvSpPr>
          <p:cNvPr id="17" name="Ley marca 2"/>
          <p:cNvSpPr/>
          <p:nvPr/>
        </p:nvSpPr>
        <p:spPr>
          <a:xfrm>
            <a:off x="411480" y="5252050"/>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2</a:t>
            </a:r>
          </a:p>
        </p:txBody>
      </p:sp>
      <p:sp>
        <p:nvSpPr>
          <p:cNvPr id="18" name="Ley texto 2"/>
          <p:cNvSpPr txBox="1"/>
          <p:nvPr/>
        </p:nvSpPr>
        <p:spPr>
          <a:xfrm>
            <a:off x="685800" y="5233762"/>
            <a:ext cx="4800600" cy="210312"/>
          </a:xfrm>
          <a:prstGeom prst="rect">
            <a:avLst/>
          </a:prstGeom>
          <a:noFill/>
        </p:spPr>
        <p:txBody>
          <a:bodyPr wrap="square" lIns="36576" tIns="18288" rIns="36576" bIns="18288" anchor="t"/>
          <a:lstStyle/>
          <a:p>
            <a:pPr algn="l">
              <a:lnSpc>
                <a:spcPct val="105000"/>
              </a:lnSpc>
              <a:buNone/>
            </a:pPr>
            <a:r>
              <a:rPr lang="es-CL" sz="1000" dirty="0" b="1">
                <a:solidFill>
                  <a:srgbClr val="17375E"/>
                </a:solidFill>
                <a:latin typeface="Calibri"/>
                <a:cs typeface="Calibri"/>
              </a:rPr>
              <a:t>Subproceso</a:t>
            </a:r>
            <a:r>
              <a:rPr lang="es-CL" sz="1000" dirty="0">
                <a:solidFill>
                  <a:srgbClr val="3A3A3A"/>
                </a:solidFill>
                <a:latin typeface="Calibri"/>
                <a:cs typeface="Calibri"/>
              </a:rPr>
              <a:t> (A.1), con flujograma, actividades y tareas.</a:t>
            </a:r>
          </a:p>
        </p:txBody>
      </p:sp>
      <p:sp>
        <p:nvSpPr>
          <p:cNvPr id="19" name="Ley marca 3"/>
          <p:cNvSpPr/>
          <p:nvPr/>
        </p:nvSpPr>
        <p:spPr>
          <a:xfrm>
            <a:off x="411480" y="5489794"/>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3</a:t>
            </a:r>
          </a:p>
        </p:txBody>
      </p:sp>
      <p:sp>
        <p:nvSpPr>
          <p:cNvPr id="20" name="Ley texto 3"/>
          <p:cNvSpPr txBox="1"/>
          <p:nvPr/>
        </p:nvSpPr>
        <p:spPr>
          <a:xfrm>
            <a:off x="685800" y="5471506"/>
            <a:ext cx="4800600" cy="210312"/>
          </a:xfrm>
          <a:prstGeom prst="rect">
            <a:avLst/>
          </a:prstGeom>
          <a:noFill/>
        </p:spPr>
        <p:txBody>
          <a:bodyPr wrap="square" lIns="36576" tIns="18288" rIns="36576" bIns="18288" anchor="t"/>
          <a:lstStyle/>
          <a:p>
            <a:pPr algn="l">
              <a:lnSpc>
                <a:spcPct val="105000"/>
              </a:lnSpc>
              <a:buNone/>
            </a:pPr>
            <a:r>
              <a:rPr lang="es-CL" sz="1000" dirty="0" b="1">
                <a:solidFill>
                  <a:srgbClr val="17375E"/>
                </a:solidFill>
                <a:latin typeface="Calibri"/>
                <a:cs typeface="Calibri"/>
              </a:rPr>
              <a:t>Atracción y selección</a:t>
            </a:r>
            <a:r>
              <a:rPr lang="es-CL" sz="1000" dirty="0">
                <a:solidFill>
                  <a:srgbClr val="3A3A3A"/>
                </a:solidFill>
                <a:latin typeface="Calibri"/>
                <a:cs typeface="Calibri"/>
              </a:rPr>
              <a:t>: cinco subprocesos (fases F3 a F10 del flujo).</a:t>
            </a:r>
          </a:p>
        </p:txBody>
      </p:sp>
      <p:sp>
        <p:nvSpPr>
          <p:cNvPr id="21" name="Encabezado"/>
          <p:cNvSpPr txBox="1"/>
          <p:nvPr/>
        </p:nvSpPr>
        <p:spPr>
          <a:xfrm>
            <a:off x="5760720" y="2761488"/>
            <a:ext cx="2971800" cy="274320"/>
          </a:xfrm>
          <a:prstGeom prst="rect">
            <a:avLst/>
          </a:prstGeom>
          <a:noFill/>
        </p:spPr>
        <p:txBody>
          <a:bodyPr wrap="square" lIns="36576" tIns="18288" rIns="36576" bIns="18288" anchor="ctr"/>
          <a:lstStyle/>
          <a:p>
            <a:pPr algn="l">
              <a:buNone/>
            </a:pPr>
            <a:r>
              <a:rPr lang="es-CL" sz="1150" dirty="0" b="1">
                <a:solidFill>
                  <a:srgbClr val="1F497D"/>
                </a:solidFill>
                <a:latin typeface="Calibri"/>
                <a:cs typeface="Calibri"/>
              </a:rPr>
              <a:t>Elementos por nivel MGO</a:t>
            </a:r>
          </a:p>
        </p:txBody>
      </p:sp>
      <p:graphicFrame>
        <p:nvGraphicFramePr>
          <p:cNvPr id="22" name="Tabla niveles"/>
          <p:cNvGraphicFramePr>
            <a:graphicFrameLocks noGrp="1"/>
          </p:cNvGraphicFramePr>
          <p:nvPr/>
        </p:nvGraphicFramePr>
        <p:xfrm>
          <a:off x="5760720" y="3090672"/>
          <a:ext cx="2770632" cy="1664208"/>
        </p:xfrm>
        <a:graphic>
          <a:graphicData uri="http://schemas.openxmlformats.org/drawingml/2006/table">
            <a:tbl>
              <a:tblPr firstRow="0" bandRow="0">
                <a:tableStyleId>{5940675A-B579-460E-94D1-54222C63F5DA}</a:tableStyleId>
              </a:tblPr>
              <a:tblGrid>
                <a:gridCol w="1161288"/>
                <a:gridCol w="804672"/>
                <a:gridCol w="804672"/>
              </a:tblGrid>
              <a:tr h="292608">
                <a:tc>
                  <a:txBody>
                    <a:bodyPr/>
                    <a:lstStyle/>
                    <a:p>
                      <a:pPr algn="l">
                        <a:buNone/>
                      </a:pPr>
                      <a:r>
                        <a:rPr lang="es-CL" sz="1050" dirty="0" b="1">
                          <a:solidFill>
                            <a:srgbClr val="17375E"/>
                          </a:solidFill>
                          <a:latin typeface="Calibri"/>
                          <a:cs typeface="Calibri"/>
                        </a:rPr>
                        <a:t>Nivel</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ctr">
                        <a:buNone/>
                      </a:pPr>
                      <a:r>
                        <a:rPr lang="es-CL" sz="1050" dirty="0" b="1">
                          <a:solidFill>
                            <a:srgbClr val="17375E"/>
                          </a:solidFill>
                          <a:latin typeface="Calibri"/>
                          <a:cs typeface="Calibri"/>
                        </a:rPr>
                        <a:t>MP8</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ctr">
                        <a:buNone/>
                      </a:pPr>
                      <a:r>
                        <a:rPr lang="es-CL" sz="1050" dirty="0" b="1">
                          <a:solidFill>
                            <a:srgbClr val="17375E"/>
                          </a:solidFill>
                          <a:latin typeface="Calibri"/>
                          <a:cs typeface="Calibri"/>
                        </a:rPr>
                        <a:t>MP21</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r>
              <a:tr h="274320">
                <a:tc>
                  <a:txBody>
                    <a:bodyPr/>
                    <a:lstStyle/>
                    <a:p>
                      <a:pPr algn="l">
                        <a:buNone/>
                      </a:pPr>
                      <a:r>
                        <a:rPr lang="es-CL" sz="1050" dirty="0" b="1">
                          <a:solidFill>
                            <a:srgbClr val="17375E"/>
                          </a:solidFill>
                          <a:latin typeface="Calibri"/>
                          <a:cs typeface="Calibri"/>
                        </a:rPr>
                        <a:t>Macroproceso</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1</a:t>
                      </a:r>
                    </a:p>
                  </a:txBody>
                  <a:tcPr marL="45720" marR="45720" marT="18288" marB="18288" anchor="ctr">
                    <a:lnL>
                      <a:noFill/>
                    </a:lnL>
                    <a:lnR>
                      <a:noFill/>
                    </a:lnR>
                    <a:lnT>
                      <a:noFill/>
                    </a:lnT>
                    <a:lnB w="6350" cap="flat" cmpd="sng" algn="ctr">
                      <a:solidFill>
                        <a:srgbClr val="B8C6D9"/>
                      </a:solidFill>
                      <a:prstDash val="solid"/>
                    </a:lnB>
                    <a:noFill/>
                  </a:tcPr>
                </a:tc>
              </a:tr>
              <a:tr h="274320">
                <a:tc>
                  <a:txBody>
                    <a:bodyPr/>
                    <a:lstStyle/>
                    <a:p>
                      <a:pPr algn="l">
                        <a:buNone/>
                      </a:pPr>
                      <a:r>
                        <a:rPr lang="es-CL" sz="1050" dirty="0" b="1">
                          <a:solidFill>
                            <a:srgbClr val="17375E"/>
                          </a:solidFill>
                          <a:latin typeface="Calibri"/>
                          <a:cs typeface="Calibri"/>
                        </a:rPr>
                        <a:t>Procesos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5</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4</a:t>
                      </a:r>
                    </a:p>
                  </a:txBody>
                  <a:tcPr marL="45720" marR="45720" marT="18288" marB="18288" anchor="ctr">
                    <a:lnL>
                      <a:noFill/>
                    </a:lnL>
                    <a:lnR>
                      <a:noFill/>
                    </a:lnR>
                    <a:lnT>
                      <a:noFill/>
                    </a:lnT>
                    <a:lnB w="6350" cap="flat" cmpd="sng" algn="ctr">
                      <a:solidFill>
                        <a:srgbClr val="B8C6D9"/>
                      </a:solidFill>
                      <a:prstDash val="solid"/>
                    </a:lnB>
                    <a:noFill/>
                  </a:tcPr>
                </a:tc>
              </a:tr>
              <a:tr h="274320">
                <a:tc>
                  <a:txBody>
                    <a:bodyPr/>
                    <a:lstStyle/>
                    <a:p>
                      <a:pPr algn="l">
                        <a:buNone/>
                      </a:pPr>
                      <a:r>
                        <a:rPr lang="es-CL" sz="1050" dirty="0" b="1">
                          <a:solidFill>
                            <a:srgbClr val="17375E"/>
                          </a:solidFill>
                          <a:latin typeface="Calibri"/>
                          <a:cs typeface="Calibri"/>
                        </a:rPr>
                        <a:t>Subprocesos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17</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11</a:t>
                      </a:r>
                    </a:p>
                  </a:txBody>
                  <a:tcPr marL="45720" marR="45720" marT="18288" marB="18288" anchor="ctr">
                    <a:lnL>
                      <a:noFill/>
                    </a:lnL>
                    <a:lnR>
                      <a:noFill/>
                    </a:lnR>
                    <a:lnT>
                      <a:noFill/>
                    </a:lnT>
                    <a:lnB w="6350" cap="flat" cmpd="sng" algn="ctr">
                      <a:solidFill>
                        <a:srgbClr val="B8C6D9"/>
                      </a:solidFill>
                      <a:prstDash val="solid"/>
                    </a:lnB>
                    <a:noFill/>
                  </a:tcPr>
                </a:tc>
              </a:tr>
              <a:tr h="274320">
                <a:tc>
                  <a:txBody>
                    <a:bodyPr/>
                    <a:lstStyle/>
                    <a:p>
                      <a:pPr algn="l">
                        <a:buNone/>
                      </a:pPr>
                      <a:r>
                        <a:rPr lang="es-CL" sz="1050" dirty="0" b="1">
                          <a:solidFill>
                            <a:srgbClr val="17375E"/>
                          </a:solidFill>
                          <a:latin typeface="Calibri"/>
                          <a:cs typeface="Calibri"/>
                        </a:rPr>
                        <a:t>Actividades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59</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950" dirty="0" i="1">
                          <a:solidFill>
                            <a:srgbClr val="6B6B6B"/>
                          </a:solidFill>
                          <a:latin typeface="Calibri"/>
                          <a:cs typeface="Calibri"/>
                        </a:rPr>
                        <a:t>Por levantar</a:t>
                      </a:r>
                    </a:p>
                  </a:txBody>
                  <a:tcPr marL="45720" marR="45720" marT="18288" marB="18288" anchor="ctr">
                    <a:lnL>
                      <a:noFill/>
                    </a:lnL>
                    <a:lnR>
                      <a:noFill/>
                    </a:lnR>
                    <a:lnT>
                      <a:noFill/>
                    </a:lnT>
                    <a:lnB w="6350" cap="flat" cmpd="sng" algn="ctr">
                      <a:solidFill>
                        <a:srgbClr val="B8C6D9"/>
                      </a:solidFill>
                      <a:prstDash val="solid"/>
                    </a:lnB>
                    <a:noFill/>
                  </a:tcPr>
                </a:tc>
              </a:tr>
              <a:tr h="274320">
                <a:tc>
                  <a:txBody>
                    <a:bodyPr/>
                    <a:lstStyle/>
                    <a:p>
                      <a:pPr algn="l">
                        <a:buNone/>
                      </a:pPr>
                      <a:r>
                        <a:rPr lang="es-CL" sz="1050" dirty="0" b="1">
                          <a:solidFill>
                            <a:srgbClr val="17375E"/>
                          </a:solidFill>
                          <a:latin typeface="Calibri"/>
                          <a:cs typeface="Calibri"/>
                        </a:rPr>
                        <a:t>Tareas</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ctr">
                        <a:buNone/>
                      </a:pPr>
                      <a:r>
                        <a:rPr lang="es-CL" sz="1050" dirty="0" b="1">
                          <a:solidFill>
                            <a:srgbClr val="17375E"/>
                          </a:solidFill>
                          <a:latin typeface="Calibri"/>
                          <a:cs typeface="Calibri"/>
                        </a:rPr>
                        <a:t>192</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ctr">
                        <a:buNone/>
                      </a:pPr>
                      <a:r>
                        <a:rPr lang="es-CL" sz="950" dirty="0" i="1">
                          <a:solidFill>
                            <a:srgbClr val="6B6B6B"/>
                          </a:solidFill>
                          <a:latin typeface="Calibri"/>
                          <a:cs typeface="Calibri"/>
                        </a:rPr>
                        <a:t>Por levantar</a:t>
                      </a:r>
                    </a:p>
                  </a:txBody>
                  <a:tcPr marL="45720" marR="45720" marT="18288" marB="18288" anchor="ctr">
                    <a:lnL>
                      <a:noFill/>
                    </a:lnL>
                    <a:lnR>
                      <a:noFill/>
                    </a:lnR>
                    <a:lnT>
                      <a:noFill/>
                    </a:lnT>
                    <a:lnB w="15875" cap="flat" cmpd="sng" algn="ctr">
                      <a:solidFill>
                        <a:srgbClr val="17375E"/>
                      </a:solidFill>
                      <a:prstDash val="solid"/>
                    </a:lnB>
                    <a:noFill/>
                  </a:tcPr>
                </a:tc>
              </a:tr>
            </a:tbl>
          </a:graphicData>
        </a:graphic>
      </p:graphicFrame>
      <p:sp>
        <p:nvSpPr>
          <p:cNvPr id="23" name="Cobertura"/>
          <p:cNvSpPr txBox="1"/>
          <p:nvPr/>
        </p:nvSpPr>
        <p:spPr>
          <a:xfrm>
            <a:off x="5760720" y="4864608"/>
            <a:ext cx="2971800" cy="1078992"/>
          </a:xfrm>
          <a:prstGeom prst="rect">
            <a:avLst/>
          </a:prstGeom>
          <a:noFill/>
        </p:spPr>
        <p:txBody>
          <a:bodyPr wrap="square" lIns="36576" tIns="18288" rIns="36576" bIns="18288" anchor="t"/>
          <a:lstStyle/>
          <a:p>
            <a:pPr algn="l">
              <a:lnSpc>
                <a:spcPct val="105000"/>
              </a:lnSpc>
              <a:buNone/>
            </a:pPr>
            <a:r>
              <a:rPr lang="es-CL" sz="1000" dirty="0" b="1">
                <a:solidFill>
                  <a:srgbClr val="17375E"/>
                </a:solidFill>
                <a:latin typeface="Calibri"/>
                <a:cs typeface="Calibri"/>
              </a:rPr>
              <a:t>MP8: </a:t>
            </a:r>
            <a:r>
              <a:rPr lang="es-CL" sz="1000" dirty="0">
                <a:solidFill>
                  <a:srgbClr val="3A3A3A"/>
                </a:solidFill>
                <a:latin typeface="Calibri"/>
                <a:cs typeface="Calibri"/>
              </a:rPr>
              <a:t>14 de las 18 fases del flujo único segmentadas; restan nómina, clima, desvinculación y datos (F15 a F18).</a:t>
            </a:r>
          </a:p>
          <a:p>
            <a:pPr algn="l">
              <a:lnSpc>
                <a:spcPct val="105000"/>
              </a:lnSpc>
              <a:spcBef>
                <a:spcPts val="400"/>
              </a:spcBef>
              <a:buNone/>
            </a:pPr>
            <a:r>
              <a:rPr lang="es-CL" sz="1000" dirty="0" b="1">
                <a:solidFill>
                  <a:srgbClr val="17375E"/>
                </a:solidFill>
                <a:latin typeface="Calibri"/>
                <a:cs typeface="Calibri"/>
              </a:rPr>
              <a:t>MP21: </a:t>
            </a:r>
            <a:r>
              <a:rPr lang="es-CL" sz="1000" dirty="0">
                <a:solidFill>
                  <a:srgbClr val="3A3A3A"/>
                </a:solidFill>
                <a:latin typeface="Calibri"/>
                <a:cs typeface="Calibri"/>
              </a:rPr>
              <a:t>estructura de procesos y subprocesos; inicia el levantamiento del ciclo del contrato.</a:t>
            </a:r>
          </a:p>
        </p:txBody>
      </p:sp>
      <p:sp>
        <p:nvSpPr>
          <p:cNvPr id="24"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Figura 2. Apertura del macroproceso MP8 en el manual de procesos v1. Fuente: elaboración propia.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Desarrollo y resultados del OE1 (2 de 2)</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8</a:t>
            </a:r>
          </a:p>
        </p:txBody>
      </p:sp>
      <p:sp>
        <p:nvSpPr>
          <p:cNvPr id="6" name="Bajada"/>
          <p:cNvSpPr txBox="1"/>
          <p:nvPr/>
        </p:nvSpPr>
        <p:spPr>
          <a:xfrm>
            <a:off x="411480" y="1993392"/>
            <a:ext cx="8321040" cy="292608"/>
          </a:xfrm>
          <a:prstGeom prst="rect">
            <a:avLst/>
          </a:prstGeom>
          <a:noFill/>
        </p:spPr>
        <p:txBody>
          <a:bodyPr wrap="square" lIns="36576" tIns="18288" rIns="36576" bIns="18288" anchor="ctr"/>
          <a:lstStyle/>
          <a:p>
            <a:pPr algn="l">
              <a:buNone/>
            </a:pPr>
            <a:r>
              <a:rPr lang="es-CL" sz="1100" dirty="0" b="1">
                <a:solidFill>
                  <a:srgbClr val="17375E"/>
                </a:solidFill>
                <a:latin typeface="Calibri"/>
                <a:cs typeface="Calibri"/>
              </a:rPr>
              <a:t>Ejemplo del manual MP8: subproceso C.1 Requisición y apertura de vacante.</a:t>
            </a:r>
          </a:p>
        </p:txBody>
      </p:sp>
      <p:pic>
        <p:nvPicPr>
          <p:cNvPr id="7" name="Captura flujograma C.1"/>
          <p:cNvPicPr>
            <a:picLocks noChangeAspect="1"/>
          </p:cNvPicPr>
          <p:nvPr/>
        </p:nvPicPr>
        <p:blipFill>
          <a:blip r:embed="rId10"/>
          <a:stretch>
            <a:fillRect/>
          </a:stretch>
        </p:blipFill>
        <p:spPr>
          <a:xfrm>
            <a:off x="411480" y="2377440"/>
            <a:ext cx="4297680" cy="2170364"/>
          </a:xfrm>
          <a:prstGeom prst="rect">
            <a:avLst/>
          </a:prstGeom>
        </p:spPr>
      </p:pic>
      <p:sp>
        <p:nvSpPr>
          <p:cNvPr id="8" name="Borde captura"/>
          <p:cNvSpPr/>
          <p:nvPr/>
        </p:nvSpPr>
        <p:spPr>
          <a:xfrm>
            <a:off x="411480" y="2377440"/>
            <a:ext cx="4297680" cy="2170364"/>
          </a:xfrm>
          <a:prstGeom prst="rect">
            <a:avLst/>
          </a:prstGeom>
          <a:noFill/>
          <a:ln w="9525">
            <a:solidFill>
              <a:srgbClr val="B8C6D9"/>
            </a:solidFill>
          </a:ln>
        </p:spPr>
        <p:txBody>
          <a:bodyPr/>
          <a:lstStyle/>
          <a:p>
            <a:endParaRPr lang="es-CL"/>
          </a:p>
        </p:txBody>
      </p:sp>
      <p:sp>
        <p:nvSpPr>
          <p:cNvPr id="9" name="Senal 1"/>
          <p:cNvSpPr/>
          <p:nvPr/>
        </p:nvSpPr>
        <p:spPr>
          <a:xfrm>
            <a:off x="1150480" y="3367557"/>
            <a:ext cx="179369" cy="82510"/>
          </a:xfrm>
          <a:prstGeom prst="rect">
            <a:avLst/>
          </a:prstGeom>
          <a:noFill/>
          <a:ln w="25400">
            <a:solidFill>
              <a:srgbClr val="17375E"/>
            </a:solidFill>
          </a:ln>
        </p:spPr>
        <p:txBody>
          <a:bodyPr/>
          <a:lstStyle/>
          <a:p>
            <a:endParaRPr lang="es-CL"/>
          </a:p>
        </p:txBody>
      </p:sp>
      <p:sp>
        <p:nvSpPr>
          <p:cNvPr id="10" name="Marca 1"/>
          <p:cNvSpPr/>
          <p:nvPr/>
        </p:nvSpPr>
        <p:spPr>
          <a:xfrm>
            <a:off x="1039838" y="3256914"/>
            <a:ext cx="201168" cy="201168"/>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1</a:t>
            </a:r>
          </a:p>
        </p:txBody>
      </p:sp>
      <p:sp>
        <p:nvSpPr>
          <p:cNvPr id="11" name="Senal 2"/>
          <p:cNvSpPr/>
          <p:nvPr/>
        </p:nvSpPr>
        <p:spPr>
          <a:xfrm>
            <a:off x="2334315" y="3378319"/>
            <a:ext cx="373087" cy="322864"/>
          </a:xfrm>
          <a:prstGeom prst="rect">
            <a:avLst/>
          </a:prstGeom>
          <a:noFill/>
          <a:ln w="25400">
            <a:solidFill>
              <a:srgbClr val="17375E"/>
            </a:solidFill>
          </a:ln>
        </p:spPr>
        <p:txBody>
          <a:bodyPr/>
          <a:lstStyle/>
          <a:p>
            <a:endParaRPr lang="es-CL"/>
          </a:p>
        </p:txBody>
      </p:sp>
      <p:sp>
        <p:nvSpPr>
          <p:cNvPr id="12" name="Marca 2"/>
          <p:cNvSpPr/>
          <p:nvPr/>
        </p:nvSpPr>
        <p:spPr>
          <a:xfrm>
            <a:off x="2616877" y="3267676"/>
            <a:ext cx="201168" cy="201168"/>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2</a:t>
            </a:r>
          </a:p>
        </p:txBody>
      </p:sp>
      <p:sp>
        <p:nvSpPr>
          <p:cNvPr id="13" name="Senal 3"/>
          <p:cNvSpPr/>
          <p:nvPr/>
        </p:nvSpPr>
        <p:spPr>
          <a:xfrm>
            <a:off x="3783616" y="2653668"/>
            <a:ext cx="904019" cy="1793689"/>
          </a:xfrm>
          <a:prstGeom prst="rect">
            <a:avLst/>
          </a:prstGeom>
          <a:noFill/>
          <a:ln w="25400">
            <a:solidFill>
              <a:srgbClr val="17375E"/>
            </a:solidFill>
          </a:ln>
        </p:spPr>
        <p:txBody>
          <a:bodyPr/>
          <a:lstStyle/>
          <a:p>
            <a:endParaRPr lang="es-CL"/>
          </a:p>
        </p:txBody>
      </p:sp>
      <p:sp>
        <p:nvSpPr>
          <p:cNvPr id="14" name="Marca 3"/>
          <p:cNvSpPr/>
          <p:nvPr/>
        </p:nvSpPr>
        <p:spPr>
          <a:xfrm>
            <a:off x="3672974" y="2543026"/>
            <a:ext cx="201168" cy="201168"/>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3</a:t>
            </a:r>
          </a:p>
        </p:txBody>
      </p:sp>
      <p:pic>
        <p:nvPicPr>
          <p:cNvPr id="15" name="Captura tareas C.1"/>
          <p:cNvPicPr>
            <a:picLocks noChangeAspect="1"/>
          </p:cNvPicPr>
          <p:nvPr/>
        </p:nvPicPr>
        <p:blipFill>
          <a:blip r:embed="rId11"/>
          <a:stretch>
            <a:fillRect/>
          </a:stretch>
        </p:blipFill>
        <p:spPr>
          <a:xfrm>
            <a:off x="4910328" y="2377440"/>
            <a:ext cx="3822192" cy="1115944"/>
          </a:xfrm>
          <a:prstGeom prst="rect">
            <a:avLst/>
          </a:prstGeom>
        </p:spPr>
      </p:pic>
      <p:sp>
        <p:nvSpPr>
          <p:cNvPr id="16" name="Borde captura"/>
          <p:cNvSpPr/>
          <p:nvPr/>
        </p:nvSpPr>
        <p:spPr>
          <a:xfrm>
            <a:off x="4910328" y="2377440"/>
            <a:ext cx="3822192" cy="1115944"/>
          </a:xfrm>
          <a:prstGeom prst="rect">
            <a:avLst/>
          </a:prstGeom>
          <a:noFill/>
          <a:ln w="9525">
            <a:solidFill>
              <a:srgbClr val="B8C6D9"/>
            </a:solidFill>
          </a:ln>
        </p:spPr>
        <p:txBody>
          <a:bodyPr/>
          <a:lstStyle/>
          <a:p>
            <a:endParaRPr lang="es-CL"/>
          </a:p>
        </p:txBody>
      </p:sp>
      <p:sp>
        <p:nvSpPr>
          <p:cNvPr id="17" name="Senal 4"/>
          <p:cNvSpPr/>
          <p:nvPr/>
        </p:nvSpPr>
        <p:spPr>
          <a:xfrm>
            <a:off x="7435705" y="2517360"/>
            <a:ext cx="853168" cy="88729"/>
          </a:xfrm>
          <a:prstGeom prst="rect">
            <a:avLst/>
          </a:prstGeom>
          <a:noFill/>
          <a:ln w="25400">
            <a:solidFill>
              <a:srgbClr val="17375E"/>
            </a:solidFill>
          </a:ln>
        </p:spPr>
        <p:txBody>
          <a:bodyPr/>
          <a:lstStyle/>
          <a:p>
            <a:endParaRPr lang="es-CL"/>
          </a:p>
        </p:txBody>
      </p:sp>
      <p:sp>
        <p:nvSpPr>
          <p:cNvPr id="18" name="Marca 4"/>
          <p:cNvSpPr/>
          <p:nvPr/>
        </p:nvSpPr>
        <p:spPr>
          <a:xfrm>
            <a:off x="8198347" y="2406717"/>
            <a:ext cx="201168" cy="201168"/>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4</a:t>
            </a:r>
          </a:p>
        </p:txBody>
      </p:sp>
      <p:sp>
        <p:nvSpPr>
          <p:cNvPr id="19" name="Senal 5"/>
          <p:cNvSpPr/>
          <p:nvPr/>
        </p:nvSpPr>
        <p:spPr>
          <a:xfrm>
            <a:off x="7428880" y="2865452"/>
            <a:ext cx="262776" cy="75079"/>
          </a:xfrm>
          <a:prstGeom prst="rect">
            <a:avLst/>
          </a:prstGeom>
          <a:noFill/>
          <a:ln w="25400">
            <a:solidFill>
              <a:srgbClr val="17375E"/>
            </a:solidFill>
          </a:ln>
        </p:spPr>
        <p:txBody>
          <a:bodyPr/>
          <a:lstStyle/>
          <a:p>
            <a:endParaRPr lang="es-CL"/>
          </a:p>
        </p:txBody>
      </p:sp>
      <p:sp>
        <p:nvSpPr>
          <p:cNvPr id="20" name="Marca 5"/>
          <p:cNvSpPr/>
          <p:nvPr/>
        </p:nvSpPr>
        <p:spPr>
          <a:xfrm>
            <a:off x="7601130" y="2754810"/>
            <a:ext cx="201168" cy="201168"/>
          </a:xfrm>
          <a:prstGeom prst="ellipse">
            <a:avLst/>
          </a:prstGeom>
          <a:solidFill>
            <a:srgbClr val="17375E"/>
          </a:solidFill>
          <a:ln w="12700">
            <a:solidFill>
              <a:srgbClr val="FFFFFF"/>
            </a:solidFill>
          </a:ln>
        </p:spPr>
        <p:txBody>
          <a:bodyPr wrap="square" lIns="0" tIns="0" rIns="0" bIns="0" anchor="ctr"/>
          <a:lstStyle/>
          <a:p>
            <a:pPr algn="ctr">
              <a:buNone/>
            </a:pPr>
            <a:r>
              <a:rPr lang="es-CL" sz="1000" dirty="0" b="1">
                <a:solidFill>
                  <a:srgbClr val="FFFFFF"/>
                </a:solidFill>
                <a:latin typeface="Calibri"/>
                <a:cs typeface="Calibri"/>
              </a:rPr>
              <a:t>5</a:t>
            </a:r>
          </a:p>
        </p:txBody>
      </p:sp>
      <p:sp>
        <p:nvSpPr>
          <p:cNvPr id="21" name="Ley marca 1"/>
          <p:cNvSpPr/>
          <p:nvPr/>
        </p:nvSpPr>
        <p:spPr>
          <a:xfrm>
            <a:off x="4910328" y="3603112"/>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1</a:t>
            </a:r>
          </a:p>
        </p:txBody>
      </p:sp>
      <p:sp>
        <p:nvSpPr>
          <p:cNvPr id="22" name="Ley texto 1"/>
          <p:cNvSpPr txBox="1"/>
          <p:nvPr/>
        </p:nvSpPr>
        <p:spPr>
          <a:xfrm>
            <a:off x="5184648" y="3584824"/>
            <a:ext cx="3547872" cy="201168"/>
          </a:xfrm>
          <a:prstGeom prst="rect">
            <a:avLst/>
          </a:prstGeom>
          <a:noFill/>
        </p:spPr>
        <p:txBody>
          <a:bodyPr wrap="square" lIns="36576" tIns="18288" rIns="36576" bIns="18288" anchor="t"/>
          <a:lstStyle/>
          <a:p>
            <a:pPr algn="l">
              <a:lnSpc>
                <a:spcPct val="105000"/>
              </a:lnSpc>
              <a:buNone/>
            </a:pPr>
            <a:r>
              <a:rPr lang="es-CL" sz="950" dirty="0" b="1">
                <a:solidFill>
                  <a:srgbClr val="17375E"/>
                </a:solidFill>
                <a:latin typeface="Calibri"/>
                <a:cs typeface="Calibri"/>
              </a:rPr>
              <a:t>Código MGO</a:t>
            </a:r>
            <a:r>
              <a:rPr lang="es-CL" sz="950" dirty="0">
                <a:solidFill>
                  <a:srgbClr val="3A3A3A"/>
                </a:solidFill>
                <a:latin typeface="Calibri"/>
                <a:cs typeface="Calibri"/>
              </a:rPr>
              <a:t> de la actividad (C.1.1).</a:t>
            </a:r>
          </a:p>
        </p:txBody>
      </p:sp>
      <p:sp>
        <p:nvSpPr>
          <p:cNvPr id="23" name="Ley marca 2"/>
          <p:cNvSpPr/>
          <p:nvPr/>
        </p:nvSpPr>
        <p:spPr>
          <a:xfrm>
            <a:off x="4910328" y="3822568"/>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2</a:t>
            </a:r>
          </a:p>
        </p:txBody>
      </p:sp>
      <p:sp>
        <p:nvSpPr>
          <p:cNvPr id="24" name="Ley texto 2"/>
          <p:cNvSpPr txBox="1"/>
          <p:nvPr/>
        </p:nvSpPr>
        <p:spPr>
          <a:xfrm>
            <a:off x="5184648" y="3804280"/>
            <a:ext cx="3547872" cy="201168"/>
          </a:xfrm>
          <a:prstGeom prst="rect">
            <a:avLst/>
          </a:prstGeom>
          <a:noFill/>
        </p:spPr>
        <p:txBody>
          <a:bodyPr wrap="square" lIns="36576" tIns="18288" rIns="36576" bIns="18288" anchor="t"/>
          <a:lstStyle/>
          <a:p>
            <a:pPr algn="l">
              <a:lnSpc>
                <a:spcPct val="105000"/>
              </a:lnSpc>
              <a:buNone/>
            </a:pPr>
            <a:r>
              <a:rPr lang="es-CL" sz="950" dirty="0" b="1">
                <a:solidFill>
                  <a:srgbClr val="17375E"/>
                </a:solidFill>
                <a:latin typeface="Calibri"/>
                <a:cs typeface="Calibri"/>
              </a:rPr>
              <a:t>Decisión</a:t>
            </a:r>
            <a:r>
              <a:rPr lang="es-CL" sz="950" dirty="0">
                <a:solidFill>
                  <a:srgbClr val="3A3A3A"/>
                </a:solidFill>
                <a:latin typeface="Calibri"/>
                <a:cs typeface="Calibri"/>
              </a:rPr>
              <a:t> del flujo: proceso masivo o individual.</a:t>
            </a:r>
          </a:p>
        </p:txBody>
      </p:sp>
      <p:sp>
        <p:nvSpPr>
          <p:cNvPr id="25" name="Ley marca 3"/>
          <p:cNvSpPr/>
          <p:nvPr/>
        </p:nvSpPr>
        <p:spPr>
          <a:xfrm>
            <a:off x="4910328" y="4042024"/>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3</a:t>
            </a:r>
          </a:p>
        </p:txBody>
      </p:sp>
      <p:sp>
        <p:nvSpPr>
          <p:cNvPr id="26" name="Ley texto 3"/>
          <p:cNvSpPr txBox="1"/>
          <p:nvPr/>
        </p:nvSpPr>
        <p:spPr>
          <a:xfrm>
            <a:off x="5184648" y="4023736"/>
            <a:ext cx="3547872" cy="201168"/>
          </a:xfrm>
          <a:prstGeom prst="rect">
            <a:avLst/>
          </a:prstGeom>
          <a:noFill/>
        </p:spPr>
        <p:txBody>
          <a:bodyPr wrap="square" lIns="36576" tIns="18288" rIns="36576" bIns="18288" anchor="t"/>
          <a:lstStyle/>
          <a:p>
            <a:pPr algn="l">
              <a:lnSpc>
                <a:spcPct val="105000"/>
              </a:lnSpc>
              <a:buNone/>
            </a:pPr>
            <a:r>
              <a:rPr lang="es-CL" sz="950" dirty="0" b="1">
                <a:solidFill>
                  <a:srgbClr val="17375E"/>
                </a:solidFill>
                <a:latin typeface="Calibri"/>
                <a:cs typeface="Calibri"/>
              </a:rPr>
              <a:t>Soporte, herramientas, KPI y dueño</a:t>
            </a:r>
            <a:r>
              <a:rPr lang="es-CL" sz="950" dirty="0">
                <a:solidFill>
                  <a:srgbClr val="3A3A3A"/>
                </a:solidFill>
                <a:latin typeface="Calibri"/>
                <a:cs typeface="Calibri"/>
              </a:rPr>
              <a:t> del subproceso.</a:t>
            </a:r>
          </a:p>
        </p:txBody>
      </p:sp>
      <p:sp>
        <p:nvSpPr>
          <p:cNvPr id="27" name="Ley marca 4"/>
          <p:cNvSpPr/>
          <p:nvPr/>
        </p:nvSpPr>
        <p:spPr>
          <a:xfrm>
            <a:off x="4910328" y="4261480"/>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4</a:t>
            </a:r>
          </a:p>
        </p:txBody>
      </p:sp>
      <p:sp>
        <p:nvSpPr>
          <p:cNvPr id="28" name="Ley texto 4"/>
          <p:cNvSpPr txBox="1"/>
          <p:nvPr/>
        </p:nvSpPr>
        <p:spPr>
          <a:xfrm>
            <a:off x="5184648" y="4243192"/>
            <a:ext cx="3547872" cy="201168"/>
          </a:xfrm>
          <a:prstGeom prst="rect">
            <a:avLst/>
          </a:prstGeom>
          <a:noFill/>
        </p:spPr>
        <p:txBody>
          <a:bodyPr wrap="square" lIns="36576" tIns="18288" rIns="36576" bIns="18288" anchor="t"/>
          <a:lstStyle/>
          <a:p>
            <a:pPr algn="l">
              <a:lnSpc>
                <a:spcPct val="105000"/>
              </a:lnSpc>
              <a:buNone/>
            </a:pPr>
            <a:r>
              <a:rPr lang="es-CL" sz="950" dirty="0" b="1">
                <a:solidFill>
                  <a:srgbClr val="17375E"/>
                </a:solidFill>
                <a:latin typeface="Calibri"/>
                <a:cs typeface="Calibri"/>
              </a:rPr>
              <a:t>Tarea con responsable</a:t>
            </a:r>
            <a:r>
              <a:rPr lang="es-CL" sz="950" dirty="0">
                <a:solidFill>
                  <a:srgbClr val="3A3A3A"/>
                </a:solidFill>
                <a:latin typeface="Calibri"/>
                <a:cs typeface="Calibri"/>
              </a:rPr>
              <a:t> identificado.</a:t>
            </a:r>
          </a:p>
        </p:txBody>
      </p:sp>
      <p:sp>
        <p:nvSpPr>
          <p:cNvPr id="29" name="Ley marca 5"/>
          <p:cNvSpPr/>
          <p:nvPr/>
        </p:nvSpPr>
        <p:spPr>
          <a:xfrm>
            <a:off x="4910328" y="4480936"/>
            <a:ext cx="201168" cy="201168"/>
          </a:xfrm>
          <a:prstGeom prst="ellipse">
            <a:avLst/>
          </a:prstGeom>
          <a:solidFill>
            <a:srgbClr val="17375E"/>
          </a:solidFill>
          <a:ln>
            <a:noFill/>
          </a:ln>
        </p:spPr>
        <p:txBody>
          <a:bodyPr wrap="square" lIns="0" tIns="0" rIns="0" bIns="0" anchor="ctr"/>
          <a:lstStyle/>
          <a:p>
            <a:pPr algn="ctr">
              <a:buNone/>
            </a:pPr>
            <a:r>
              <a:rPr lang="es-CL" sz="900" dirty="0" b="1">
                <a:solidFill>
                  <a:srgbClr val="FFFFFF"/>
                </a:solidFill>
                <a:latin typeface="Calibri"/>
                <a:cs typeface="Calibri"/>
              </a:rPr>
              <a:t>5</a:t>
            </a:r>
          </a:p>
        </p:txBody>
      </p:sp>
      <p:sp>
        <p:nvSpPr>
          <p:cNvPr id="30" name="Ley texto 5"/>
          <p:cNvSpPr txBox="1"/>
          <p:nvPr/>
        </p:nvSpPr>
        <p:spPr>
          <a:xfrm>
            <a:off x="5184648" y="4462648"/>
            <a:ext cx="3547872" cy="201168"/>
          </a:xfrm>
          <a:prstGeom prst="rect">
            <a:avLst/>
          </a:prstGeom>
          <a:noFill/>
        </p:spPr>
        <p:txBody>
          <a:bodyPr wrap="square" lIns="36576" tIns="18288" rIns="36576" bIns="18288" anchor="t"/>
          <a:lstStyle/>
          <a:p>
            <a:pPr algn="l">
              <a:lnSpc>
                <a:spcPct val="105000"/>
              </a:lnSpc>
              <a:buNone/>
            </a:pPr>
            <a:r>
              <a:rPr lang="es-CL" sz="950" dirty="0" b="1">
                <a:solidFill>
                  <a:srgbClr val="17375E"/>
                </a:solidFill>
                <a:latin typeface="Calibri"/>
                <a:cs typeface="Calibri"/>
              </a:rPr>
              <a:t>Responsable pendiente</a:t>
            </a:r>
            <a:r>
              <a:rPr lang="es-CL" sz="950" dirty="0">
                <a:solidFill>
                  <a:srgbClr val="3A3A3A"/>
                </a:solidFill>
                <a:latin typeface="Calibri"/>
                <a:cs typeface="Calibri"/>
              </a:rPr>
              <a:t> de levantar.</a:t>
            </a:r>
          </a:p>
        </p:txBody>
      </p:sp>
      <p:sp>
        <p:nvSpPr>
          <p:cNvPr id="31" name="Encabezado"/>
          <p:cNvSpPr txBox="1"/>
          <p:nvPr/>
        </p:nvSpPr>
        <p:spPr>
          <a:xfrm>
            <a:off x="411480" y="4694108"/>
            <a:ext cx="4297680" cy="274320"/>
          </a:xfrm>
          <a:prstGeom prst="rect">
            <a:avLst/>
          </a:prstGeom>
          <a:noFill/>
        </p:spPr>
        <p:txBody>
          <a:bodyPr wrap="square" lIns="36576" tIns="18288" rIns="36576" bIns="18288" anchor="ctr"/>
          <a:lstStyle/>
          <a:p>
            <a:pPr algn="l">
              <a:buNone/>
            </a:pPr>
            <a:r>
              <a:rPr lang="es-CL" sz="1100" dirty="0" b="1">
                <a:solidFill>
                  <a:srgbClr val="1F497D"/>
                </a:solidFill>
                <a:latin typeface="Calibri"/>
                <a:cs typeface="Calibri"/>
              </a:rPr>
              <a:t>Estado del contenido de MP8 (tareas)</a:t>
            </a:r>
          </a:p>
        </p:txBody>
      </p:sp>
      <p:graphicFrame>
        <p:nvGraphicFramePr>
          <p:cNvPr id="32" name="Tabla estado"/>
          <p:cNvGraphicFramePr>
            <a:graphicFrameLocks noGrp="1"/>
          </p:cNvGraphicFramePr>
          <p:nvPr/>
        </p:nvGraphicFramePr>
        <p:xfrm>
          <a:off x="411480" y="4986716"/>
          <a:ext cx="4297680" cy="996696"/>
        </p:xfrm>
        <a:graphic>
          <a:graphicData uri="http://schemas.openxmlformats.org/drawingml/2006/table">
            <a:tbl>
              <a:tblPr firstRow="0" bandRow="0">
                <a:tableStyleId>{5940675A-B579-460E-94D1-54222C63F5DA}</a:tableStyleId>
              </a:tblPr>
              <a:tblGrid>
                <a:gridCol w="2331720"/>
                <a:gridCol w="777240"/>
                <a:gridCol w="1188720"/>
              </a:tblGrid>
              <a:tr h="256032">
                <a:tc>
                  <a:txBody>
                    <a:bodyPr/>
                    <a:lstStyle/>
                    <a:p>
                      <a:pPr algn="l">
                        <a:buNone/>
                      </a:pPr>
                      <a:r>
                        <a:rPr lang="es-CL" sz="1000" dirty="0" b="1">
                          <a:solidFill>
                            <a:srgbClr val="17375E"/>
                          </a:solidFill>
                          <a:latin typeface="Calibri"/>
                          <a:cs typeface="Calibri"/>
                        </a:rPr>
                        <a:t>Tareas (n = 192)</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ctr">
                        <a:buNone/>
                      </a:pPr>
                      <a:r>
                        <a:rPr lang="es-CL" sz="1000" dirty="0" b="1">
                          <a:solidFill>
                            <a:srgbClr val="17375E"/>
                          </a:solidFill>
                          <a:latin typeface="Calibri"/>
                          <a:cs typeface="Calibri"/>
                        </a:rPr>
                        <a:t>N.º</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ctr">
                        <a:buNone/>
                      </a:pPr>
                      <a:r>
                        <a:rPr lang="es-CL" sz="1000" dirty="0" b="1">
                          <a:solidFill>
                            <a:srgbClr val="17375E"/>
                          </a:solidFill>
                          <a:latin typeface="Calibri"/>
                          <a:cs typeface="Calibri"/>
                        </a:rPr>
                        <a:t>%</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r>
              <a:tr h="246888">
                <a:tc>
                  <a:txBody>
                    <a:bodyPr/>
                    <a:lstStyle/>
                    <a:p>
                      <a:pPr algn="l">
                        <a:buNone/>
                      </a:pPr>
                      <a:r>
                        <a:rPr lang="es-CL" sz="1050" dirty="0">
                          <a:solidFill>
                            <a:srgbClr val="3A3A3A"/>
                          </a:solidFill>
                          <a:latin typeface="Calibri"/>
                          <a:cs typeface="Calibri"/>
                        </a:rPr>
                        <a:t>Levantadas en terreno</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171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89,1 %</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1050" dirty="0">
                          <a:solidFill>
                            <a:srgbClr val="3A3A3A"/>
                          </a:solidFill>
                          <a:latin typeface="Calibri"/>
                          <a:cs typeface="Calibri"/>
                        </a:rPr>
                        <a:t>Propuestas, por validar</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21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ctr">
                        <a:buNone/>
                      </a:pPr>
                      <a:r>
                        <a:rPr lang="es-CL" sz="1050" dirty="0">
                          <a:solidFill>
                            <a:srgbClr val="3A3A3A"/>
                          </a:solidFill>
                          <a:latin typeface="Calibri"/>
                          <a:cs typeface="Calibri"/>
                        </a:rPr>
                        <a:t>10,9 %</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1050" dirty="0">
                          <a:solidFill>
                            <a:srgbClr val="3A3A3A"/>
                          </a:solidFill>
                          <a:latin typeface="Calibri"/>
                          <a:cs typeface="Calibri"/>
                        </a:rPr>
                        <a:t>Con responsable identificado</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ctr">
                        <a:buNone/>
                      </a:pPr>
                      <a:r>
                        <a:rPr lang="es-CL" sz="1050" dirty="0">
                          <a:solidFill>
                            <a:srgbClr val="3A3A3A"/>
                          </a:solidFill>
                          <a:latin typeface="Calibri"/>
                          <a:cs typeface="Calibri"/>
                        </a:rPr>
                        <a:t>83</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ctr">
                        <a:buNone/>
                      </a:pPr>
                      <a:r>
                        <a:rPr lang="es-CL" sz="1050" dirty="0">
                          <a:solidFill>
                            <a:srgbClr val="3A3A3A"/>
                          </a:solidFill>
                          <a:latin typeface="Calibri"/>
                          <a:cs typeface="Calibri"/>
                        </a:rPr>
                        <a:t>43,2 %</a:t>
                      </a:r>
                    </a:p>
                  </a:txBody>
                  <a:tcPr marL="45720" marR="45720" marT="18288" marB="18288" anchor="ctr">
                    <a:lnL>
                      <a:noFill/>
                    </a:lnL>
                    <a:lnR>
                      <a:noFill/>
                    </a:lnR>
                    <a:lnT>
                      <a:noFill/>
                    </a:lnT>
                    <a:lnB w="15875" cap="flat" cmpd="sng" algn="ctr">
                      <a:solidFill>
                        <a:srgbClr val="17375E"/>
                      </a:solidFill>
                      <a:prstDash val="solid"/>
                    </a:lnB>
                    <a:noFill/>
                  </a:tcPr>
                </a:tc>
              </a:tr>
            </a:tbl>
          </a:graphicData>
        </a:graphic>
      </p:graphicFrame>
      <p:sp>
        <p:nvSpPr>
          <p:cNvPr id="33"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Figura 3. Flujograma y tabla de actividades y tareas del subproceso C.1 (manual MP8 v1). En el manual, el texto naranjo identifica propuestas por validar.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Desarrollo y resultados del OE2 (1 de 2)</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9</a:t>
            </a:r>
          </a:p>
        </p:txBody>
      </p:sp>
      <p:sp>
        <p:nvSpPr>
          <p:cNvPr id="6" name="Estado"/>
          <p:cNvSpPr txBox="1"/>
          <p:nvPr/>
        </p:nvSpPr>
        <p:spPr>
          <a:xfrm>
            <a:off x="411480" y="2029968"/>
            <a:ext cx="8321040" cy="512064"/>
          </a:xfrm>
          <a:prstGeom prst="rect">
            <a:avLst/>
          </a:prstGeom>
          <a:noFill/>
        </p:spPr>
        <p:txBody>
          <a:bodyPr wrap="square" lIns="36576" tIns="18288" rIns="36576" bIns="18288" anchor="t"/>
          <a:lstStyle/>
          <a:p>
            <a:pPr algn="l">
              <a:lnSpc>
                <a:spcPct val="106000"/>
              </a:lnSpc>
              <a:buNone/>
            </a:pPr>
            <a:r>
              <a:rPr lang="es-CL" sz="1150" dirty="0" b="1">
                <a:solidFill>
                  <a:srgbClr val="17375E"/>
                </a:solidFill>
                <a:latin typeface="Calibri"/>
                <a:cs typeface="Calibri"/>
              </a:rPr>
              <a:t>Actividades realizadas. </a:t>
            </a:r>
            <a:r>
              <a:rPr lang="es-CL" sz="1150" dirty="0">
                <a:solidFill>
                  <a:srgbClr val="3A3A3A"/>
                </a:solidFill>
                <a:latin typeface="Calibri"/>
                <a:cs typeface="Calibri"/>
              </a:rPr>
              <a:t>OE2 se inicia en la semana 12 según el plan; a la fecha no se han realizado talleres de evaluación. El resultado de este periodo es el universo de tareas que se evaluará, definido por OE1.</a:t>
            </a:r>
          </a:p>
        </p:txBody>
      </p:sp>
      <p:sp>
        <p:nvSpPr>
          <p:cNvPr id="7" name="Encabezado"/>
          <p:cNvSpPr txBox="1"/>
          <p:nvPr/>
        </p:nvSpPr>
        <p:spPr>
          <a:xfrm>
            <a:off x="411480" y="2670048"/>
            <a:ext cx="5120640" cy="274320"/>
          </a:xfrm>
          <a:prstGeom prst="rect">
            <a:avLst/>
          </a:prstGeom>
          <a:noFill/>
        </p:spPr>
        <p:txBody>
          <a:bodyPr wrap="square" lIns="36576" tIns="18288" rIns="36576" bIns="18288" anchor="ctr"/>
          <a:lstStyle/>
          <a:p>
            <a:pPr algn="l">
              <a:buNone/>
            </a:pPr>
            <a:r>
              <a:rPr lang="es-CL" sz="1150" dirty="0" b="1">
                <a:solidFill>
                  <a:srgbClr val="1F497D"/>
                </a:solidFill>
                <a:latin typeface="Calibri"/>
                <a:cs typeface="Calibri"/>
              </a:rPr>
              <a:t>Tareas de MP8 por proceso (universo de OE2)</a:t>
            </a:r>
          </a:p>
        </p:txBody>
      </p:sp>
      <p:sp>
        <p:nvSpPr>
          <p:cNvPr id="8" name="Barra rotulo A"/>
          <p:cNvSpPr txBox="1"/>
          <p:nvPr/>
        </p:nvSpPr>
        <p:spPr>
          <a:xfrm>
            <a:off x="411480" y="3035808"/>
            <a:ext cx="1874520" cy="310896"/>
          </a:xfrm>
          <a:prstGeom prst="rect">
            <a:avLst/>
          </a:prstGeom>
          <a:noFill/>
        </p:spPr>
        <p:txBody>
          <a:bodyPr wrap="square" lIns="36576" tIns="18288" rIns="36576" bIns="18288" anchor="ctr"/>
          <a:lstStyle/>
          <a:p>
            <a:pPr algn="l">
              <a:buNone/>
            </a:pPr>
            <a:r>
              <a:rPr lang="es-CL" sz="1000" dirty="0">
                <a:solidFill>
                  <a:srgbClr val="3A3A3A"/>
                </a:solidFill>
                <a:latin typeface="Calibri"/>
                <a:cs typeface="Calibri"/>
              </a:rPr>
              <a:t>A Necesidad y dotación</a:t>
            </a:r>
          </a:p>
        </p:txBody>
      </p:sp>
      <p:sp>
        <p:nvSpPr>
          <p:cNvPr id="9" name="Barra prop A"/>
          <p:cNvSpPr/>
          <p:nvPr/>
        </p:nvSpPr>
        <p:spPr>
          <a:xfrm>
            <a:off x="2350008" y="3090672"/>
            <a:ext cx="363633" cy="201168"/>
          </a:xfrm>
          <a:prstGeom prst="rect">
            <a:avLst/>
          </a:prstGeom>
          <a:solidFill>
            <a:srgbClr val="A9C4E2"/>
          </a:solidFill>
          <a:ln>
            <a:noFill/>
          </a:ln>
        </p:spPr>
        <p:txBody>
          <a:bodyPr/>
          <a:lstStyle/>
          <a:p>
            <a:endParaRPr lang="es-CL"/>
          </a:p>
        </p:txBody>
      </p:sp>
      <p:sp>
        <p:nvSpPr>
          <p:cNvPr id="10" name="Barra valor A"/>
          <p:cNvSpPr txBox="1"/>
          <p:nvPr/>
        </p:nvSpPr>
        <p:spPr>
          <a:xfrm>
            <a:off x="2759361" y="3035808"/>
            <a:ext cx="502920" cy="310896"/>
          </a:xfrm>
          <a:prstGeom prst="rect">
            <a:avLst/>
          </a:prstGeom>
          <a:noFill/>
        </p:spPr>
        <p:txBody>
          <a:bodyPr wrap="square" lIns="36576" tIns="18288" rIns="36576" bIns="18288" anchor="ctr"/>
          <a:lstStyle/>
          <a:p>
            <a:pPr algn="l">
              <a:buNone/>
            </a:pPr>
            <a:r>
              <a:rPr lang="es-CL" sz="1000" dirty="0" b="1">
                <a:solidFill>
                  <a:srgbClr val="17375E"/>
                </a:solidFill>
                <a:latin typeface="Calibri"/>
                <a:cs typeface="Calibri"/>
              </a:rPr>
              <a:t>12</a:t>
            </a:r>
          </a:p>
        </p:txBody>
      </p:sp>
      <p:sp>
        <p:nvSpPr>
          <p:cNvPr id="11" name="Barra rotulo B"/>
          <p:cNvSpPr txBox="1"/>
          <p:nvPr/>
        </p:nvSpPr>
        <p:spPr>
          <a:xfrm>
            <a:off x="411480" y="3401568"/>
            <a:ext cx="1874520" cy="310896"/>
          </a:xfrm>
          <a:prstGeom prst="rect">
            <a:avLst/>
          </a:prstGeom>
          <a:noFill/>
        </p:spPr>
        <p:txBody>
          <a:bodyPr wrap="square" lIns="36576" tIns="18288" rIns="36576" bIns="18288" anchor="ctr"/>
          <a:lstStyle/>
          <a:p>
            <a:pPr algn="l">
              <a:buNone/>
            </a:pPr>
            <a:r>
              <a:rPr lang="es-CL" sz="1000" dirty="0">
                <a:solidFill>
                  <a:srgbClr val="3A3A3A"/>
                </a:solidFill>
                <a:latin typeface="Calibri"/>
                <a:cs typeface="Calibri"/>
              </a:rPr>
              <a:t>B Valoración de cargo</a:t>
            </a:r>
          </a:p>
        </p:txBody>
      </p:sp>
      <p:sp>
        <p:nvSpPr>
          <p:cNvPr id="12" name="Barra lev B"/>
          <p:cNvSpPr/>
          <p:nvPr/>
        </p:nvSpPr>
        <p:spPr>
          <a:xfrm>
            <a:off x="2350008" y="3456432"/>
            <a:ext cx="151514" cy="201168"/>
          </a:xfrm>
          <a:prstGeom prst="rect">
            <a:avLst/>
          </a:prstGeom>
          <a:solidFill>
            <a:srgbClr val="17375E"/>
          </a:solidFill>
          <a:ln>
            <a:noFill/>
          </a:ln>
        </p:spPr>
        <p:txBody>
          <a:bodyPr/>
          <a:lstStyle/>
          <a:p>
            <a:endParaRPr lang="es-CL"/>
          </a:p>
        </p:txBody>
      </p:sp>
      <p:sp>
        <p:nvSpPr>
          <p:cNvPr id="13" name="Barra prop B"/>
          <p:cNvSpPr/>
          <p:nvPr/>
        </p:nvSpPr>
        <p:spPr>
          <a:xfrm>
            <a:off x="2501522" y="3456432"/>
            <a:ext cx="242422" cy="201168"/>
          </a:xfrm>
          <a:prstGeom prst="rect">
            <a:avLst/>
          </a:prstGeom>
          <a:solidFill>
            <a:srgbClr val="A9C4E2"/>
          </a:solidFill>
          <a:ln>
            <a:noFill/>
          </a:ln>
        </p:spPr>
        <p:txBody>
          <a:bodyPr/>
          <a:lstStyle/>
          <a:p>
            <a:endParaRPr lang="es-CL"/>
          </a:p>
        </p:txBody>
      </p:sp>
      <p:sp>
        <p:nvSpPr>
          <p:cNvPr id="14" name="Barra valor B"/>
          <p:cNvSpPr txBox="1"/>
          <p:nvPr/>
        </p:nvSpPr>
        <p:spPr>
          <a:xfrm>
            <a:off x="2789664" y="3401568"/>
            <a:ext cx="502920" cy="310896"/>
          </a:xfrm>
          <a:prstGeom prst="rect">
            <a:avLst/>
          </a:prstGeom>
          <a:noFill/>
        </p:spPr>
        <p:txBody>
          <a:bodyPr wrap="square" lIns="36576" tIns="18288" rIns="36576" bIns="18288" anchor="ctr"/>
          <a:lstStyle/>
          <a:p>
            <a:pPr algn="l">
              <a:buNone/>
            </a:pPr>
            <a:r>
              <a:rPr lang="es-CL" sz="1000" dirty="0" b="1">
                <a:solidFill>
                  <a:srgbClr val="17375E"/>
                </a:solidFill>
                <a:latin typeface="Calibri"/>
                <a:cs typeface="Calibri"/>
              </a:rPr>
              <a:t>13</a:t>
            </a:r>
          </a:p>
        </p:txBody>
      </p:sp>
      <p:sp>
        <p:nvSpPr>
          <p:cNvPr id="15" name="Barra rotulo C"/>
          <p:cNvSpPr txBox="1"/>
          <p:nvPr/>
        </p:nvSpPr>
        <p:spPr>
          <a:xfrm>
            <a:off x="411480" y="3767328"/>
            <a:ext cx="1874520" cy="310896"/>
          </a:xfrm>
          <a:prstGeom prst="rect">
            <a:avLst/>
          </a:prstGeom>
          <a:noFill/>
        </p:spPr>
        <p:txBody>
          <a:bodyPr wrap="square" lIns="36576" tIns="18288" rIns="36576" bIns="18288" anchor="ctr"/>
          <a:lstStyle/>
          <a:p>
            <a:pPr algn="l">
              <a:buNone/>
            </a:pPr>
            <a:r>
              <a:rPr lang="es-CL" sz="1000" dirty="0">
                <a:solidFill>
                  <a:srgbClr val="3A3A3A"/>
                </a:solidFill>
                <a:latin typeface="Calibri"/>
                <a:cs typeface="Calibri"/>
              </a:rPr>
              <a:t>C Atracción y selección</a:t>
            </a:r>
          </a:p>
        </p:txBody>
      </p:sp>
      <p:sp>
        <p:nvSpPr>
          <p:cNvPr id="16" name="Barra lev C"/>
          <p:cNvSpPr/>
          <p:nvPr/>
        </p:nvSpPr>
        <p:spPr>
          <a:xfrm>
            <a:off x="2350008" y="3822192"/>
            <a:ext cx="2606040" cy="201168"/>
          </a:xfrm>
          <a:prstGeom prst="rect">
            <a:avLst/>
          </a:prstGeom>
          <a:solidFill>
            <a:srgbClr val="17375E"/>
          </a:solidFill>
          <a:ln>
            <a:noFill/>
          </a:ln>
        </p:spPr>
        <p:txBody>
          <a:bodyPr/>
          <a:lstStyle/>
          <a:p>
            <a:endParaRPr lang="es-CL"/>
          </a:p>
        </p:txBody>
      </p:sp>
      <p:sp>
        <p:nvSpPr>
          <p:cNvPr id="17" name="Barra valor C"/>
          <p:cNvSpPr txBox="1"/>
          <p:nvPr/>
        </p:nvSpPr>
        <p:spPr>
          <a:xfrm>
            <a:off x="5001768" y="3767328"/>
            <a:ext cx="502920" cy="310896"/>
          </a:xfrm>
          <a:prstGeom prst="rect">
            <a:avLst/>
          </a:prstGeom>
          <a:noFill/>
        </p:spPr>
        <p:txBody>
          <a:bodyPr wrap="square" lIns="36576" tIns="18288" rIns="36576" bIns="18288" anchor="ctr"/>
          <a:lstStyle/>
          <a:p>
            <a:pPr algn="l">
              <a:buNone/>
            </a:pPr>
            <a:r>
              <a:rPr lang="es-CL" sz="1000" dirty="0" b="1">
                <a:solidFill>
                  <a:srgbClr val="17375E"/>
                </a:solidFill>
                <a:latin typeface="Calibri"/>
                <a:cs typeface="Calibri"/>
              </a:rPr>
              <a:t>86</a:t>
            </a:r>
          </a:p>
        </p:txBody>
      </p:sp>
      <p:sp>
        <p:nvSpPr>
          <p:cNvPr id="18" name="Barra rotulo D"/>
          <p:cNvSpPr txBox="1"/>
          <p:nvPr/>
        </p:nvSpPr>
        <p:spPr>
          <a:xfrm>
            <a:off x="411480" y="4133088"/>
            <a:ext cx="1874520" cy="310896"/>
          </a:xfrm>
          <a:prstGeom prst="rect">
            <a:avLst/>
          </a:prstGeom>
          <a:noFill/>
        </p:spPr>
        <p:txBody>
          <a:bodyPr wrap="square" lIns="36576" tIns="18288" rIns="36576" bIns="18288" anchor="ctr"/>
          <a:lstStyle/>
          <a:p>
            <a:pPr algn="l">
              <a:buNone/>
            </a:pPr>
            <a:r>
              <a:rPr lang="es-CL" sz="1000" dirty="0">
                <a:solidFill>
                  <a:srgbClr val="3A3A3A"/>
                </a:solidFill>
                <a:latin typeface="Calibri"/>
                <a:cs typeface="Calibri"/>
              </a:rPr>
              <a:t>D Desarrollo organizacional</a:t>
            </a:r>
          </a:p>
        </p:txBody>
      </p:sp>
      <p:sp>
        <p:nvSpPr>
          <p:cNvPr id="19" name="Barra lev D"/>
          <p:cNvSpPr/>
          <p:nvPr/>
        </p:nvSpPr>
        <p:spPr>
          <a:xfrm>
            <a:off x="2350008" y="4187952"/>
            <a:ext cx="1757562" cy="201168"/>
          </a:xfrm>
          <a:prstGeom prst="rect">
            <a:avLst/>
          </a:prstGeom>
          <a:solidFill>
            <a:srgbClr val="17375E"/>
          </a:solidFill>
          <a:ln>
            <a:noFill/>
          </a:ln>
        </p:spPr>
        <p:txBody>
          <a:bodyPr/>
          <a:lstStyle/>
          <a:p>
            <a:endParaRPr lang="es-CL"/>
          </a:p>
        </p:txBody>
      </p:sp>
      <p:sp>
        <p:nvSpPr>
          <p:cNvPr id="20" name="Barra prop D"/>
          <p:cNvSpPr/>
          <p:nvPr/>
        </p:nvSpPr>
        <p:spPr>
          <a:xfrm>
            <a:off x="4107570" y="4187952"/>
            <a:ext cx="30303" cy="201168"/>
          </a:xfrm>
          <a:prstGeom prst="rect">
            <a:avLst/>
          </a:prstGeom>
          <a:solidFill>
            <a:srgbClr val="A9C4E2"/>
          </a:solidFill>
          <a:ln>
            <a:noFill/>
          </a:ln>
        </p:spPr>
        <p:txBody>
          <a:bodyPr/>
          <a:lstStyle/>
          <a:p>
            <a:endParaRPr lang="es-CL"/>
          </a:p>
        </p:txBody>
      </p:sp>
      <p:sp>
        <p:nvSpPr>
          <p:cNvPr id="21" name="Barra valor D"/>
          <p:cNvSpPr txBox="1"/>
          <p:nvPr/>
        </p:nvSpPr>
        <p:spPr>
          <a:xfrm>
            <a:off x="4183593" y="4133088"/>
            <a:ext cx="502920" cy="310896"/>
          </a:xfrm>
          <a:prstGeom prst="rect">
            <a:avLst/>
          </a:prstGeom>
          <a:noFill/>
        </p:spPr>
        <p:txBody>
          <a:bodyPr wrap="square" lIns="36576" tIns="18288" rIns="36576" bIns="18288" anchor="ctr"/>
          <a:lstStyle/>
          <a:p>
            <a:pPr algn="l">
              <a:buNone/>
            </a:pPr>
            <a:r>
              <a:rPr lang="es-CL" sz="1000" dirty="0" b="1">
                <a:solidFill>
                  <a:srgbClr val="17375E"/>
                </a:solidFill>
                <a:latin typeface="Calibri"/>
                <a:cs typeface="Calibri"/>
              </a:rPr>
              <a:t>59</a:t>
            </a:r>
          </a:p>
        </p:txBody>
      </p:sp>
      <p:sp>
        <p:nvSpPr>
          <p:cNvPr id="22" name="Barra rotulo E"/>
          <p:cNvSpPr txBox="1"/>
          <p:nvPr/>
        </p:nvSpPr>
        <p:spPr>
          <a:xfrm>
            <a:off x="411480" y="4498848"/>
            <a:ext cx="1874520" cy="310896"/>
          </a:xfrm>
          <a:prstGeom prst="rect">
            <a:avLst/>
          </a:prstGeom>
          <a:noFill/>
        </p:spPr>
        <p:txBody>
          <a:bodyPr wrap="square" lIns="36576" tIns="18288" rIns="36576" bIns="18288" anchor="ctr"/>
          <a:lstStyle/>
          <a:p>
            <a:pPr algn="l">
              <a:buNone/>
            </a:pPr>
            <a:r>
              <a:rPr lang="es-CL" sz="1000" dirty="0">
                <a:solidFill>
                  <a:srgbClr val="3A3A3A"/>
                </a:solidFill>
                <a:latin typeface="Calibri"/>
                <a:cs typeface="Calibri"/>
              </a:rPr>
              <a:t>E Compensaciones</a:t>
            </a:r>
          </a:p>
        </p:txBody>
      </p:sp>
      <p:sp>
        <p:nvSpPr>
          <p:cNvPr id="23" name="Barra lev E"/>
          <p:cNvSpPr/>
          <p:nvPr/>
        </p:nvSpPr>
        <p:spPr>
          <a:xfrm>
            <a:off x="2350008" y="4553712"/>
            <a:ext cx="666661" cy="201168"/>
          </a:xfrm>
          <a:prstGeom prst="rect">
            <a:avLst/>
          </a:prstGeom>
          <a:solidFill>
            <a:srgbClr val="17375E"/>
          </a:solidFill>
          <a:ln>
            <a:noFill/>
          </a:ln>
        </p:spPr>
        <p:txBody>
          <a:bodyPr/>
          <a:lstStyle/>
          <a:p>
            <a:endParaRPr lang="es-CL"/>
          </a:p>
        </p:txBody>
      </p:sp>
      <p:sp>
        <p:nvSpPr>
          <p:cNvPr id="24" name="Barra valor E"/>
          <p:cNvSpPr txBox="1"/>
          <p:nvPr/>
        </p:nvSpPr>
        <p:spPr>
          <a:xfrm>
            <a:off x="3062389" y="4498848"/>
            <a:ext cx="502920" cy="310896"/>
          </a:xfrm>
          <a:prstGeom prst="rect">
            <a:avLst/>
          </a:prstGeom>
          <a:noFill/>
        </p:spPr>
        <p:txBody>
          <a:bodyPr wrap="square" lIns="36576" tIns="18288" rIns="36576" bIns="18288" anchor="ctr"/>
          <a:lstStyle/>
          <a:p>
            <a:pPr algn="l">
              <a:buNone/>
            </a:pPr>
            <a:r>
              <a:rPr lang="es-CL" sz="1000" dirty="0" b="1">
                <a:solidFill>
                  <a:srgbClr val="17375E"/>
                </a:solidFill>
                <a:latin typeface="Calibri"/>
                <a:cs typeface="Calibri"/>
              </a:rPr>
              <a:t>22</a:t>
            </a:r>
          </a:p>
        </p:txBody>
      </p:sp>
      <p:sp>
        <p:nvSpPr>
          <p:cNvPr id="25" name="Ley lev"/>
          <p:cNvSpPr/>
          <p:nvPr/>
        </p:nvSpPr>
        <p:spPr>
          <a:xfrm>
            <a:off x="2350008" y="4956048"/>
            <a:ext cx="182880" cy="128016"/>
          </a:xfrm>
          <a:prstGeom prst="rect">
            <a:avLst/>
          </a:prstGeom>
          <a:solidFill>
            <a:srgbClr val="17375E"/>
          </a:solidFill>
          <a:ln>
            <a:noFill/>
          </a:ln>
        </p:spPr>
        <p:txBody>
          <a:bodyPr/>
          <a:lstStyle/>
          <a:p>
            <a:endParaRPr lang="es-CL"/>
          </a:p>
        </p:txBody>
      </p:sp>
      <p:sp>
        <p:nvSpPr>
          <p:cNvPr id="26" name="Ley lev t"/>
          <p:cNvSpPr txBox="1"/>
          <p:nvPr/>
        </p:nvSpPr>
        <p:spPr>
          <a:xfrm>
            <a:off x="2578608" y="4892040"/>
            <a:ext cx="1097280" cy="256032"/>
          </a:xfrm>
          <a:prstGeom prst="rect">
            <a:avLst/>
          </a:prstGeom>
          <a:noFill/>
        </p:spPr>
        <p:txBody>
          <a:bodyPr wrap="square" lIns="36576" tIns="18288" rIns="36576" bIns="18288" anchor="ctr"/>
          <a:lstStyle/>
          <a:p>
            <a:pPr algn="l">
              <a:buNone/>
            </a:pPr>
            <a:r>
              <a:rPr lang="es-CL" sz="950" dirty="0">
                <a:solidFill>
                  <a:srgbClr val="3A3A3A"/>
                </a:solidFill>
                <a:latin typeface="Calibri"/>
                <a:cs typeface="Calibri"/>
              </a:rPr>
              <a:t>Levantadas</a:t>
            </a:r>
          </a:p>
        </p:txBody>
      </p:sp>
      <p:sp>
        <p:nvSpPr>
          <p:cNvPr id="27" name="Ley prop"/>
          <p:cNvSpPr/>
          <p:nvPr/>
        </p:nvSpPr>
        <p:spPr>
          <a:xfrm>
            <a:off x="3630168" y="4956048"/>
            <a:ext cx="182880" cy="128016"/>
          </a:xfrm>
          <a:prstGeom prst="rect">
            <a:avLst/>
          </a:prstGeom>
          <a:solidFill>
            <a:srgbClr val="A9C4E2"/>
          </a:solidFill>
          <a:ln>
            <a:noFill/>
          </a:ln>
        </p:spPr>
        <p:txBody>
          <a:bodyPr/>
          <a:lstStyle/>
          <a:p>
            <a:endParaRPr lang="es-CL"/>
          </a:p>
        </p:txBody>
      </p:sp>
      <p:sp>
        <p:nvSpPr>
          <p:cNvPr id="28" name="Ley prop t"/>
          <p:cNvSpPr txBox="1"/>
          <p:nvPr/>
        </p:nvSpPr>
        <p:spPr>
          <a:xfrm>
            <a:off x="3858768" y="4892040"/>
            <a:ext cx="1463040" cy="256032"/>
          </a:xfrm>
          <a:prstGeom prst="rect">
            <a:avLst/>
          </a:prstGeom>
          <a:noFill/>
        </p:spPr>
        <p:txBody>
          <a:bodyPr wrap="square" lIns="36576" tIns="18288" rIns="36576" bIns="18288" anchor="ctr"/>
          <a:lstStyle/>
          <a:p>
            <a:pPr algn="l">
              <a:buNone/>
            </a:pPr>
            <a:r>
              <a:rPr lang="es-CL" sz="950" dirty="0">
                <a:solidFill>
                  <a:srgbClr val="3A3A3A"/>
                </a:solidFill>
                <a:latin typeface="Calibri"/>
                <a:cs typeface="Calibri"/>
              </a:rPr>
              <a:t>Propuestas por validar</a:t>
            </a:r>
          </a:p>
        </p:txBody>
      </p:sp>
      <p:sp>
        <p:nvSpPr>
          <p:cNvPr id="29" name="Regla vertical"/>
          <p:cNvSpPr/>
          <p:nvPr/>
        </p:nvSpPr>
        <p:spPr>
          <a:xfrm>
            <a:off x="5650992" y="2724912"/>
            <a:ext cx="12802" cy="3108960"/>
          </a:xfrm>
          <a:prstGeom prst="rect">
            <a:avLst/>
          </a:prstGeom>
          <a:solidFill>
            <a:srgbClr val="B8C6D9"/>
          </a:solidFill>
          <a:ln>
            <a:noFill/>
          </a:ln>
        </p:spPr>
        <p:txBody>
          <a:bodyPr/>
          <a:lstStyle/>
          <a:p>
            <a:endParaRPr lang="es-CL"/>
          </a:p>
        </p:txBody>
      </p:sp>
      <p:sp>
        <p:nvSpPr>
          <p:cNvPr id="30" name="Encabezado"/>
          <p:cNvSpPr txBox="1"/>
          <p:nvPr/>
        </p:nvSpPr>
        <p:spPr>
          <a:xfrm>
            <a:off x="5852160" y="2670048"/>
            <a:ext cx="2880360" cy="274320"/>
          </a:xfrm>
          <a:prstGeom prst="rect">
            <a:avLst/>
          </a:prstGeom>
          <a:noFill/>
        </p:spPr>
        <p:txBody>
          <a:bodyPr wrap="square" lIns="36576" tIns="18288" rIns="36576" bIns="18288" anchor="ctr"/>
          <a:lstStyle/>
          <a:p>
            <a:pPr algn="l">
              <a:buNone/>
            </a:pPr>
            <a:r>
              <a:rPr lang="es-CL" sz="1150" dirty="0" b="1">
                <a:solidFill>
                  <a:srgbClr val="1F497D"/>
                </a:solidFill>
                <a:latin typeface="Calibri"/>
                <a:cs typeface="Calibri"/>
              </a:rPr>
              <a:t>Condiciones para iniciar</a:t>
            </a:r>
          </a:p>
        </p:txBody>
      </p:sp>
      <p:sp>
        <p:nvSpPr>
          <p:cNvPr id="31" name="Cond num 1"/>
          <p:cNvSpPr txBox="1"/>
          <p:nvPr/>
        </p:nvSpPr>
        <p:spPr>
          <a:xfrm>
            <a:off x="5852160" y="3035808"/>
            <a:ext cx="256032" cy="402336"/>
          </a:xfrm>
          <a:prstGeom prst="rect">
            <a:avLst/>
          </a:prstGeom>
          <a:noFill/>
        </p:spPr>
        <p:txBody>
          <a:bodyPr wrap="square" lIns="36576" tIns="18288" rIns="36576" bIns="18288" anchor="t"/>
          <a:lstStyle/>
          <a:p>
            <a:pPr algn="l">
              <a:buNone/>
            </a:pPr>
            <a:r>
              <a:rPr lang="es-CL" sz="1200" dirty="0" b="1">
                <a:solidFill>
                  <a:srgbClr val="4F81BD"/>
                </a:solidFill>
                <a:latin typeface="Calibri"/>
                <a:cs typeface="Calibri"/>
              </a:rPr>
              <a:t>1</a:t>
            </a:r>
          </a:p>
        </p:txBody>
      </p:sp>
      <p:sp>
        <p:nvSpPr>
          <p:cNvPr id="32" name="Cond 1"/>
          <p:cNvSpPr txBox="1"/>
          <p:nvPr/>
        </p:nvSpPr>
        <p:spPr>
          <a:xfrm>
            <a:off x="6126480" y="3035808"/>
            <a:ext cx="2606040" cy="512064"/>
          </a:xfrm>
          <a:prstGeom prst="rect">
            <a:avLst/>
          </a:prstGeom>
          <a:noFill/>
        </p:spPr>
        <p:txBody>
          <a:bodyPr wrap="square" lIns="36576" tIns="18288" rIns="36576" bIns="18288" anchor="t"/>
          <a:lstStyle/>
          <a:p>
            <a:pPr algn="l">
              <a:lnSpc>
                <a:spcPct val="105000"/>
              </a:lnSpc>
              <a:buNone/>
            </a:pPr>
            <a:r>
              <a:rPr lang="es-CL" sz="1050" dirty="0">
                <a:solidFill>
                  <a:srgbClr val="3A3A3A"/>
                </a:solidFill>
                <a:latin typeface="Calibri"/>
                <a:cs typeface="Calibri"/>
              </a:rPr>
              <a:t>Validar las 21 tareas propuestas.</a:t>
            </a:r>
          </a:p>
        </p:txBody>
      </p:sp>
      <p:sp>
        <p:nvSpPr>
          <p:cNvPr id="33" name="Cond num 2"/>
          <p:cNvSpPr txBox="1"/>
          <p:nvPr/>
        </p:nvSpPr>
        <p:spPr>
          <a:xfrm>
            <a:off x="5852160" y="3639312"/>
            <a:ext cx="256032" cy="402336"/>
          </a:xfrm>
          <a:prstGeom prst="rect">
            <a:avLst/>
          </a:prstGeom>
          <a:noFill/>
        </p:spPr>
        <p:txBody>
          <a:bodyPr wrap="square" lIns="36576" tIns="18288" rIns="36576" bIns="18288" anchor="t"/>
          <a:lstStyle/>
          <a:p>
            <a:pPr algn="l">
              <a:buNone/>
            </a:pPr>
            <a:r>
              <a:rPr lang="es-CL" sz="1200" dirty="0" b="1">
                <a:solidFill>
                  <a:srgbClr val="4F81BD"/>
                </a:solidFill>
                <a:latin typeface="Calibri"/>
                <a:cs typeface="Calibri"/>
              </a:rPr>
              <a:t>2</a:t>
            </a:r>
          </a:p>
        </p:txBody>
      </p:sp>
      <p:sp>
        <p:nvSpPr>
          <p:cNvPr id="34" name="Cond 2"/>
          <p:cNvSpPr txBox="1"/>
          <p:nvPr/>
        </p:nvSpPr>
        <p:spPr>
          <a:xfrm>
            <a:off x="6126480" y="3639312"/>
            <a:ext cx="2606040" cy="512064"/>
          </a:xfrm>
          <a:prstGeom prst="rect">
            <a:avLst/>
          </a:prstGeom>
          <a:noFill/>
        </p:spPr>
        <p:txBody>
          <a:bodyPr wrap="square" lIns="36576" tIns="18288" rIns="36576" bIns="18288" anchor="t"/>
          <a:lstStyle/>
          <a:p>
            <a:pPr algn="l">
              <a:lnSpc>
                <a:spcPct val="105000"/>
              </a:lnSpc>
              <a:buNone/>
            </a:pPr>
            <a:r>
              <a:rPr lang="es-CL" sz="1050" dirty="0">
                <a:solidFill>
                  <a:srgbClr val="3A3A3A"/>
                </a:solidFill>
                <a:latin typeface="Calibri"/>
                <a:cs typeface="Calibri"/>
              </a:rPr>
              <a:t>Identificar 109 responsables pendientes.</a:t>
            </a:r>
          </a:p>
        </p:txBody>
      </p:sp>
      <p:sp>
        <p:nvSpPr>
          <p:cNvPr id="35" name="Cond num 3"/>
          <p:cNvSpPr txBox="1"/>
          <p:nvPr/>
        </p:nvSpPr>
        <p:spPr>
          <a:xfrm>
            <a:off x="5852160" y="4242816"/>
            <a:ext cx="256032" cy="402336"/>
          </a:xfrm>
          <a:prstGeom prst="rect">
            <a:avLst/>
          </a:prstGeom>
          <a:noFill/>
        </p:spPr>
        <p:txBody>
          <a:bodyPr wrap="square" lIns="36576" tIns="18288" rIns="36576" bIns="18288" anchor="t"/>
          <a:lstStyle/>
          <a:p>
            <a:pPr algn="l">
              <a:buNone/>
            </a:pPr>
            <a:r>
              <a:rPr lang="es-CL" sz="1200" dirty="0" b="1">
                <a:solidFill>
                  <a:srgbClr val="4F81BD"/>
                </a:solidFill>
                <a:latin typeface="Calibri"/>
                <a:cs typeface="Calibri"/>
              </a:rPr>
              <a:t>3</a:t>
            </a:r>
          </a:p>
        </p:txBody>
      </p:sp>
      <p:sp>
        <p:nvSpPr>
          <p:cNvPr id="36" name="Cond 3"/>
          <p:cNvSpPr txBox="1"/>
          <p:nvPr/>
        </p:nvSpPr>
        <p:spPr>
          <a:xfrm>
            <a:off x="6126480" y="4242816"/>
            <a:ext cx="2606040" cy="512064"/>
          </a:xfrm>
          <a:prstGeom prst="rect">
            <a:avLst/>
          </a:prstGeom>
          <a:noFill/>
        </p:spPr>
        <p:txBody>
          <a:bodyPr wrap="square" lIns="36576" tIns="18288" rIns="36576" bIns="18288" anchor="t"/>
          <a:lstStyle/>
          <a:p>
            <a:pPr algn="l">
              <a:lnSpc>
                <a:spcPct val="105000"/>
              </a:lnSpc>
              <a:buNone/>
            </a:pPr>
            <a:r>
              <a:rPr lang="es-CL" sz="1050" dirty="0">
                <a:solidFill>
                  <a:srgbClr val="3A3A3A"/>
                </a:solidFill>
                <a:latin typeface="Calibri"/>
                <a:cs typeface="Calibri"/>
              </a:rPr>
              <a:t>Incorporar F15 a F18 al manual MP8.</a:t>
            </a:r>
          </a:p>
        </p:txBody>
      </p:sp>
      <p:sp>
        <p:nvSpPr>
          <p:cNvPr id="37" name="Cond num 4"/>
          <p:cNvSpPr txBox="1"/>
          <p:nvPr/>
        </p:nvSpPr>
        <p:spPr>
          <a:xfrm>
            <a:off x="5852160" y="4846320"/>
            <a:ext cx="256032" cy="402336"/>
          </a:xfrm>
          <a:prstGeom prst="rect">
            <a:avLst/>
          </a:prstGeom>
          <a:noFill/>
        </p:spPr>
        <p:txBody>
          <a:bodyPr wrap="square" lIns="36576" tIns="18288" rIns="36576" bIns="18288" anchor="t"/>
          <a:lstStyle/>
          <a:p>
            <a:pPr algn="l">
              <a:buNone/>
            </a:pPr>
            <a:r>
              <a:rPr lang="es-CL" sz="1200" dirty="0" b="1">
                <a:solidFill>
                  <a:srgbClr val="4F81BD"/>
                </a:solidFill>
                <a:latin typeface="Calibri"/>
                <a:cs typeface="Calibri"/>
              </a:rPr>
              <a:t>4</a:t>
            </a:r>
          </a:p>
        </p:txBody>
      </p:sp>
      <p:sp>
        <p:nvSpPr>
          <p:cNvPr id="38" name="Cond 4"/>
          <p:cNvSpPr txBox="1"/>
          <p:nvPr/>
        </p:nvSpPr>
        <p:spPr>
          <a:xfrm>
            <a:off x="6126480" y="4846320"/>
            <a:ext cx="2606040" cy="512064"/>
          </a:xfrm>
          <a:prstGeom prst="rect">
            <a:avLst/>
          </a:prstGeom>
          <a:noFill/>
        </p:spPr>
        <p:txBody>
          <a:bodyPr wrap="square" lIns="36576" tIns="18288" rIns="36576" bIns="18288" anchor="t"/>
          <a:lstStyle/>
          <a:p>
            <a:pPr algn="l">
              <a:lnSpc>
                <a:spcPct val="105000"/>
              </a:lnSpc>
              <a:buNone/>
            </a:pPr>
            <a:r>
              <a:rPr lang="es-CL" sz="1050" dirty="0">
                <a:solidFill>
                  <a:srgbClr val="3A3A3A"/>
                </a:solidFill>
                <a:latin typeface="Calibri"/>
                <a:cs typeface="Calibri"/>
              </a:rPr>
              <a:t>Levantar actividades y tareas de MP21.</a:t>
            </a:r>
          </a:p>
        </p:txBody>
      </p:sp>
      <p:sp>
        <p:nvSpPr>
          <p:cNvPr id="39"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Fuente: elaboración propia a partir del manual MP8 v1. Una tarea no descrita no puede evaluarse: estas condiciones fijan la cobertura alcanzable del TCER.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Desarrollo y resultados del OE2 (2 de 2)</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10</a:t>
            </a:r>
          </a:p>
        </p:txBody>
      </p:sp>
      <p:sp>
        <p:nvSpPr>
          <p:cNvPr id="6" name="Bajada"/>
          <p:cNvSpPr txBox="1"/>
          <p:nvPr/>
        </p:nvSpPr>
        <p:spPr>
          <a:xfrm>
            <a:off x="411480" y="2029968"/>
            <a:ext cx="8321040" cy="512064"/>
          </a:xfrm>
          <a:prstGeom prst="rect">
            <a:avLst/>
          </a:prstGeom>
          <a:noFill/>
        </p:spPr>
        <p:txBody>
          <a:bodyPr wrap="square" lIns="36576" tIns="18288" rIns="36576" bIns="18288" anchor="t"/>
          <a:lstStyle/>
          <a:p>
            <a:pPr algn="l">
              <a:lnSpc>
                <a:spcPct val="106000"/>
              </a:lnSpc>
              <a:buNone/>
            </a:pPr>
            <a:r>
              <a:rPr lang="es-CL" sz="1150" dirty="0">
                <a:solidFill>
                  <a:srgbClr val="3A3A3A"/>
                </a:solidFill>
                <a:latin typeface="Calibri"/>
                <a:cs typeface="Calibri"/>
              </a:rPr>
              <a:t>La matriz de riesgos se construye sobre la tabla de actividades y tareas del manual: cada fila es una tarea con su código y responsable, a la que se agregan los siete atributos de COSO II.</a:t>
            </a:r>
          </a:p>
        </p:txBody>
      </p:sp>
      <p:sp>
        <p:nvSpPr>
          <p:cNvPr id="7" name="Encabezado"/>
          <p:cNvSpPr txBox="1"/>
          <p:nvPr/>
        </p:nvSpPr>
        <p:spPr>
          <a:xfrm>
            <a:off x="411480" y="2697480"/>
            <a:ext cx="3566160" cy="274320"/>
          </a:xfrm>
          <a:prstGeom prst="rect">
            <a:avLst/>
          </a:prstGeom>
          <a:noFill/>
        </p:spPr>
        <p:txBody>
          <a:bodyPr wrap="square" lIns="36576" tIns="18288" rIns="36576" bIns="18288" anchor="ctr"/>
          <a:lstStyle/>
          <a:p>
            <a:pPr algn="l">
              <a:buNone/>
            </a:pPr>
            <a:r>
              <a:rPr lang="es-CL" sz="1100" dirty="0" b="1">
                <a:solidFill>
                  <a:srgbClr val="1F497D"/>
                </a:solidFill>
                <a:latin typeface="Calibri"/>
                <a:cs typeface="Calibri"/>
              </a:rPr>
              <a:t>Desde el manual de procesos (OE1)</a:t>
            </a:r>
          </a:p>
        </p:txBody>
      </p:sp>
      <p:sp>
        <p:nvSpPr>
          <p:cNvPr id="8" name="Regla"/>
          <p:cNvSpPr/>
          <p:nvPr/>
        </p:nvSpPr>
        <p:spPr>
          <a:xfrm>
            <a:off x="411480" y="3008376"/>
            <a:ext cx="3566160" cy="16459"/>
          </a:xfrm>
          <a:prstGeom prst="rect">
            <a:avLst/>
          </a:prstGeom>
          <a:solidFill>
            <a:srgbClr val="17375E"/>
          </a:solidFill>
          <a:ln>
            <a:noFill/>
          </a:ln>
        </p:spPr>
        <p:txBody>
          <a:bodyPr/>
          <a:lstStyle/>
          <a:p>
            <a:endParaRPr lang="es-CL"/>
          </a:p>
        </p:txBody>
      </p:sp>
      <p:sp>
        <p:nvSpPr>
          <p:cNvPr id="9" name="Origen Código MGO"/>
          <p:cNvSpPr txBox="1"/>
          <p:nvPr/>
        </p:nvSpPr>
        <p:spPr>
          <a:xfrm>
            <a:off x="411480" y="3081528"/>
            <a:ext cx="3566160"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Código MGO</a:t>
            </a:r>
          </a:p>
        </p:txBody>
      </p:sp>
      <p:sp>
        <p:nvSpPr>
          <p:cNvPr id="10" name="Origen Subproceso y actividad"/>
          <p:cNvSpPr txBox="1"/>
          <p:nvPr/>
        </p:nvSpPr>
        <p:spPr>
          <a:xfrm>
            <a:off x="411480" y="3346704"/>
            <a:ext cx="3566160"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Subproceso y actividad</a:t>
            </a:r>
          </a:p>
        </p:txBody>
      </p:sp>
      <p:sp>
        <p:nvSpPr>
          <p:cNvPr id="11" name="Origen Tarea"/>
          <p:cNvSpPr txBox="1"/>
          <p:nvPr/>
        </p:nvSpPr>
        <p:spPr>
          <a:xfrm>
            <a:off x="411480" y="3611880"/>
            <a:ext cx="3566160"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Tarea</a:t>
            </a:r>
          </a:p>
        </p:txBody>
      </p:sp>
      <p:sp>
        <p:nvSpPr>
          <p:cNvPr id="12" name="Origen Responsable"/>
          <p:cNvSpPr txBox="1"/>
          <p:nvPr/>
        </p:nvSpPr>
        <p:spPr>
          <a:xfrm>
            <a:off x="411480" y="3877056"/>
            <a:ext cx="3566160"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Responsable</a:t>
            </a:r>
          </a:p>
        </p:txBody>
      </p:sp>
      <p:sp>
        <p:nvSpPr>
          <p:cNvPr id="13" name="Flecha"/>
          <p:cNvSpPr/>
          <p:nvPr/>
        </p:nvSpPr>
        <p:spPr>
          <a:xfrm>
            <a:off x="4142232" y="3566160"/>
            <a:ext cx="502920" cy="329184"/>
          </a:xfrm>
          <a:prstGeom prst="rightArrow">
            <a:avLst>
              <a:gd name="adj1" fmla="val 50000"/>
              <a:gd name="adj2" fmla="val 50000"/>
            </a:avLst>
          </a:prstGeom>
          <a:solidFill>
            <a:srgbClr val="7FA6D0"/>
          </a:solidFill>
          <a:ln>
            <a:noFill/>
          </a:ln>
        </p:spPr>
        <p:txBody>
          <a:bodyPr/>
          <a:lstStyle/>
          <a:p>
            <a:endParaRPr lang="es-CL"/>
          </a:p>
        </p:txBody>
      </p:sp>
      <p:sp>
        <p:nvSpPr>
          <p:cNvPr id="14" name="Encabezado"/>
          <p:cNvSpPr txBox="1"/>
          <p:nvPr/>
        </p:nvSpPr>
        <p:spPr>
          <a:xfrm>
            <a:off x="4818888" y="2697480"/>
            <a:ext cx="3913632" cy="274320"/>
          </a:xfrm>
          <a:prstGeom prst="rect">
            <a:avLst/>
          </a:prstGeom>
          <a:noFill/>
        </p:spPr>
        <p:txBody>
          <a:bodyPr wrap="square" lIns="36576" tIns="18288" rIns="36576" bIns="18288" anchor="ctr"/>
          <a:lstStyle/>
          <a:p>
            <a:pPr algn="l">
              <a:buNone/>
            </a:pPr>
            <a:r>
              <a:rPr lang="es-CL" sz="1100" dirty="0" b="1">
                <a:solidFill>
                  <a:srgbClr val="1F497D"/>
                </a:solidFill>
                <a:latin typeface="Calibri"/>
                <a:cs typeface="Calibri"/>
              </a:rPr>
              <a:t>Atributos COSO II por tarea (OE2)</a:t>
            </a:r>
          </a:p>
        </p:txBody>
      </p:sp>
      <p:sp>
        <p:nvSpPr>
          <p:cNvPr id="15" name="Regla"/>
          <p:cNvSpPr/>
          <p:nvPr/>
        </p:nvSpPr>
        <p:spPr>
          <a:xfrm>
            <a:off x="4818888" y="3008376"/>
            <a:ext cx="3913632" cy="16459"/>
          </a:xfrm>
          <a:prstGeom prst="rect">
            <a:avLst/>
          </a:prstGeom>
          <a:solidFill>
            <a:srgbClr val="17375E"/>
          </a:solidFill>
          <a:ln>
            <a:noFill/>
          </a:ln>
        </p:spPr>
        <p:txBody>
          <a:bodyPr/>
          <a:lstStyle/>
          <a:p>
            <a:endParaRPr lang="es-CL"/>
          </a:p>
        </p:txBody>
      </p:sp>
      <p:sp>
        <p:nvSpPr>
          <p:cNvPr id="16" name="Atributo Evento de riesgo"/>
          <p:cNvSpPr txBox="1"/>
          <p:nvPr/>
        </p:nvSpPr>
        <p:spPr>
          <a:xfrm>
            <a:off x="4818888" y="3081528"/>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Evento de riesgo</a:t>
            </a:r>
          </a:p>
        </p:txBody>
      </p:sp>
      <p:sp>
        <p:nvSpPr>
          <p:cNvPr id="17" name="Atributo Categoría"/>
          <p:cNvSpPr txBox="1"/>
          <p:nvPr/>
        </p:nvSpPr>
        <p:spPr>
          <a:xfrm>
            <a:off x="4818888" y="3346704"/>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Categoría</a:t>
            </a:r>
          </a:p>
        </p:txBody>
      </p:sp>
      <p:sp>
        <p:nvSpPr>
          <p:cNvPr id="18" name="Atributo Probabilidad"/>
          <p:cNvSpPr txBox="1"/>
          <p:nvPr/>
        </p:nvSpPr>
        <p:spPr>
          <a:xfrm>
            <a:off x="4818888" y="3611880"/>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Probabilidad</a:t>
            </a:r>
          </a:p>
        </p:txBody>
      </p:sp>
      <p:sp>
        <p:nvSpPr>
          <p:cNvPr id="19" name="Atributo Impacto"/>
          <p:cNvSpPr txBox="1"/>
          <p:nvPr/>
        </p:nvSpPr>
        <p:spPr>
          <a:xfrm>
            <a:off x="4818888" y="3877056"/>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Impacto</a:t>
            </a:r>
          </a:p>
        </p:txBody>
      </p:sp>
      <p:sp>
        <p:nvSpPr>
          <p:cNvPr id="20" name="Atributo Riesgo inherente"/>
          <p:cNvSpPr txBox="1"/>
          <p:nvPr/>
        </p:nvSpPr>
        <p:spPr>
          <a:xfrm>
            <a:off x="6775704" y="3081528"/>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Riesgo inherente</a:t>
            </a:r>
          </a:p>
        </p:txBody>
      </p:sp>
      <p:sp>
        <p:nvSpPr>
          <p:cNvPr id="21" name="Atributo Controles existentes"/>
          <p:cNvSpPr txBox="1"/>
          <p:nvPr/>
        </p:nvSpPr>
        <p:spPr>
          <a:xfrm>
            <a:off x="6775704" y="3346704"/>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Controles existentes</a:t>
            </a:r>
          </a:p>
        </p:txBody>
      </p:sp>
      <p:sp>
        <p:nvSpPr>
          <p:cNvPr id="22" name="Atributo Riesgo residual"/>
          <p:cNvSpPr txBox="1"/>
          <p:nvPr/>
        </p:nvSpPr>
        <p:spPr>
          <a:xfrm>
            <a:off x="6775704" y="3611880"/>
            <a:ext cx="1956816" cy="246888"/>
          </a:xfrm>
          <a:prstGeom prst="rect">
            <a:avLst/>
          </a:prstGeom>
          <a:noFill/>
        </p:spPr>
        <p:txBody>
          <a:bodyPr wrap="square" lIns="36576" tIns="18288" rIns="36576" bIns="18288" anchor="ctr"/>
          <a:lstStyle/>
          <a:p>
            <a:pPr algn="l">
              <a:buNone/>
            </a:pPr>
            <a:r>
              <a:rPr lang="es-CL" sz="1050" dirty="0">
                <a:solidFill>
                  <a:srgbClr val="3A3A3A"/>
                </a:solidFill>
                <a:latin typeface="Calibri"/>
                <a:cs typeface="Calibri"/>
              </a:rPr>
              <a:t>Riesgo residual</a:t>
            </a:r>
          </a:p>
        </p:txBody>
      </p:sp>
      <p:sp>
        <p:nvSpPr>
          <p:cNvPr id="23" name="Encabezado"/>
          <p:cNvSpPr txBox="1"/>
          <p:nvPr/>
        </p:nvSpPr>
        <p:spPr>
          <a:xfrm>
            <a:off x="411480" y="4315968"/>
            <a:ext cx="8321040" cy="274320"/>
          </a:xfrm>
          <a:prstGeom prst="rect">
            <a:avLst/>
          </a:prstGeom>
          <a:noFill/>
        </p:spPr>
        <p:txBody>
          <a:bodyPr wrap="square" lIns="36576" tIns="18288" rIns="36576" bIns="18288" anchor="ctr"/>
          <a:lstStyle/>
          <a:p>
            <a:pPr algn="l">
              <a:buNone/>
            </a:pPr>
            <a:r>
              <a:rPr lang="es-CL" sz="1100" dirty="0" b="1">
                <a:solidFill>
                  <a:srgbClr val="1F497D"/>
                </a:solidFill>
                <a:latin typeface="Calibri"/>
                <a:cs typeface="Calibri"/>
              </a:rPr>
              <a:t>Ejemplo de fila con datos del manual MP8 (subproceso C.1)</a:t>
            </a:r>
          </a:p>
        </p:txBody>
      </p:sp>
      <p:graphicFrame>
        <p:nvGraphicFramePr>
          <p:cNvPr id="24" name="Tabla ejemplo"/>
          <p:cNvGraphicFramePr>
            <a:graphicFrameLocks noGrp="1"/>
          </p:cNvGraphicFramePr>
          <p:nvPr/>
        </p:nvGraphicFramePr>
        <p:xfrm>
          <a:off x="411480" y="4645152"/>
          <a:ext cx="8321040" cy="1115568"/>
        </p:xfrm>
        <a:graphic>
          <a:graphicData uri="http://schemas.openxmlformats.org/drawingml/2006/table">
            <a:tbl>
              <a:tblPr firstRow="0" bandRow="0">
                <a:tableStyleId>{5940675A-B579-460E-94D1-54222C63F5DA}</a:tableStyleId>
              </a:tblPr>
              <a:tblGrid>
                <a:gridCol w="566928"/>
                <a:gridCol w="3246120"/>
                <a:gridCol w="1554480"/>
                <a:gridCol w="2953512"/>
              </a:tblGrid>
              <a:tr h="274320">
                <a:tc>
                  <a:txBody>
                    <a:bodyPr/>
                    <a:lstStyle/>
                    <a:p>
                      <a:pPr algn="l">
                        <a:buNone/>
                      </a:pPr>
                      <a:r>
                        <a:rPr lang="es-CL" sz="1000" dirty="0" b="1">
                          <a:solidFill>
                            <a:srgbClr val="17375E"/>
                          </a:solidFill>
                          <a:latin typeface="Calibri"/>
                          <a:cs typeface="Calibri"/>
                        </a:rPr>
                        <a:t>Código</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00" dirty="0" b="1">
                          <a:solidFill>
                            <a:srgbClr val="17375E"/>
                          </a:solidFill>
                          <a:latin typeface="Calibri"/>
                          <a:cs typeface="Calibri"/>
                        </a:rPr>
                        <a:t>Tarea</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00" dirty="0" b="1">
                          <a:solidFill>
                            <a:srgbClr val="17375E"/>
                          </a:solidFill>
                          <a:latin typeface="Calibri"/>
                          <a:cs typeface="Calibri"/>
                        </a:rPr>
                        <a:t>Responsable</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c>
                  <a:txBody>
                    <a:bodyPr/>
                    <a:lstStyle/>
                    <a:p>
                      <a:pPr algn="l">
                        <a:buNone/>
                      </a:pPr>
                      <a:r>
                        <a:rPr lang="es-CL" sz="1000" dirty="0" b="1">
                          <a:solidFill>
                            <a:srgbClr val="17375E"/>
                          </a:solidFill>
                          <a:latin typeface="Calibri"/>
                          <a:cs typeface="Calibri"/>
                        </a:rPr>
                        <a:t>Atributos COSO II</a:t>
                      </a:r>
                    </a:p>
                  </a:txBody>
                  <a:tcPr marL="45720" marR="45720" marT="18288" marB="18288" anchor="ctr">
                    <a:lnL>
                      <a:noFill/>
                    </a:lnL>
                    <a:lnR>
                      <a:noFill/>
                    </a:lnR>
                    <a:lnT w="15875" cap="flat" cmpd="sng" algn="ctr">
                      <a:solidFill>
                        <a:srgbClr val="17375E"/>
                      </a:solidFill>
                      <a:prstDash val="solid"/>
                    </a:lnT>
                    <a:lnB w="9525" cap="flat" cmpd="sng" algn="ctr">
                      <a:solidFill>
                        <a:srgbClr val="17375E"/>
                      </a:solidFill>
                      <a:prstDash val="solid"/>
                    </a:lnB>
                    <a:noFill/>
                  </a:tcPr>
                </a:tc>
              </a:tr>
              <a:tr h="420624">
                <a:tc>
                  <a:txBody>
                    <a:bodyPr/>
                    <a:lstStyle/>
                    <a:p>
                      <a:pPr algn="l">
                        <a:buNone/>
                      </a:pPr>
                      <a:r>
                        <a:rPr lang="es-CL" sz="1050" dirty="0" b="1">
                          <a:solidFill>
                            <a:srgbClr val="17375E"/>
                          </a:solidFill>
                          <a:latin typeface="Calibri"/>
                          <a:cs typeface="Calibri"/>
                        </a:rPr>
                        <a:t>C.1.1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Verificar disponibilidad de la vacante con el área de Personas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a:solidFill>
                            <a:srgbClr val="3A3A3A"/>
                          </a:solidFill>
                          <a:latin typeface="Calibri"/>
                          <a:cs typeface="Calibri"/>
                        </a:rPr>
                        <a:t>Área Solicitante</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1050" dirty="0" i="1">
                          <a:solidFill>
                            <a:srgbClr val="6B6B6B"/>
                          </a:solidFill>
                          <a:latin typeface="Calibri"/>
                          <a:cs typeface="Calibri"/>
                        </a:rPr>
                        <a:t>Se determina en los talleres A2.1 y A2.2</a:t>
                      </a:r>
                    </a:p>
                  </a:txBody>
                  <a:tcPr marL="45720" marR="45720" marT="18288" marB="18288" anchor="ctr">
                    <a:lnL>
                      <a:noFill/>
                    </a:lnL>
                    <a:lnR>
                      <a:noFill/>
                    </a:lnR>
                    <a:lnT>
                      <a:noFill/>
                    </a:lnT>
                    <a:lnB w="6350" cap="flat" cmpd="sng" algn="ctr">
                      <a:solidFill>
                        <a:srgbClr val="B8C6D9"/>
                      </a:solidFill>
                      <a:prstDash val="solid"/>
                    </a:lnB>
                    <a:noFill/>
                  </a:tcPr>
                </a:tc>
              </a:tr>
              <a:tr h="420624">
                <a:tc>
                  <a:txBody>
                    <a:bodyPr/>
                    <a:lstStyle/>
                    <a:p>
                      <a:pPr algn="l">
                        <a:buNone/>
                      </a:pPr>
                      <a:r>
                        <a:rPr lang="es-CL" sz="1050" dirty="0" b="1">
                          <a:solidFill>
                            <a:srgbClr val="17375E"/>
                          </a:solidFill>
                          <a:latin typeface="Calibri"/>
                          <a:cs typeface="Calibri"/>
                        </a:rPr>
                        <a:t>C.1.1</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1050" dirty="0">
                          <a:solidFill>
                            <a:srgbClr val="3A3A3A"/>
                          </a:solidFill>
                          <a:latin typeface="Calibri"/>
                          <a:cs typeface="Calibri"/>
                        </a:rPr>
                        <a:t>Priorizar la necesidad según urgencia en reunión de inicio</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1050" dirty="0" i="1">
                          <a:solidFill>
                            <a:srgbClr val="6B6B6B"/>
                          </a:solidFill>
                          <a:latin typeface="Calibri"/>
                          <a:cs typeface="Calibri"/>
                        </a:rPr>
                        <a:t>Pendiente</a:t>
                      </a:r>
                    </a:p>
                  </a:txBody>
                  <a:tcPr marL="45720" marR="45720" marT="18288" marB="18288" anchor="ctr">
                    <a:lnL>
                      <a:noFill/>
                    </a:lnL>
                    <a:lnR>
                      <a:noFill/>
                    </a:lnR>
                    <a:lnT>
                      <a:noFill/>
                    </a:lnT>
                    <a:lnB w="15875" cap="flat" cmpd="sng" algn="ctr">
                      <a:solidFill>
                        <a:srgbClr val="17375E"/>
                      </a:solidFill>
                      <a:prstDash val="solid"/>
                    </a:lnB>
                    <a:noFill/>
                  </a:tcPr>
                </a:tc>
                <a:tc>
                  <a:txBody>
                    <a:bodyPr/>
                    <a:lstStyle/>
                    <a:p>
                      <a:pPr algn="l">
                        <a:buNone/>
                      </a:pPr>
                      <a:r>
                        <a:rPr lang="es-CL" sz="1050" dirty="0" i="1">
                          <a:solidFill>
                            <a:srgbClr val="6B6B6B"/>
                          </a:solidFill>
                          <a:latin typeface="Calibri"/>
                          <a:cs typeface="Calibri"/>
                        </a:rPr>
                        <a:t>Se determina en los talleres A2.1 y A2.2</a:t>
                      </a:r>
                    </a:p>
                  </a:txBody>
                  <a:tcPr marL="45720" marR="45720" marT="18288" marB="18288" anchor="ctr">
                    <a:lnL>
                      <a:noFill/>
                    </a:lnL>
                    <a:lnR>
                      <a:noFill/>
                    </a:lnR>
                    <a:lnT>
                      <a:noFill/>
                    </a:lnT>
                    <a:lnB w="15875" cap="flat" cmpd="sng" algn="ctr">
                      <a:solidFill>
                        <a:srgbClr val="17375E"/>
                      </a:solidFill>
                      <a:prstDash val="solid"/>
                    </a:lnB>
                    <a:noFill/>
                  </a:tcPr>
                </a:tc>
              </a:tr>
            </a:tbl>
          </a:graphicData>
        </a:graphic>
      </p:graphicFrame>
      <p:sp>
        <p:nvSpPr>
          <p:cNvPr id="25" name="Fuente"/>
          <p:cNvSpPr txBox="1"/>
          <p:nvPr/>
        </p:nvSpPr>
        <p:spPr>
          <a:xfrm>
            <a:off x="411480" y="6053328"/>
            <a:ext cx="7589520" cy="256032"/>
          </a:xfrm>
          <a:prstGeom prst="rect">
            <a:avLst/>
          </a:prstGeom>
          <a:noFill/>
        </p:spPr>
        <p:txBody>
          <a:bodyPr wrap="square" lIns="36576" tIns="18288" rIns="36576" bIns="18288" anchor="ctr"/>
          <a:lstStyle/>
          <a:p>
            <a:pPr algn="l">
              <a:buNone/>
            </a:pPr>
            <a:r>
              <a:rPr lang="es-CL" sz="850" dirty="0" i="1">
                <a:solidFill>
                  <a:srgbClr val="6B6B6B"/>
                </a:solidFill>
                <a:latin typeface="Calibri"/>
                <a:cs typeface="Calibri"/>
              </a:rPr>
              <a:t>Fuente: elaboración propia. Estructura de atributos según la sección 2.3.2 del informe; tareas y responsables tomados del manual MP8 v1.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Carta Gantt · Nivel de cumplimiento</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11</a:t>
            </a:r>
          </a:p>
        </p:txBody>
      </p:sp>
      <p:sp>
        <p:nvSpPr>
          <p:cNvPr id="6" name="Bajada"/>
          <p:cNvSpPr txBox="1"/>
          <p:nvPr/>
        </p:nvSpPr>
        <p:spPr>
          <a:xfrm>
            <a:off x="411480" y="1975104"/>
            <a:ext cx="8321040" cy="310896"/>
          </a:xfrm>
          <a:prstGeom prst="rect">
            <a:avLst/>
          </a:prstGeom>
          <a:noFill/>
        </p:spPr>
        <p:txBody>
          <a:bodyPr wrap="square" lIns="36576" tIns="18288" rIns="36576" bIns="18288" anchor="ctr"/>
          <a:lstStyle/>
          <a:p>
            <a:pPr algn="l">
              <a:buNone/>
            </a:pPr>
            <a:r>
              <a:rPr lang="es-CL" sz="1100" dirty="0">
                <a:solidFill>
                  <a:srgbClr val="3A3A3A"/>
                </a:solidFill>
                <a:latin typeface="Calibri"/>
                <a:cs typeface="Calibri"/>
              </a:rPr>
              <a:t>Horizonte de 20 semanas, agosto 2026 a enero 2027. Esta presentación corresponde a la </a:t>
            </a:r>
            <a:r>
              <a:rPr lang="es-CL" sz="1100" dirty="0" b="1">
                <a:solidFill>
                  <a:srgbClr val="17375E"/>
                </a:solidFill>
                <a:latin typeface="Calibri"/>
                <a:cs typeface="Calibri"/>
              </a:rPr>
              <a:t>semana 10</a:t>
            </a:r>
            <a:r>
              <a:rPr lang="es-CL" sz="1100" dirty="0">
                <a:solidFill>
                  <a:srgbClr val="3A3A3A"/>
                </a:solidFill>
                <a:latin typeface="Calibri"/>
                <a:cs typeface="Calibri"/>
              </a:rPr>
              <a:t>.</a:t>
            </a:r>
          </a:p>
        </p:txBody>
      </p:sp>
      <p:graphicFrame>
        <p:nvGraphicFramePr>
          <p:cNvPr id="7" name="Tabla Gantt"/>
          <p:cNvGraphicFramePr>
            <a:graphicFrameLocks noGrp="1"/>
          </p:cNvGraphicFramePr>
          <p:nvPr/>
        </p:nvGraphicFramePr>
        <p:xfrm>
          <a:off x="411480" y="2340864"/>
          <a:ext cx="8321040" cy="3218688"/>
        </p:xfrm>
        <a:graphic>
          <a:graphicData uri="http://schemas.openxmlformats.org/drawingml/2006/table">
            <a:tbl>
              <a:tblPr firstRow="0" bandRow="0">
                <a:tableStyleId>{5940675A-B579-460E-94D1-54222C63F5DA}</a:tableStyleId>
              </a:tblPr>
              <a:tblGrid>
                <a:gridCol w="2395728"/>
                <a:gridCol w="239573"/>
                <a:gridCol w="239573"/>
                <a:gridCol w="239573"/>
                <a:gridCol w="239573"/>
                <a:gridCol w="239573"/>
                <a:gridCol w="239573"/>
                <a:gridCol w="239573"/>
                <a:gridCol w="239573"/>
                <a:gridCol w="239573"/>
                <a:gridCol w="239573"/>
                <a:gridCol w="239573"/>
                <a:gridCol w="239573"/>
                <a:gridCol w="239573"/>
                <a:gridCol w="239573"/>
                <a:gridCol w="239573"/>
                <a:gridCol w="239573"/>
                <a:gridCol w="239573"/>
                <a:gridCol w="239573"/>
                <a:gridCol w="239573"/>
                <a:gridCol w="239573"/>
                <a:gridCol w="1133856"/>
              </a:tblGrid>
              <a:tr h="256032">
                <a:tc>
                  <a:txBody>
                    <a:bodyPr/>
                    <a:lstStyle/>
                    <a:p>
                      <a:pPr algn="l">
                        <a:buNone/>
                      </a:pPr>
                      <a:r>
                        <a:rPr lang="es-CL" sz="950" dirty="0" b="1">
                          <a:solidFill>
                            <a:srgbClr val="FFFFFF"/>
                          </a:solidFill>
                          <a:latin typeface="Calibri"/>
                          <a:cs typeface="Calibri"/>
                        </a:rPr>
                        <a:t>Actividad</a:t>
                      </a:r>
                    </a:p>
                  </a:txBody>
                  <a:tcPr marL="45720" marR="4572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2</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3</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4</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5</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6</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7</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8</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9</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10</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11</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12</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13</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14</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15</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16</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17</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18</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19</a:t>
                      </a:r>
                    </a:p>
                  </a:txBody>
                  <a:tcPr marL="0" marR="0" marT="18288" marB="18288" anchor="ctr">
                    <a:lnL>
                      <a:noFill/>
                    </a:lnL>
                    <a:lnR>
                      <a:noFill/>
                    </a:lnR>
                    <a:lnT>
                      <a:noFill/>
                    </a:lnT>
                    <a:lnB>
                      <a:noFill/>
                    </a:lnB>
                    <a:solidFill>
                      <a:srgbClr val="17375E"/>
                    </a:solidFill>
                  </a:tcPr>
                </a:tc>
                <a:tc>
                  <a:txBody>
                    <a:bodyPr/>
                    <a:lstStyle/>
                    <a:p>
                      <a:pPr algn="ctr">
                        <a:buNone/>
                      </a:pPr>
                      <a:r>
                        <a:rPr lang="es-CL" sz="850" dirty="0" b="1">
                          <a:solidFill>
                            <a:srgbClr val="FFFFFF"/>
                          </a:solidFill>
                          <a:latin typeface="Calibri"/>
                          <a:cs typeface="Calibri"/>
                        </a:rPr>
                        <a:t>20</a:t>
                      </a:r>
                    </a:p>
                  </a:txBody>
                  <a:tcPr marL="0" marR="0" marT="18288" marB="18288" anchor="ctr">
                    <a:lnL>
                      <a:noFill/>
                    </a:lnL>
                    <a:lnR>
                      <a:noFill/>
                    </a:lnR>
                    <a:lnT>
                      <a:noFill/>
                    </a:lnT>
                    <a:lnB>
                      <a:noFill/>
                    </a:lnB>
                    <a:solidFill>
                      <a:srgbClr val="17375E"/>
                    </a:solidFill>
                  </a:tcPr>
                </a:tc>
                <a:tc>
                  <a:txBody>
                    <a:bodyPr/>
                    <a:lstStyle/>
                    <a:p>
                      <a:pPr algn="l">
                        <a:buNone/>
                      </a:pPr>
                      <a:r>
                        <a:rPr lang="es-CL" sz="950" dirty="0" b="1">
                          <a:solidFill>
                            <a:srgbClr val="FFFFFF"/>
                          </a:solidFill>
                          <a:latin typeface="Calibri"/>
                          <a:cs typeface="Calibri"/>
                        </a:rPr>
                        <a:t>Estado</a:t>
                      </a:r>
                    </a:p>
                  </a:txBody>
                  <a:tcPr marL="45720" marR="45720" marT="18288" marB="18288" anchor="ctr">
                    <a:lnL>
                      <a:noFill/>
                    </a:lnL>
                    <a:lnR>
                      <a:noFill/>
                    </a:lnR>
                    <a:lnT>
                      <a:noFill/>
                    </a:lnT>
                    <a:lnB>
                      <a:noFill/>
                    </a:lnB>
                    <a:solidFill>
                      <a:srgbClr val="17375E"/>
                    </a:solidFill>
                  </a:tcPr>
                </a:tc>
              </a:tr>
              <a:tr h="246888">
                <a:tc>
                  <a:txBody>
                    <a:bodyPr/>
                    <a:lstStyle/>
                    <a:p>
                      <a:pPr algn="l">
                        <a:buNone/>
                      </a:pPr>
                      <a:r>
                        <a:rPr lang="es-CL" sz="900" dirty="0">
                          <a:solidFill>
                            <a:srgbClr val="3A3A3A"/>
                          </a:solidFill>
                          <a:latin typeface="Calibri"/>
                          <a:cs typeface="Calibri"/>
                        </a:rPr>
                        <a:t>A1.1–A1.2 Diagnóstico y entrevistas</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b="1">
                          <a:solidFill>
                            <a:srgbClr val="17375E"/>
                          </a:solidFill>
                          <a:latin typeface="Calibri"/>
                          <a:cs typeface="Calibri"/>
                        </a:rPr>
                        <a:t>Completada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A1.3.1 Flujo único MP8</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b="1">
                          <a:solidFill>
                            <a:srgbClr val="17375E"/>
                          </a:solidFill>
                          <a:latin typeface="Calibri"/>
                          <a:cs typeface="Calibri"/>
                        </a:rPr>
                        <a:t>Completada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A1.3.2 Segmentación MP8</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14 de 18 fases</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A1.4.1 Flujo único MP21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En curso, atrasada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A1.4.2 Segmentación MP21</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No iniciada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A1.5–A1.6 Manuales y validación</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Iniciada (v1)</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A2.1–A2.2 Identificación y valoración</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Planificada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A2.3–A2.4 Matriz y validación</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Planificada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A3.1–A3.2 Planes y gobernanza</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900" dirty="0">
                          <a:solidFill>
                            <a:srgbClr val="3A3A3A"/>
                          </a:solidFill>
                          <a:latin typeface="Calibri"/>
                          <a:cs typeface="Calibri"/>
                        </a:rPr>
                        <a:t>Planificada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A3.3–A3.4 Integración y entrega</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900" dirty="0">
                          <a:solidFill>
                            <a:srgbClr val="3A3A3A"/>
                          </a:solidFill>
                          <a:latin typeface="Calibri"/>
                          <a:cs typeface="Calibri"/>
                        </a:rPr>
                        <a:t>Planificada</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a:solidFill>
                            <a:srgbClr val="3A3A3A"/>
                          </a:solidFill>
                          <a:latin typeface="Calibri"/>
                          <a:cs typeface="Calibri"/>
                        </a:rPr>
                        <a:t>A-G Documentación del TFG</a:t>
                      </a:r>
                    </a:p>
                  </a:txBody>
                  <a:tcPr marL="45720" marR="45720" marT="18288" marB="18288" anchor="ctr">
                    <a:lnL>
                      <a:noFill/>
                    </a:lnL>
                    <a:lnR>
                      <a:noFill/>
                    </a:lnR>
                    <a:lnT>
                      <a:noFill/>
                    </a:lnT>
                    <a:lnB w="6350" cap="flat" cmpd="sng" algn="ctr">
                      <a:solidFill>
                        <a:srgbClr val="B8C6D9"/>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4F81BD"/>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6350" cap="flat" cmpd="sng" algn="ctr">
                      <a:solidFill>
                        <a:srgbClr val="B8C6D9"/>
                      </a:solidFill>
                      <a:prstDash val="solid"/>
                    </a:lnB>
                    <a:solidFill>
                      <a:srgbClr val="D2E0EF"/>
                    </a:solidFill>
                  </a:tcPr>
                </a:tc>
                <a:tc>
                  <a:txBody>
                    <a:bodyPr/>
                    <a:lstStyle/>
                    <a:p>
                      <a:pPr algn="l">
                        <a:buNone/>
                      </a:pPr>
                      <a:r>
                        <a:rPr lang="es-CL" sz="900" dirty="0">
                          <a:solidFill>
                            <a:srgbClr val="3A3A3A"/>
                          </a:solidFill>
                          <a:latin typeface="Calibri"/>
                          <a:cs typeface="Calibri"/>
                        </a:rPr>
                        <a:t>En curso</a:t>
                      </a:r>
                    </a:p>
                  </a:txBody>
                  <a:tcPr marL="45720" marR="45720" marT="18288" marB="18288" anchor="ctr">
                    <a:lnL>
                      <a:noFill/>
                    </a:lnL>
                    <a:lnR>
                      <a:noFill/>
                    </a:lnR>
                    <a:lnT>
                      <a:noFill/>
                    </a:lnT>
                    <a:lnB w="6350" cap="flat" cmpd="sng" algn="ctr">
                      <a:solidFill>
                        <a:srgbClr val="B8C6D9"/>
                      </a:solidFill>
                      <a:prstDash val="solid"/>
                    </a:lnB>
                    <a:noFill/>
                  </a:tcPr>
                </a:tc>
              </a:tr>
              <a:tr h="246888">
                <a:tc>
                  <a:txBody>
                    <a:bodyPr/>
                    <a:lstStyle/>
                    <a:p>
                      <a:pPr algn="l">
                        <a:buNone/>
                      </a:pPr>
                      <a:r>
                        <a:rPr lang="es-CL" sz="900" dirty="0" b="1">
                          <a:solidFill>
                            <a:srgbClr val="17375E"/>
                          </a:solidFill>
                          <a:latin typeface="Calibri"/>
                          <a:cs typeface="Calibri"/>
                        </a:rPr>
                        <a:t>Hitos A-P1 · A-P2 · A-PF</a:t>
                      </a:r>
                    </a:p>
                  </a:txBody>
                  <a:tcPr marL="45720" marR="4572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solidFill>
                      <a:srgbClr val="17375E"/>
                    </a:solid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noFill/>
                  </a:tcPr>
                </a:tc>
                <a:tc>
                  <a:txBody>
                    <a:bodyPr/>
                    <a:lstStyle/>
                    <a:p>
                      <a:pPr algn="l">
                        <a:buNone/>
                      </a:pPr>
                      <a:r>
                        <a:rPr lang="es-CL" sz="600" dirty="0">
                          <a:solidFill>
                            <a:srgbClr val="3A3A3A"/>
                          </a:solidFill>
                          <a:latin typeface="Calibri"/>
                          <a:cs typeface="Calibri"/>
                        </a:rPr>
                        <a:t/>
                      </a:r>
                    </a:p>
                  </a:txBody>
                  <a:tcPr marL="0" marR="0" marT="18288" marB="18288" anchor="ctr">
                    <a:lnL>
                      <a:noFill/>
                    </a:lnL>
                    <a:lnR>
                      <a:noFill/>
                    </a:lnR>
                    <a:lnT>
                      <a:noFill/>
                    </a:lnT>
                    <a:lnB w="12700" cap="flat" cmpd="sng" algn="ctr">
                      <a:solidFill>
                        <a:srgbClr val="17375E"/>
                      </a:solidFill>
                      <a:prstDash val="solid"/>
                    </a:lnB>
                    <a:solidFill>
                      <a:srgbClr val="D2E0EF"/>
                    </a:solidFill>
                  </a:tcPr>
                </a:tc>
                <a:tc>
                  <a:txBody>
                    <a:bodyPr/>
                    <a:lstStyle/>
                    <a:p>
                      <a:pPr algn="l">
                        <a:buNone/>
                      </a:pPr>
                      <a:r>
                        <a:rPr lang="es-CL" sz="900" dirty="0">
                          <a:solidFill>
                            <a:srgbClr val="3A3A3A"/>
                          </a:solidFill>
                          <a:latin typeface="Calibri"/>
                          <a:cs typeface="Calibri"/>
                        </a:rPr>
                        <a:t>A-P2 en S10</a:t>
                      </a:r>
                    </a:p>
                  </a:txBody>
                  <a:tcPr marL="45720" marR="45720" marT="18288" marB="18288" anchor="ctr">
                    <a:lnL>
                      <a:noFill/>
                    </a:lnL>
                    <a:lnR>
                      <a:noFill/>
                    </a:lnR>
                    <a:lnT>
                      <a:noFill/>
                    </a:lnT>
                    <a:lnB w="12700" cap="flat" cmpd="sng" algn="ctr">
                      <a:solidFill>
                        <a:srgbClr val="17375E"/>
                      </a:solidFill>
                      <a:prstDash val="solid"/>
                    </a:lnB>
                    <a:noFill/>
                  </a:tcPr>
                </a:tc>
              </a:tr>
            </a:tbl>
          </a:graphicData>
        </a:graphic>
      </p:graphicFrame>
      <p:sp>
        <p:nvSpPr>
          <p:cNvPr id="8" name="Semana actual"/>
          <p:cNvSpPr/>
          <p:nvPr/>
        </p:nvSpPr>
        <p:spPr>
          <a:xfrm>
            <a:off x="5191963" y="2340864"/>
            <a:ext cx="21946" cy="3310128"/>
          </a:xfrm>
          <a:prstGeom prst="rect">
            <a:avLst/>
          </a:prstGeom>
          <a:solidFill>
            <a:srgbClr val="C0504D"/>
          </a:solidFill>
          <a:ln>
            <a:noFill/>
          </a:ln>
        </p:spPr>
        <p:txBody>
          <a:bodyPr/>
          <a:lstStyle/>
          <a:p>
            <a:endParaRPr lang="es-CL"/>
          </a:p>
        </p:txBody>
      </p:sp>
      <p:sp>
        <p:nvSpPr>
          <p:cNvPr id="9" name="Semana actual rotulo"/>
          <p:cNvSpPr txBox="1"/>
          <p:nvPr/>
        </p:nvSpPr>
        <p:spPr>
          <a:xfrm>
            <a:off x="4654296" y="5650992"/>
            <a:ext cx="1097280" cy="201168"/>
          </a:xfrm>
          <a:prstGeom prst="rect">
            <a:avLst/>
          </a:prstGeom>
          <a:noFill/>
        </p:spPr>
        <p:txBody>
          <a:bodyPr wrap="square" lIns="36576" tIns="18288" rIns="36576" bIns="18288" anchor="ctr"/>
          <a:lstStyle/>
          <a:p>
            <a:pPr algn="ctr">
              <a:buNone/>
            </a:pPr>
            <a:r>
              <a:rPr lang="es-CL" sz="850" dirty="0" b="1">
                <a:solidFill>
                  <a:srgbClr val="C0504D"/>
                </a:solidFill>
                <a:latin typeface="Calibri"/>
                <a:cs typeface="Calibri"/>
              </a:rPr>
              <a:t>Semana 10</a:t>
            </a:r>
          </a:p>
        </p:txBody>
      </p:sp>
      <p:sp>
        <p:nvSpPr>
          <p:cNvPr id="10" name="Ley Completado"/>
          <p:cNvSpPr/>
          <p:nvPr/>
        </p:nvSpPr>
        <p:spPr>
          <a:xfrm>
            <a:off x="411480" y="5952744"/>
            <a:ext cx="201168" cy="128016"/>
          </a:xfrm>
          <a:prstGeom prst="rect">
            <a:avLst/>
          </a:prstGeom>
          <a:solidFill>
            <a:srgbClr val="17375E"/>
          </a:solidFill>
          <a:ln>
            <a:noFill/>
          </a:ln>
        </p:spPr>
        <p:txBody>
          <a:bodyPr/>
          <a:lstStyle/>
          <a:p>
            <a:endParaRPr lang="es-CL"/>
          </a:p>
        </p:txBody>
      </p:sp>
      <p:sp>
        <p:nvSpPr>
          <p:cNvPr id="11" name="Ley t Completado"/>
          <p:cNvSpPr txBox="1"/>
          <p:nvPr/>
        </p:nvSpPr>
        <p:spPr>
          <a:xfrm>
            <a:off x="658368" y="5907024"/>
            <a:ext cx="960120" cy="219456"/>
          </a:xfrm>
          <a:prstGeom prst="rect">
            <a:avLst/>
          </a:prstGeom>
          <a:noFill/>
        </p:spPr>
        <p:txBody>
          <a:bodyPr wrap="square" lIns="36576" tIns="18288" rIns="36576" bIns="18288" anchor="ctr"/>
          <a:lstStyle/>
          <a:p>
            <a:pPr algn="l">
              <a:buNone/>
            </a:pPr>
            <a:r>
              <a:rPr lang="es-CL" sz="900" dirty="0">
                <a:solidFill>
                  <a:srgbClr val="3A3A3A"/>
                </a:solidFill>
                <a:latin typeface="Calibri"/>
                <a:cs typeface="Calibri"/>
              </a:rPr>
              <a:t>Completado</a:t>
            </a:r>
          </a:p>
        </p:txBody>
      </p:sp>
      <p:sp>
        <p:nvSpPr>
          <p:cNvPr id="12" name="Ley Ejecutado o en curso"/>
          <p:cNvSpPr/>
          <p:nvPr/>
        </p:nvSpPr>
        <p:spPr>
          <a:xfrm>
            <a:off x="1737360" y="5952744"/>
            <a:ext cx="201168" cy="128016"/>
          </a:xfrm>
          <a:prstGeom prst="rect">
            <a:avLst/>
          </a:prstGeom>
          <a:solidFill>
            <a:srgbClr val="4F81BD"/>
          </a:solidFill>
          <a:ln>
            <a:noFill/>
          </a:ln>
        </p:spPr>
        <p:txBody>
          <a:bodyPr/>
          <a:lstStyle/>
          <a:p>
            <a:endParaRPr lang="es-CL"/>
          </a:p>
        </p:txBody>
      </p:sp>
      <p:sp>
        <p:nvSpPr>
          <p:cNvPr id="13" name="Ley t Ejecutado o en curso"/>
          <p:cNvSpPr txBox="1"/>
          <p:nvPr/>
        </p:nvSpPr>
        <p:spPr>
          <a:xfrm>
            <a:off x="1984248" y="5907024"/>
            <a:ext cx="1554480" cy="219456"/>
          </a:xfrm>
          <a:prstGeom prst="rect">
            <a:avLst/>
          </a:prstGeom>
          <a:noFill/>
        </p:spPr>
        <p:txBody>
          <a:bodyPr wrap="square" lIns="36576" tIns="18288" rIns="36576" bIns="18288" anchor="ctr"/>
          <a:lstStyle/>
          <a:p>
            <a:pPr algn="l">
              <a:buNone/>
            </a:pPr>
            <a:r>
              <a:rPr lang="es-CL" sz="900" dirty="0">
                <a:solidFill>
                  <a:srgbClr val="3A3A3A"/>
                </a:solidFill>
                <a:latin typeface="Calibri"/>
                <a:cs typeface="Calibri"/>
              </a:rPr>
              <a:t>Ejecutado o en curso</a:t>
            </a:r>
          </a:p>
        </p:txBody>
      </p:sp>
      <p:sp>
        <p:nvSpPr>
          <p:cNvPr id="14" name="Ley Planificado"/>
          <p:cNvSpPr/>
          <p:nvPr/>
        </p:nvSpPr>
        <p:spPr>
          <a:xfrm>
            <a:off x="3657600" y="5952744"/>
            <a:ext cx="201168" cy="128016"/>
          </a:xfrm>
          <a:prstGeom prst="rect">
            <a:avLst/>
          </a:prstGeom>
          <a:solidFill>
            <a:srgbClr val="D2E0EF"/>
          </a:solidFill>
          <a:ln>
            <a:noFill/>
          </a:ln>
        </p:spPr>
        <p:txBody>
          <a:bodyPr/>
          <a:lstStyle/>
          <a:p>
            <a:endParaRPr lang="es-CL"/>
          </a:p>
        </p:txBody>
      </p:sp>
      <p:sp>
        <p:nvSpPr>
          <p:cNvPr id="15" name="Ley t Planificado"/>
          <p:cNvSpPr txBox="1"/>
          <p:nvPr/>
        </p:nvSpPr>
        <p:spPr>
          <a:xfrm>
            <a:off x="3904488" y="5907024"/>
            <a:ext cx="960120" cy="219456"/>
          </a:xfrm>
          <a:prstGeom prst="rect">
            <a:avLst/>
          </a:prstGeom>
          <a:noFill/>
        </p:spPr>
        <p:txBody>
          <a:bodyPr wrap="square" lIns="36576" tIns="18288" rIns="36576" bIns="18288" anchor="ctr"/>
          <a:lstStyle/>
          <a:p>
            <a:pPr algn="l">
              <a:buNone/>
            </a:pPr>
            <a:r>
              <a:rPr lang="es-CL" sz="900" dirty="0">
                <a:solidFill>
                  <a:srgbClr val="3A3A3A"/>
                </a:solidFill>
                <a:latin typeface="Calibri"/>
                <a:cs typeface="Calibri"/>
              </a:rPr>
              <a:t>Planificado</a:t>
            </a:r>
          </a:p>
        </p:txBody>
      </p:sp>
      <p:sp>
        <p:nvSpPr>
          <p:cNvPr id="16" name="Cumplimiento"/>
          <p:cNvSpPr txBox="1"/>
          <p:nvPr/>
        </p:nvSpPr>
        <p:spPr>
          <a:xfrm>
            <a:off x="411480" y="6181344"/>
            <a:ext cx="8321040" cy="365760"/>
          </a:xfrm>
          <a:prstGeom prst="rect">
            <a:avLst/>
          </a:prstGeom>
          <a:noFill/>
        </p:spPr>
        <p:txBody>
          <a:bodyPr wrap="square" lIns="36576" tIns="18288" rIns="36576" bIns="18288" anchor="t"/>
          <a:lstStyle/>
          <a:p>
            <a:pPr algn="l">
              <a:lnSpc>
                <a:spcPct val="105000"/>
              </a:lnSpc>
              <a:buNone/>
            </a:pPr>
            <a:r>
              <a:rPr lang="es-CL" sz="1000" dirty="0" b="1">
                <a:solidFill>
                  <a:srgbClr val="17375E"/>
                </a:solidFill>
                <a:latin typeface="Calibri"/>
                <a:cs typeface="Calibri"/>
              </a:rPr>
              <a:t>OE1: </a:t>
            </a:r>
            <a:r>
              <a:rPr lang="es-CL" sz="1000" dirty="0">
                <a:solidFill>
                  <a:srgbClr val="3A3A3A"/>
                </a:solidFill>
                <a:latin typeface="Calibri"/>
                <a:cs typeface="Calibri"/>
              </a:rPr>
              <a:t>de 8 actividades, 3 completadas, 3 en curso y 2 no iniciadas. Atraso principal: levantamiento de MP21.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racias"/>
          <p:cNvSpPr txBox="1"/>
          <p:nvPr/>
        </p:nvSpPr>
        <p:spPr>
          <a:xfrm>
            <a:off x="731520" y="3017520"/>
            <a:ext cx="7680960" cy="566928"/>
          </a:xfrm>
          <a:prstGeom prst="rect">
            <a:avLst/>
          </a:prstGeom>
          <a:noFill/>
        </p:spPr>
        <p:txBody>
          <a:bodyPr wrap="square" lIns="36576" tIns="18288" rIns="36576" bIns="18288" anchor="ctr"/>
          <a:lstStyle/>
          <a:p>
            <a:pPr algn="ctr">
              <a:buNone/>
            </a:pPr>
            <a:r>
              <a:rPr lang="es-CL" sz="2600" dirty="0" b="1">
                <a:solidFill>
                  <a:srgbClr val="17375E"/>
                </a:solidFill>
                <a:latin typeface="Calibri"/>
                <a:cs typeface="Calibri"/>
              </a:rPr>
              <a:t>Gracias por su atención</a:t>
            </a:r>
          </a:p>
        </p:txBody>
      </p:sp>
      <p:sp>
        <p:nvSpPr>
          <p:cNvPr id="3" name="Preguntas"/>
          <p:cNvSpPr txBox="1"/>
          <p:nvPr/>
        </p:nvSpPr>
        <p:spPr>
          <a:xfrm>
            <a:off x="731520" y="3639312"/>
            <a:ext cx="7680960" cy="329184"/>
          </a:xfrm>
          <a:prstGeom prst="rect">
            <a:avLst/>
          </a:prstGeom>
          <a:noFill/>
        </p:spPr>
        <p:txBody>
          <a:bodyPr wrap="square" lIns="36576" tIns="18288" rIns="36576" bIns="18288" anchor="ctr"/>
          <a:lstStyle/>
          <a:p>
            <a:pPr algn="ctr">
              <a:buNone/>
            </a:pPr>
            <a:r>
              <a:rPr lang="es-CL" sz="1400" dirty="0">
                <a:solidFill>
                  <a:srgbClr val="3A3A3A"/>
                </a:solidFill>
                <a:latin typeface="Calibri"/>
                <a:cs typeface="Calibri"/>
              </a:rPr>
              <a:t>Preguntas y comentarios</a:t>
            </a:r>
          </a:p>
        </p:txBody>
      </p:sp>
      <p:sp>
        <p:nvSpPr>
          <p:cNvPr id="4" name="Autoria"/>
          <p:cNvSpPr txBox="1"/>
          <p:nvPr/>
        </p:nvSpPr>
        <p:spPr>
          <a:xfrm>
            <a:off x="731520" y="5815584"/>
            <a:ext cx="7680960" cy="512064"/>
          </a:xfrm>
          <a:prstGeom prst="rect">
            <a:avLst/>
          </a:prstGeom>
          <a:noFill/>
        </p:spPr>
        <p:txBody>
          <a:bodyPr wrap="square" lIns="36576" tIns="18288" rIns="36576" bIns="18288" anchor="ctr"/>
          <a:lstStyle/>
          <a:p>
            <a:pPr algn="ctr">
              <a:buNone/>
            </a:pPr>
            <a:r>
              <a:rPr lang="es-CL" sz="1200" dirty="0" b="1">
                <a:solidFill>
                  <a:srgbClr val="17375E"/>
                </a:solidFill>
                <a:latin typeface="Calibri"/>
                <a:cs typeface="Calibri"/>
              </a:rPr>
              <a:t>Bastián Darwit Vera</a:t>
            </a:r>
          </a:p>
          <a:p>
            <a:pPr algn="ctr">
              <a:spcBef>
                <a:spcPts val="200"/>
              </a:spcBef>
              <a:buNone/>
            </a:pPr>
            <a:r>
              <a:rPr lang="es-CL" sz="950" dirty="0">
                <a:solidFill>
                  <a:srgbClr val="6B6B6B"/>
                </a:solidFill>
                <a:latin typeface="Calibri"/>
                <a:cs typeface="Calibri"/>
              </a:rPr>
              <a:t>Magíster en Sistemas de Gestión Integral de la Calidad · Universidad de La Frontera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Anexo A · SIPOC del macroproceso MP8</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13</a:t>
            </a:r>
          </a:p>
        </p:txBody>
      </p:sp>
      <p:pic>
        <p:nvPicPr>
          <p:cNvPr id="6" name="Captura mp8_sipoc"/>
          <p:cNvPicPr>
            <a:picLocks noChangeAspect="1"/>
          </p:cNvPicPr>
          <p:nvPr/>
        </p:nvPicPr>
        <p:blipFill>
          <a:blip r:embed="rId10"/>
          <a:stretch>
            <a:fillRect/>
          </a:stretch>
        </p:blipFill>
        <p:spPr>
          <a:xfrm>
            <a:off x="1215517" y="2029968"/>
            <a:ext cx="6712967" cy="3703320"/>
          </a:xfrm>
          <a:prstGeom prst="rect">
            <a:avLst/>
          </a:prstGeom>
        </p:spPr>
      </p:pic>
      <p:sp>
        <p:nvSpPr>
          <p:cNvPr id="7" name="Borde captura"/>
          <p:cNvSpPr/>
          <p:nvPr/>
        </p:nvSpPr>
        <p:spPr>
          <a:xfrm>
            <a:off x="1215517" y="2029968"/>
            <a:ext cx="6712967" cy="3703320"/>
          </a:xfrm>
          <a:prstGeom prst="rect">
            <a:avLst/>
          </a:prstGeom>
          <a:noFill/>
          <a:ln w="9525">
            <a:solidFill>
              <a:srgbClr val="B8C6D9"/>
            </a:solidFill>
          </a:ln>
        </p:spPr>
        <p:txBody>
          <a:bodyPr/>
          <a:lstStyle/>
          <a:p>
            <a:endParaRPr lang="es-CL"/>
          </a:p>
        </p:txBody>
      </p:sp>
      <p:sp>
        <p:nvSpPr>
          <p:cNvPr id="8" name="Rotulo figura"/>
          <p:cNvSpPr txBox="1"/>
          <p:nvPr/>
        </p:nvSpPr>
        <p:spPr>
          <a:xfrm>
            <a:off x="411480" y="5788152"/>
            <a:ext cx="8321040" cy="237744"/>
          </a:xfrm>
          <a:prstGeom prst="rect">
            <a:avLst/>
          </a:prstGeom>
          <a:noFill/>
        </p:spPr>
        <p:txBody>
          <a:bodyPr wrap="square" lIns="36576" tIns="18288" rIns="36576" bIns="18288" anchor="ctr"/>
          <a:lstStyle/>
          <a:p>
            <a:pPr algn="l">
              <a:buNone/>
            </a:pPr>
            <a:r>
              <a:rPr lang="es-CL" sz="900" dirty="0" b="1">
                <a:solidFill>
                  <a:srgbClr val="17375E"/>
                </a:solidFill>
                <a:latin typeface="Calibri"/>
                <a:cs typeface="Calibri"/>
              </a:rPr>
              <a:t>Figura A1. </a:t>
            </a:r>
            <a:r>
              <a:rPr lang="es-CL" sz="900" dirty="0" i="1">
                <a:solidFill>
                  <a:srgbClr val="6B6B6B"/>
                </a:solidFill>
                <a:latin typeface="Calibri"/>
                <a:cs typeface="Calibri"/>
              </a:rPr>
              <a:t>SIPOC del macroproceso Gestión de Personas (manual MP8 v1).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 TFG"/>
          <p:cNvSpPr txBox="1"/>
          <p:nvPr/>
        </p:nvSpPr>
        <p:spPr>
          <a:xfrm>
            <a:off x="1499616" y="164592"/>
            <a:ext cx="6364224" cy="896112"/>
          </a:xfrm>
          <a:prstGeom prst="rect">
            <a:avLst/>
          </a:prstGeom>
          <a:noFill/>
        </p:spPr>
        <p:txBody>
          <a:bodyPr wrap="square" lIns="36576" tIns="18288" rIns="36576" bIns="18288" anchor="ctr"/>
          <a:lstStyle/>
          <a:p>
            <a:pPr algn="r">
              <a:lnSpc>
                <a:spcPct val="112000"/>
              </a:lnSpc>
              <a:buNone/>
            </a:pPr>
            <a:r>
              <a:rPr lang="es-CL" sz="1100" dirty="0" b="1">
                <a:solidFill>
                  <a:srgbClr val="17375E"/>
                </a:solidFill>
                <a:latin typeface="Calibri"/>
                <a:cs typeface="Calibri"/>
              </a:rPr>
              <a:t>Propuesta de un sistema de gestión de riesgos para los macroprocesos de Gestión de Personas (MP8) y Servicios Generales (MP21) de Celulosa Arauco y Constitución S.A.</a:t>
            </a:r>
          </a:p>
        </p:txBody>
      </p:sp>
      <p:sp>
        <p:nvSpPr>
          <p:cNvPr id="3" name="Estudiante"/>
          <p:cNvSpPr txBox="1"/>
          <p:nvPr/>
        </p:nvSpPr>
        <p:spPr>
          <a:xfrm>
            <a:off x="5742432" y="1033272"/>
            <a:ext cx="2020824" cy="219456"/>
          </a:xfrm>
          <a:prstGeom prst="rect">
            <a:avLst/>
          </a:prstGeom>
          <a:noFill/>
        </p:spPr>
        <p:txBody>
          <a:bodyPr wrap="square" lIns="18288" tIns="9144" rIns="18288" bIns="9144" anchor="ctr"/>
          <a:lstStyle/>
          <a:p>
            <a:pPr algn="ctr">
              <a:buNone/>
            </a:pPr>
            <a:r>
              <a:rPr lang="es-CL" sz="900" dirty="0">
                <a:solidFill>
                  <a:srgbClr val="7F7F7F"/>
                </a:solidFill>
                <a:latin typeface="Calibri"/>
                <a:cs typeface="Calibri"/>
              </a:rPr>
              <a:t>| </a:t>
            </a:r>
            <a:r>
              <a:rPr lang="es-CL" sz="900" dirty="0" b="1">
                <a:solidFill>
                  <a:srgbClr val="17375E"/>
                </a:solidFill>
                <a:latin typeface="Calibri"/>
                <a:cs typeface="Calibri"/>
              </a:rPr>
              <a:t>Estudiante: </a:t>
            </a:r>
            <a:r>
              <a:rPr lang="es-CL" sz="900" dirty="0">
                <a:solidFill>
                  <a:srgbClr val="17375E"/>
                </a:solidFill>
                <a:latin typeface="Calibri"/>
                <a:cs typeface="Calibri"/>
              </a:rPr>
              <a:t>Bastián Darwit Vera</a:t>
            </a:r>
            <a:r>
              <a:rPr lang="es-CL" sz="900" dirty="0">
                <a:solidFill>
                  <a:srgbClr val="7F7F7F"/>
                </a:solidFill>
                <a:latin typeface="Calibri"/>
                <a:cs typeface="Calibri"/>
              </a:rPr>
              <a:t> |</a:t>
            </a:r>
          </a:p>
        </p:txBody>
      </p:sp>
      <p:sp>
        <p:nvSpPr>
          <p:cNvPr id="4" name="Titulo lamina"/>
          <p:cNvSpPr txBox="1"/>
          <p:nvPr/>
        </p:nvSpPr>
        <p:spPr>
          <a:xfrm>
            <a:off x="411480" y="1335024"/>
            <a:ext cx="8321040" cy="512064"/>
          </a:xfrm>
          <a:prstGeom prst="rect">
            <a:avLst/>
          </a:prstGeom>
          <a:noFill/>
        </p:spPr>
        <p:txBody>
          <a:bodyPr wrap="square" lIns="36576" tIns="18288" rIns="36576" bIns="18288" anchor="ctr"/>
          <a:lstStyle/>
          <a:p>
            <a:pPr algn="l">
              <a:buNone/>
            </a:pPr>
            <a:r>
              <a:rPr lang="es-CL" sz="2200" dirty="0" b="1">
                <a:solidFill>
                  <a:srgbClr val="595959"/>
                </a:solidFill>
                <a:latin typeface="Calibri"/>
                <a:cs typeface="Calibri"/>
              </a:rPr>
              <a:t>Anexo B · Ficha resumen del macroproceso MP21</a:t>
            </a:r>
          </a:p>
        </p:txBody>
      </p:sp>
      <p:sp>
        <p:nvSpPr>
          <p:cNvPr id="5" name="Numero"/>
          <p:cNvSpPr txBox="1"/>
          <p:nvPr/>
        </p:nvSpPr>
        <p:spPr>
          <a:xfrm>
            <a:off x="8156448" y="6053328"/>
            <a:ext cx="566928" cy="402336"/>
          </a:xfrm>
          <a:prstGeom prst="rect">
            <a:avLst/>
          </a:prstGeom>
          <a:noFill/>
        </p:spPr>
        <p:txBody>
          <a:bodyPr wrap="square" lIns="36576" tIns="18288" rIns="36576" bIns="18288" anchor="ctr"/>
          <a:lstStyle/>
          <a:p>
            <a:pPr algn="r">
              <a:buNone/>
            </a:pPr>
            <a:r>
              <a:rPr lang="es-CL" sz="2000" dirty="0" b="1">
                <a:solidFill>
                  <a:srgbClr val="17375E"/>
                </a:solidFill>
                <a:latin typeface="Calibri"/>
                <a:cs typeface="Calibri"/>
              </a:rPr>
              <a:t>14</a:t>
            </a:r>
          </a:p>
        </p:txBody>
      </p:sp>
      <p:pic>
        <p:nvPicPr>
          <p:cNvPr id="6" name="Captura mp21_ficha"/>
          <p:cNvPicPr>
            <a:picLocks noChangeAspect="1"/>
          </p:cNvPicPr>
          <p:nvPr/>
        </p:nvPicPr>
        <p:blipFill>
          <a:blip r:embed="rId10"/>
          <a:stretch>
            <a:fillRect/>
          </a:stretch>
        </p:blipFill>
        <p:spPr>
          <a:xfrm>
            <a:off x="1153551" y="2029968"/>
            <a:ext cx="6836898" cy="3703320"/>
          </a:xfrm>
          <a:prstGeom prst="rect">
            <a:avLst/>
          </a:prstGeom>
        </p:spPr>
      </p:pic>
      <p:sp>
        <p:nvSpPr>
          <p:cNvPr id="7" name="Borde captura"/>
          <p:cNvSpPr/>
          <p:nvPr/>
        </p:nvSpPr>
        <p:spPr>
          <a:xfrm>
            <a:off x="1153551" y="2029968"/>
            <a:ext cx="6836898" cy="3703320"/>
          </a:xfrm>
          <a:prstGeom prst="rect">
            <a:avLst/>
          </a:prstGeom>
          <a:noFill/>
          <a:ln w="9525">
            <a:solidFill>
              <a:srgbClr val="B8C6D9"/>
            </a:solidFill>
          </a:ln>
        </p:spPr>
        <p:txBody>
          <a:bodyPr/>
          <a:lstStyle/>
          <a:p>
            <a:endParaRPr lang="es-CL"/>
          </a:p>
        </p:txBody>
      </p:sp>
      <p:sp>
        <p:nvSpPr>
          <p:cNvPr id="8" name="Rotulo figura"/>
          <p:cNvSpPr txBox="1"/>
          <p:nvPr/>
        </p:nvSpPr>
        <p:spPr>
          <a:xfrm>
            <a:off x="411480" y="5788152"/>
            <a:ext cx="8321040" cy="237744"/>
          </a:xfrm>
          <a:prstGeom prst="rect">
            <a:avLst/>
          </a:prstGeom>
          <a:noFill/>
        </p:spPr>
        <p:txBody>
          <a:bodyPr wrap="square" lIns="36576" tIns="18288" rIns="36576" bIns="18288" anchor="ctr"/>
          <a:lstStyle/>
          <a:p>
            <a:pPr algn="l">
              <a:buNone/>
            </a:pPr>
            <a:r>
              <a:rPr lang="es-CL" sz="900" dirty="0" b="1">
                <a:solidFill>
                  <a:srgbClr val="17375E"/>
                </a:solidFill>
                <a:latin typeface="Calibri"/>
                <a:cs typeface="Calibri"/>
              </a:rPr>
              <a:t>Figura B1. </a:t>
            </a:r>
            <a:r>
              <a:rPr lang="es-CL" sz="900" dirty="0" i="1">
                <a:solidFill>
                  <a:srgbClr val="6B6B6B"/>
                </a:solidFill>
                <a:latin typeface="Calibri"/>
                <a:cs typeface="Calibri"/>
              </a:rPr>
              <a:t>Ficha resumen de Gestión de Servicios Generales (manual MP21 v1). En gris, contenido pendiente de levantamiento.</a:t>
            </a:r>
          </a:p>
        </p:txBody>
      </p:sp>
    </p:spTree>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14</Slides>
  <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2 TFG - Bastián Darwit Vera</dc:title>
  <dc:creator>Bastián Darwit Vera</dc:creator>
  <cp:lastModifiedBy>Bastián Darwit Vera</cp:lastModifiedBy>
  <cp:revision>1</cp:revision>
</cp:coreProperties>
</file>