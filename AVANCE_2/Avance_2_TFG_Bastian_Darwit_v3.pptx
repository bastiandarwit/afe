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2"/>
  </p:notesMasterIdLst>
  <p:sldIdLst>
    <p:sldId id="256" r:id="rId501"/>
    <p:sldId id="257" r:id="rId502"/>
    <p:sldId id="258" r:id="rId503"/>
    <p:sldId id="259" r:id="rId504"/>
    <p:sldId id="260" r:id="rId505"/>
    <p:sldId id="261" r:id="rId506"/>
    <p:sldId id="262" r:id="rId507"/>
    <p:sldId id="263" r:id="rId508"/>
    <p:sldId id="264" r:id="rId509"/>
    <p:sldId id="265" r:id="rId510"/>
    <p:sldId id="266" r:id="rId511"/>
    <p:sldId id="267" r:id="rId512"/>
    <p:sldId id="268" r:id="rId513"/>
    <p:sldId id="269" r:id="rId514"/>
    <p:sldId id="270" r:id="rId515"/>
    <p:sldId id="271" r:id="rId516"/>
    <p:sldId id="272" r:id="rId517"/>
    <p:sldId id="273" r:id="rId518"/>
    <p:sldId id="274" r:id="rId519"/>
  </p:sldIdLst>
  <p:sldSz cx="9144000" cy="6858000" type="screen4x3"/>
  <p:notesSz cx="6858000" cy="91440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47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501" Type="http://schemas.openxmlformats.org/officeDocument/2006/relationships/slide" Target="slides/slide1.xml"/><Relationship Id="rId502" Type="http://schemas.openxmlformats.org/officeDocument/2006/relationships/slide" Target="slides/slide2.xml"/><Relationship Id="rId503" Type="http://schemas.openxmlformats.org/officeDocument/2006/relationships/slide" Target="slides/slide3.xml"/><Relationship Id="rId504" Type="http://schemas.openxmlformats.org/officeDocument/2006/relationships/slide" Target="slides/slide4.xml"/><Relationship Id="rId505" Type="http://schemas.openxmlformats.org/officeDocument/2006/relationships/slide" Target="slides/slide5.xml"/><Relationship Id="rId506" Type="http://schemas.openxmlformats.org/officeDocument/2006/relationships/slide" Target="slides/slide6.xml"/><Relationship Id="rId507" Type="http://schemas.openxmlformats.org/officeDocument/2006/relationships/slide" Target="slides/slide7.xml"/><Relationship Id="rId508" Type="http://schemas.openxmlformats.org/officeDocument/2006/relationships/slide" Target="slides/slide8.xml"/><Relationship Id="rId509" Type="http://schemas.openxmlformats.org/officeDocument/2006/relationships/slide" Target="slides/slide9.xml"/><Relationship Id="rId510" Type="http://schemas.openxmlformats.org/officeDocument/2006/relationships/slide" Target="slides/slide10.xml"/><Relationship Id="rId511" Type="http://schemas.openxmlformats.org/officeDocument/2006/relationships/slide" Target="slides/slide11.xml"/><Relationship Id="rId512" Type="http://schemas.openxmlformats.org/officeDocument/2006/relationships/slide" Target="slides/slide12.xml"/><Relationship Id="rId513" Type="http://schemas.openxmlformats.org/officeDocument/2006/relationships/slide" Target="slides/slide13.xml"/><Relationship Id="rId514" Type="http://schemas.openxmlformats.org/officeDocument/2006/relationships/slide" Target="slides/slide14.xml"/><Relationship Id="rId515" Type="http://schemas.openxmlformats.org/officeDocument/2006/relationships/slide" Target="slides/slide15.xml"/><Relationship Id="rId516" Type="http://schemas.openxmlformats.org/officeDocument/2006/relationships/slide" Target="slides/slide16.xml"/><Relationship Id="rId517" Type="http://schemas.openxmlformats.org/officeDocument/2006/relationships/slide" Target="slides/slide17.xml"/><Relationship Id="rId518" Type="http://schemas.openxmlformats.org/officeDocument/2006/relationships/slide" Target="slides/slide18.xml"/><Relationship Id="rId519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14A46-6E62-43DB-BF60-607EEC7479EF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DA489-9F24-40B1-A85B-D6DE9635E6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945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mapa_macroprocesos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apertura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c1_flujograma.png"/><Relationship Id="rId11" Type="http://schemas.openxmlformats.org/officeDocument/2006/relationships/image" Target="../media/av2_mp8_c1_tareas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sipoc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_apertura.png"/><Relationship Id="rId11" Type="http://schemas.openxmlformats.org/officeDocument/2006/relationships/image" Target="../media/av2_mp21v2_apertura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sipoc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c1_flujograma.png"/><Relationship Id="rId11" Type="http://schemas.openxmlformats.org/officeDocument/2006/relationships/image" Target="../media/av2_mp21v2_c1_tareas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c2_flujograma.png"/><Relationship Id="rId11" Type="http://schemas.openxmlformats.org/officeDocument/2006/relationships/image" Target="../media/av2_mp21v2_c2_tareas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etitulo"/>
          <p:cNvSpPr txBox="1"/>
          <p:nvPr/>
        </p:nvSpPr>
        <p:spPr>
          <a:xfrm>
            <a:off x="731520" y="2907792"/>
            <a:ext cx="76809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500" dirty="0" b="1">
                <a:solidFill>
                  <a:srgbClr val="595959"/>
                </a:solidFill>
                <a:latin typeface="Calibri"/>
                <a:cs typeface="Calibri"/>
              </a:rPr>
              <a:t>Avance 2 · Trabajo Final de Grado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731520" y="3273552"/>
            <a:ext cx="7680960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8000"/>
              </a:lnSpc>
              <a:buNone/>
            </a:pPr>
            <a:r>
              <a:rPr lang="es-CL" sz="16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4" name="Programa"/>
          <p:cNvSpPr txBox="1"/>
          <p:nvPr/>
        </p:nvSpPr>
        <p:spPr>
          <a:xfrm>
            <a:off x="731520" y="4224528"/>
            <a:ext cx="768096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50" dirty="0" b="1">
                <a:solidFill>
                  <a:srgbClr val="3A3A3A"/>
                </a:solidFill>
                <a:latin typeface="Calibri"/>
                <a:cs typeface="Calibri"/>
              </a:rPr>
              <a:t>Magíster en Sistemas de Gestión Integral de la Calidad</a:t>
            </a:r>
          </a:p>
          <a:p>
            <a:pPr algn="ctr">
              <a:buNone/>
            </a:pPr>
            <a:r>
              <a:rPr lang="es-CL" sz="1000" dirty="0">
                <a:solidFill>
                  <a:srgbClr val="6B6B6B"/>
                </a:solidFill>
                <a:latin typeface="Calibri"/>
                <a:cs typeface="Calibri"/>
              </a:rPr>
              <a:t>Facultad de Ingeniería y Ciencias · Universidad de La Frontera</a:t>
            </a:r>
          </a:p>
        </p:txBody>
      </p:sp>
      <p:sp>
        <p:nvSpPr>
          <p:cNvPr id="5" name="Autoria"/>
          <p:cNvSpPr txBox="1"/>
          <p:nvPr/>
        </p:nvSpPr>
        <p:spPr>
          <a:xfrm>
            <a:off x="2103120" y="4700016"/>
            <a:ext cx="4937760" cy="8412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5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115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115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Profesor guía: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Carlos Muñoz P.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Profesor co-guía: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Manuel Echiburú Fuenzalida</a:t>
            </a:r>
          </a:p>
        </p:txBody>
      </p:sp>
      <p:sp>
        <p:nvSpPr>
          <p:cNvPr id="6" name="Fecha"/>
          <p:cNvSpPr txBox="1"/>
          <p:nvPr/>
        </p:nvSpPr>
        <p:spPr>
          <a:xfrm>
            <a:off x="3200400" y="583387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Fecha: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14/10/2026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instituciona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" y="1664208"/>
            <a:ext cx="3566160" cy="4453128"/>
          </a:xfrm>
          <a:prstGeom prst="rect">
            <a:avLst/>
          </a:prstGeom>
        </p:spPr>
      </p:pic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del trabajo"/>
          <p:cNvSpPr txBox="1"/>
          <p:nvPr/>
        </p:nvSpPr>
        <p:spPr>
          <a:xfrm>
            <a:off x="4572000" y="1664208"/>
            <a:ext cx="4114800" cy="22860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2000" dirty="0" b="1">
                <a:solidFill>
                  <a:srgbClr val="595959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5" name="Regla"/>
          <p:cNvSpPr/>
          <p:nvPr/>
        </p:nvSpPr>
        <p:spPr>
          <a:xfrm>
            <a:off x="4608576" y="4078224"/>
            <a:ext cx="402336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" name="Precision"/>
          <p:cNvSpPr txBox="1"/>
          <p:nvPr/>
        </p:nvSpPr>
        <p:spPr>
          <a:xfrm>
            <a:off x="4572000" y="4187952"/>
            <a:ext cx="4114800" cy="18288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10000"/>
              </a:lnSpc>
              <a:buNone/>
            </a:pPr>
            <a:r>
              <a:rPr lang="es-CL" sz="1200" dirty="0" b="1">
                <a:solidFill>
                  <a:srgbClr val="17375E"/>
                </a:solidFill>
                <a:latin typeface="Calibri"/>
                <a:cs typeface="Calibri"/>
              </a:rPr>
              <a:t>Título sin modificaciones</a:t>
            </a: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 respecto del anteproyecto aprobado y del Avance 1.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El trabajo comprende el </a:t>
            </a:r>
            <a:r>
              <a:rPr lang="es-CL" sz="1200" dirty="0" b="1">
                <a:solidFill>
                  <a:srgbClr val="3A3A3A"/>
                </a:solidFill>
                <a:latin typeface="Calibri"/>
                <a:cs typeface="Calibri"/>
              </a:rPr>
              <a:t>diseño</a:t>
            </a: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 del sistema de gestión de riesgos; su implementación no forma parte del alcance.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Este avance reporta la arquitectura de procesos consolidada en los manuales de MP8 (v1) y MP21 (v2).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Problema (1 de 2) · Organización y unidad de estudio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6" name="Organizacion"/>
          <p:cNvSpPr txBox="1"/>
          <p:nvPr/>
        </p:nvSpPr>
        <p:spPr>
          <a:xfrm>
            <a:off x="411480" y="2029968"/>
            <a:ext cx="8321040" cy="6583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Celulosa Arauco y Constitución S.A.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, Negocio de Celulosa: cinco plantas en Chile (Arauco, Constitución, Licancel, Nueva Aldea y Valdivia) y una en Argentina. Sus procesos se ordenan en 21 macroprocesos bajo el </a:t>
            </a:r>
            <a:r>
              <a:rPr lang="es-CL" sz="1250" dirty="0" b="1">
                <a:solidFill>
                  <a:srgbClr val="3A3A3A"/>
                </a:solidFill>
                <a:latin typeface="Calibri"/>
                <a:cs typeface="Calibri"/>
              </a:rPr>
              <a:t>Modelo de Gestión Operacional (MGO)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.</a:t>
            </a:r>
          </a:p>
        </p:txBody>
      </p:sp>
      <p:pic>
        <p:nvPicPr>
          <p:cNvPr id="7" name="Captura mapa macroproceso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88920"/>
            <a:ext cx="5760720" cy="2537978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788920"/>
            <a:ext cx="5760720" cy="2537978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3030977" y="3033479"/>
            <a:ext cx="499987" cy="5706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432209" y="2912778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5389612" y="4718218"/>
            <a:ext cx="521726" cy="5706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5812582" y="459751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Rotulo figura"/>
          <p:cNvSpPr txBox="1"/>
          <p:nvPr/>
        </p:nvSpPr>
        <p:spPr>
          <a:xfrm>
            <a:off x="411480" y="5363474"/>
            <a:ext cx="576072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Figura 1. </a:t>
            </a:r>
            <a:r>
              <a:rPr lang="es-CL" sz="900" dirty="0" i="1">
                <a:solidFill>
                  <a:srgbClr val="6B6B6B"/>
                </a:solidFill>
                <a:latin typeface="Calibri"/>
                <a:cs typeface="Calibri"/>
              </a:rPr>
              <a:t>Mapa de macroprocesos del Negocio de Celulosa según el MGO.</a:t>
            </a:r>
          </a:p>
        </p:txBody>
      </p:sp>
      <p:sp>
        <p:nvSpPr>
          <p:cNvPr id="14" name="Encabezado"/>
          <p:cNvSpPr txBox="1"/>
          <p:nvPr/>
        </p:nvSpPr>
        <p:spPr>
          <a:xfrm>
            <a:off x="6446520" y="278892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250" dirty="0" b="1">
                <a:solidFill>
                  <a:srgbClr val="1F497D"/>
                </a:solidFill>
                <a:latin typeface="Calibri"/>
                <a:cs typeface="Calibri"/>
              </a:rPr>
              <a:t>Unidad de estudio</a:t>
            </a:r>
          </a:p>
        </p:txBody>
      </p:sp>
      <p:sp>
        <p:nvSpPr>
          <p:cNvPr id="15" name="Ley marca 1"/>
          <p:cNvSpPr/>
          <p:nvPr/>
        </p:nvSpPr>
        <p:spPr>
          <a:xfrm>
            <a:off x="6446520" y="31455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6" name="Ley texto 1"/>
          <p:cNvSpPr txBox="1"/>
          <p:nvPr/>
        </p:nvSpPr>
        <p:spPr>
          <a:xfrm>
            <a:off x="6720840" y="3127248"/>
            <a:ext cx="2011680" cy="5989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MP8 Gestión de Personas.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Transversal a los negocios de celulosa, madera y forestal.</a:t>
            </a:r>
          </a:p>
        </p:txBody>
      </p:sp>
      <p:sp>
        <p:nvSpPr>
          <p:cNvPr id="17" name="Ley marca 2"/>
          <p:cNvSpPr/>
          <p:nvPr/>
        </p:nvSpPr>
        <p:spPr>
          <a:xfrm>
            <a:off x="6446520" y="385419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8" name="Ley texto 2"/>
          <p:cNvSpPr txBox="1"/>
          <p:nvPr/>
        </p:nvSpPr>
        <p:spPr>
          <a:xfrm>
            <a:off x="6720840" y="3835908"/>
            <a:ext cx="2011680" cy="5989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MP21 Servicios Generales.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Soporte; transversal a celulosa y forestal.</a:t>
            </a:r>
          </a:p>
        </p:txBody>
      </p:sp>
      <p:sp>
        <p:nvSpPr>
          <p:cNvPr id="19" name="Unidad"/>
          <p:cNvSpPr txBox="1"/>
          <p:nvPr/>
        </p:nvSpPr>
        <p:spPr>
          <a:xfrm>
            <a:off x="6446520" y="4617720"/>
            <a:ext cx="2286000" cy="10972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Unidad de análisis: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el nivel corporativo que diseña ambos macroprocesos para las cinco plantas.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sobre el mapa de macroprocesos de los manuales MP8 v1 y MP21 v2 y la sección 1.5 del informe.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Problema (2 de 2) · Descripción y relevancia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Descripción del problema</a:t>
            </a:r>
          </a:p>
        </p:txBody>
      </p:sp>
      <p:sp>
        <p:nvSpPr>
          <p:cNvPr id="7" name="Problema"/>
          <p:cNvSpPr txBox="1"/>
          <p:nvPr/>
        </p:nvSpPr>
        <p:spPr>
          <a:xfrm>
            <a:off x="411480" y="2322576"/>
            <a:ext cx="83210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MP8 y MP21 operan sin un sistema de gestión de riesgos estructurado y sin una arquitectura de procesos formalizada bajo el MGO, lo que limita la trazabilidad de responsabilidades y la gestión de sus riesgos operacionales.</a:t>
            </a:r>
          </a:p>
        </p:txBody>
      </p:sp>
      <p:sp>
        <p:nvSpPr>
          <p:cNvPr id="8" name="Carencia num 1"/>
          <p:cNvSpPr txBox="1"/>
          <p:nvPr/>
        </p:nvSpPr>
        <p:spPr>
          <a:xfrm>
            <a:off x="411480" y="2980944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9" name="Carencia 1"/>
          <p:cNvSpPr txBox="1"/>
          <p:nvPr/>
        </p:nvSpPr>
        <p:spPr>
          <a:xfrm>
            <a:off x="777240" y="2980944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arquitectura formalizada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en los niveles del MGO, que sirva de base para analizar los riesgos.</a:t>
            </a:r>
          </a:p>
        </p:txBody>
      </p:sp>
      <p:sp>
        <p:nvSpPr>
          <p:cNvPr id="10" name="Carencia num 2"/>
          <p:cNvSpPr txBox="1"/>
          <p:nvPr/>
        </p:nvSpPr>
        <p:spPr>
          <a:xfrm>
            <a:off x="411480" y="3310128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Carencia 2"/>
          <p:cNvSpPr txBox="1"/>
          <p:nvPr/>
        </p:nvSpPr>
        <p:spPr>
          <a:xfrm>
            <a:off x="777240" y="3310128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evaluación estructurada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de los riesgos operacionales de las tareas.</a:t>
            </a:r>
          </a:p>
        </p:txBody>
      </p:sp>
      <p:sp>
        <p:nvSpPr>
          <p:cNvPr id="12" name="Carencia num 3"/>
          <p:cNvSpPr txBox="1"/>
          <p:nvPr/>
        </p:nvSpPr>
        <p:spPr>
          <a:xfrm>
            <a:off x="411480" y="3639312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" name="Carencia 3"/>
          <p:cNvSpPr txBox="1"/>
          <p:nvPr/>
        </p:nvSpPr>
        <p:spPr>
          <a:xfrm>
            <a:off x="777240" y="3639312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un sistema que integre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riesgos, planes de mitigación, responsables y monitoreo.</a:t>
            </a:r>
          </a:p>
        </p:txBody>
      </p:sp>
      <p:sp>
        <p:nvSpPr>
          <p:cNvPr id="14" name="Regla"/>
          <p:cNvSpPr/>
          <p:nvPr/>
        </p:nvSpPr>
        <p:spPr>
          <a:xfrm>
            <a:off x="411480" y="4041648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Encabezado"/>
          <p:cNvSpPr txBox="1"/>
          <p:nvPr/>
        </p:nvSpPr>
        <p:spPr>
          <a:xfrm>
            <a:off x="411480" y="4151376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Relevancia para la gestión de la calidad</a:t>
            </a:r>
          </a:p>
        </p:txBody>
      </p:sp>
      <p:sp>
        <p:nvSpPr>
          <p:cNvPr id="16" name="Relevancia 1"/>
          <p:cNvSpPr txBox="1"/>
          <p:nvPr/>
        </p:nvSpPr>
        <p:spPr>
          <a:xfrm>
            <a:off x="411480" y="4462272"/>
            <a:ext cx="4023360" cy="14813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arquitectura de procesos es la condición previa para gestionar riesgos: ordena actividades dispersas y les asigna responsables trazables (Davenport, 1993; Teixeira et al., 2024).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Un sistema sustentado en esa arquitectura puede replicarse en las cinco plantas y homogeneizar la gestión.</a:t>
            </a:r>
          </a:p>
        </p:txBody>
      </p:sp>
      <p:sp>
        <p:nvSpPr>
          <p:cNvPr id="17" name="Relevancia 2"/>
          <p:cNvSpPr txBox="1"/>
          <p:nvPr/>
        </p:nvSpPr>
        <p:spPr>
          <a:xfrm>
            <a:off x="4636008" y="4462272"/>
            <a:ext cx="4096512" cy="14813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Evidencia externa, no proyectable al caso: 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adopción de ERM se asocia a una prima de valoración cercana al 20 % en aseguradoras (Hoyt y Liebenberg, 2011) y su madurez a una mayor Q de Tobin, del orden de 25 % (Farrell y Gallagher, 2015).</a:t>
            </a:r>
          </a:p>
        </p:txBody>
      </p:sp>
      <p:sp>
        <p:nvSpPr>
          <p:cNvPr id="18" name="Regla vertical"/>
          <p:cNvSpPr/>
          <p:nvPr/>
        </p:nvSpPr>
        <p:spPr>
          <a:xfrm>
            <a:off x="4526280" y="4498848"/>
            <a:ext cx="12802" cy="137160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secciones 1.2 y 1.3 del informe de avance.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Objetivos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Objetivo general</a:t>
            </a:r>
          </a:p>
        </p:txBody>
      </p:sp>
      <p:sp>
        <p:nvSpPr>
          <p:cNvPr id="7" name="OG"/>
          <p:cNvSpPr txBox="1"/>
          <p:nvPr/>
        </p:nvSpPr>
        <p:spPr>
          <a:xfrm>
            <a:off x="411480" y="2340864"/>
            <a:ext cx="8321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400" dirty="0">
                <a:solidFill>
                  <a:srgbClr val="17375E"/>
                </a:solidFill>
                <a:latin typeface="Calibri"/>
                <a:cs typeface="Calibri"/>
              </a:rPr>
              <a:t>Estructurar un sistema de gestión de riesgos según COSO II para los macroprocesos de Gestión de Personas (MP8) y Servicios Generales (MP21) de Celulosa Arauco y Constitución S.A.</a:t>
            </a:r>
          </a:p>
        </p:txBody>
      </p:sp>
      <p:sp>
        <p:nvSpPr>
          <p:cNvPr id="8" name="Regla"/>
          <p:cNvSpPr/>
          <p:nvPr/>
        </p:nvSpPr>
        <p:spPr>
          <a:xfrm>
            <a:off x="411480" y="3054096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Encabezado"/>
          <p:cNvSpPr txBox="1"/>
          <p:nvPr/>
        </p:nvSpPr>
        <p:spPr>
          <a:xfrm>
            <a:off x="411480" y="3182112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Objetivos específicos</a:t>
            </a:r>
          </a:p>
        </p:txBody>
      </p:sp>
      <p:sp>
        <p:nvSpPr>
          <p:cNvPr id="10" name="OE cod OE1"/>
          <p:cNvSpPr txBox="1"/>
          <p:nvPr/>
        </p:nvSpPr>
        <p:spPr>
          <a:xfrm>
            <a:off x="411480" y="354787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OE1</a:t>
            </a:r>
          </a:p>
        </p:txBody>
      </p:sp>
      <p:sp>
        <p:nvSpPr>
          <p:cNvPr id="11" name="OE txt OE1"/>
          <p:cNvSpPr txBox="1"/>
          <p:nvPr/>
        </p:nvSpPr>
        <p:spPr>
          <a:xfrm>
            <a:off x="1014984" y="354787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Modelar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la arquitectura de procesos de MP8 y MP21, desde sus procesos hasta sus tareas, según el marco del Modelo de Gestión Operacional.</a:t>
            </a:r>
          </a:p>
        </p:txBody>
      </p:sp>
      <p:sp>
        <p:nvSpPr>
          <p:cNvPr id="12" name="OE ind OE1"/>
          <p:cNvSpPr txBox="1"/>
          <p:nvPr/>
        </p:nvSpPr>
        <p:spPr>
          <a:xfrm>
            <a:off x="7452360" y="354787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CAP</a:t>
            </a:r>
          </a:p>
        </p:txBody>
      </p:sp>
      <p:sp>
        <p:nvSpPr>
          <p:cNvPr id="13" name="OE cod OE2"/>
          <p:cNvSpPr txBox="1"/>
          <p:nvPr/>
        </p:nvSpPr>
        <p:spPr>
          <a:xfrm>
            <a:off x="411480" y="427939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OE2</a:t>
            </a:r>
          </a:p>
        </p:txBody>
      </p:sp>
      <p:sp>
        <p:nvSpPr>
          <p:cNvPr id="14" name="OE txt OE2"/>
          <p:cNvSpPr txBox="1"/>
          <p:nvPr/>
        </p:nvSpPr>
        <p:spPr>
          <a:xfrm>
            <a:off x="1014984" y="427939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Evaluar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los riesgos operacionales asociados a las tareas modeladas de ambos macroprocesos según COSO II.</a:t>
            </a:r>
          </a:p>
        </p:txBody>
      </p:sp>
      <p:sp>
        <p:nvSpPr>
          <p:cNvPr id="15" name="OE ind OE2"/>
          <p:cNvSpPr txBox="1"/>
          <p:nvPr/>
        </p:nvSpPr>
        <p:spPr>
          <a:xfrm>
            <a:off x="7452360" y="427939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TCER</a:t>
            </a:r>
          </a:p>
        </p:txBody>
      </p:sp>
      <p:sp>
        <p:nvSpPr>
          <p:cNvPr id="16" name="OE cod OE3"/>
          <p:cNvSpPr txBox="1"/>
          <p:nvPr/>
        </p:nvSpPr>
        <p:spPr>
          <a:xfrm>
            <a:off x="411480" y="501091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OE3</a:t>
            </a:r>
          </a:p>
        </p:txBody>
      </p:sp>
      <p:sp>
        <p:nvSpPr>
          <p:cNvPr id="17" name="OE txt OE3"/>
          <p:cNvSpPr txBox="1"/>
          <p:nvPr/>
        </p:nvSpPr>
        <p:spPr>
          <a:xfrm>
            <a:off x="1014984" y="501091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Elaborar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el sistema de gestión de riesgos, integrando el catálogo de riesgos y sus planes de mitigación según COSO II.</a:t>
            </a:r>
          </a:p>
        </p:txBody>
      </p:sp>
      <p:sp>
        <p:nvSpPr>
          <p:cNvPr id="18" name="OE ind OE3"/>
          <p:cNvSpPr txBox="1"/>
          <p:nvPr/>
        </p:nvSpPr>
        <p:spPr>
          <a:xfrm>
            <a:off x="7452360" y="501091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CRPM</a:t>
            </a:r>
          </a:p>
        </p:txBody>
      </p:sp>
      <p:sp>
        <p:nvSpPr>
          <p:cNvPr id="19" name="Nota"/>
          <p:cNvSpPr txBox="1"/>
          <p:nvPr/>
        </p:nvSpPr>
        <p:spPr>
          <a:xfrm>
            <a:off x="411480" y="5742432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i="1">
                <a:solidFill>
                  <a:srgbClr val="6B6B6B"/>
                </a:solidFill>
                <a:latin typeface="Calibri"/>
                <a:cs typeface="Calibri"/>
              </a:rPr>
              <a:t>Objetivos sin modificaciones. Este avance reporta el OE1 y la preparación del OE2.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(1 de 10)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6" name="Actividades"/>
          <p:cNvSpPr txBox="1"/>
          <p:nvPr/>
        </p:nvSpPr>
        <p:spPr>
          <a:xfrm>
            <a:off x="411480" y="2029968"/>
            <a:ext cx="83210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Actividades realizadas.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A1.3.2 segmentación de MP8 desde el flujo único del Avance 1; A1.4 estructura y segmentación de MP21 con su dueño; A1.5 consolidación en manuales con el formato MGO aprobado: MP8 v1 (58 láminas) y MP21 v2 (31 láminas).</a:t>
            </a:r>
          </a:p>
        </p:txBody>
      </p:sp>
      <p:pic>
        <p:nvPicPr>
          <p:cNvPr id="7" name="Captura apertura MP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61488"/>
            <a:ext cx="5074920" cy="2143090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761488"/>
            <a:ext cx="5074920" cy="2143090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452993" y="2803001"/>
            <a:ext cx="975547" cy="4099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32292" y="268230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452993" y="3223316"/>
            <a:ext cx="975547" cy="321723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332292" y="344628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Senal 3"/>
          <p:cNvSpPr/>
          <p:nvPr/>
        </p:nvSpPr>
        <p:spPr>
          <a:xfrm>
            <a:off x="2466356" y="2803001"/>
            <a:ext cx="975547" cy="208601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3"/>
          <p:cNvSpPr/>
          <p:nvPr/>
        </p:nvSpPr>
        <p:spPr>
          <a:xfrm>
            <a:off x="3343147" y="268230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5" name="Ley marca 1"/>
          <p:cNvSpPr/>
          <p:nvPr/>
        </p:nvSpPr>
        <p:spPr>
          <a:xfrm>
            <a:off x="411480" y="501430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6" name="Ley texto 1"/>
          <p:cNvSpPr txBox="1"/>
          <p:nvPr/>
        </p:nvSpPr>
        <p:spPr>
          <a:xfrm>
            <a:off x="685800" y="4996018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Proceso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(A a E), con su ficha y SIPOC.</a:t>
            </a:r>
          </a:p>
        </p:txBody>
      </p:sp>
      <p:sp>
        <p:nvSpPr>
          <p:cNvPr id="17" name="Ley marca 2"/>
          <p:cNvSpPr/>
          <p:nvPr/>
        </p:nvSpPr>
        <p:spPr>
          <a:xfrm>
            <a:off x="411480" y="525205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8" name="Ley texto 2"/>
          <p:cNvSpPr txBox="1"/>
          <p:nvPr/>
        </p:nvSpPr>
        <p:spPr>
          <a:xfrm>
            <a:off x="685800" y="5233762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Subproceso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(A.1), con flujograma, actividades y tareas.</a:t>
            </a:r>
          </a:p>
        </p:txBody>
      </p:sp>
      <p:sp>
        <p:nvSpPr>
          <p:cNvPr id="19" name="Ley marca 3"/>
          <p:cNvSpPr/>
          <p:nvPr/>
        </p:nvSpPr>
        <p:spPr>
          <a:xfrm>
            <a:off x="411480" y="548979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" name="Ley texto 3"/>
          <p:cNvSpPr txBox="1"/>
          <p:nvPr/>
        </p:nvSpPr>
        <p:spPr>
          <a:xfrm>
            <a:off x="685800" y="5471506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Atracción y selección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: cinco subprocesos (fases F3 a F10 del flujo).</a:t>
            </a:r>
          </a:p>
        </p:txBody>
      </p:sp>
      <p:sp>
        <p:nvSpPr>
          <p:cNvPr id="21" name="Encabezado"/>
          <p:cNvSpPr txBox="1"/>
          <p:nvPr/>
        </p:nvSpPr>
        <p:spPr>
          <a:xfrm>
            <a:off x="5760720" y="2761488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Elementos por nivel MGO</a:t>
            </a:r>
          </a:p>
        </p:txBody>
      </p:sp>
      <p:graphicFrame>
        <p:nvGraphicFramePr>
          <p:cNvPr id="22" name="Tabla niveles"/>
          <p:cNvGraphicFramePr>
            <a:graphicFrameLocks noGrp="1"/>
          </p:cNvGraphicFramePr>
          <p:nvPr/>
        </p:nvGraphicFramePr>
        <p:xfrm>
          <a:off x="5760720" y="3090672"/>
          <a:ext cx="2770632" cy="16642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61288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Nivel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Macroproceso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Procesos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Subprocesos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Actividades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192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Cobertura"/>
          <p:cNvSpPr txBox="1"/>
          <p:nvPr/>
        </p:nvSpPr>
        <p:spPr>
          <a:xfrm>
            <a:off x="5760720" y="4864608"/>
            <a:ext cx="2971800" cy="107899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MP8: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14 de las 18 fases del flujo único segmentadas; restan nómina, clima, desvinculación y datos (F15 a F18).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MP21: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los cinco niveles completos en el manual v2, desde la v1 sin actividades ni tareas.</a:t>
            </a:r>
          </a:p>
        </p:txBody>
      </p:sp>
      <p:sp>
        <p:nvSpPr>
          <p:cNvPr id="24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2. Apertura del macroproceso MP8 en el manual de procesos v1. Fuente: elaboración propia.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(2 de 10)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MP8: subproceso C.1 Requisición y apertura de vacante.</a:t>
            </a:r>
          </a:p>
        </p:txBody>
      </p:sp>
      <p:pic>
        <p:nvPicPr>
          <p:cNvPr id="7" name="Captura flujograma C.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2170364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377440"/>
            <a:ext cx="4297680" cy="2170364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1150480" y="3367557"/>
            <a:ext cx="179369" cy="8251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1039838" y="3256914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2334315" y="3378319"/>
            <a:ext cx="373087" cy="322864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2616877" y="3267676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Senal 3"/>
          <p:cNvSpPr/>
          <p:nvPr/>
        </p:nvSpPr>
        <p:spPr>
          <a:xfrm>
            <a:off x="3783616" y="2653668"/>
            <a:ext cx="904019" cy="179368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3"/>
          <p:cNvSpPr/>
          <p:nvPr/>
        </p:nvSpPr>
        <p:spPr>
          <a:xfrm>
            <a:off x="3672974" y="2543026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5" name="Captura tareas C.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115944"/>
          </a:xfrm>
          <a:prstGeom prst="rect">
            <a:avLst/>
          </a:prstGeom>
        </p:spPr>
      </p:pic>
      <p:sp>
        <p:nvSpPr>
          <p:cNvPr id="16" name="Borde captura"/>
          <p:cNvSpPr/>
          <p:nvPr/>
        </p:nvSpPr>
        <p:spPr>
          <a:xfrm>
            <a:off x="4910328" y="2377440"/>
            <a:ext cx="3822192" cy="1115944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Senal 4"/>
          <p:cNvSpPr/>
          <p:nvPr/>
        </p:nvSpPr>
        <p:spPr>
          <a:xfrm>
            <a:off x="7435705" y="2517360"/>
            <a:ext cx="853168" cy="8872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Marca 4"/>
          <p:cNvSpPr/>
          <p:nvPr/>
        </p:nvSpPr>
        <p:spPr>
          <a:xfrm>
            <a:off x="8198347" y="2406717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9" name="Senal 5"/>
          <p:cNvSpPr/>
          <p:nvPr/>
        </p:nvSpPr>
        <p:spPr>
          <a:xfrm>
            <a:off x="7428880" y="2865452"/>
            <a:ext cx="262776" cy="7507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Marca 5"/>
          <p:cNvSpPr/>
          <p:nvPr/>
        </p:nvSpPr>
        <p:spPr>
          <a:xfrm>
            <a:off x="7601130" y="275481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1" name="Ley marca 1"/>
          <p:cNvSpPr/>
          <p:nvPr/>
        </p:nvSpPr>
        <p:spPr>
          <a:xfrm>
            <a:off x="4910328" y="36031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2" name="Ley texto 1"/>
          <p:cNvSpPr txBox="1"/>
          <p:nvPr/>
        </p:nvSpPr>
        <p:spPr>
          <a:xfrm>
            <a:off x="5184648" y="3584824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Código MGO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la actividad (C.1.1).</a:t>
            </a:r>
          </a:p>
        </p:txBody>
      </p:sp>
      <p:sp>
        <p:nvSpPr>
          <p:cNvPr id="23" name="Ley marca 2"/>
          <p:cNvSpPr/>
          <p:nvPr/>
        </p:nvSpPr>
        <p:spPr>
          <a:xfrm>
            <a:off x="4910328" y="382256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4" name="Ley texto 2"/>
          <p:cNvSpPr txBox="1"/>
          <p:nvPr/>
        </p:nvSpPr>
        <p:spPr>
          <a:xfrm>
            <a:off x="5184648" y="3804280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Decisión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del flujo: proceso masivo o individual.</a:t>
            </a:r>
          </a:p>
        </p:txBody>
      </p:sp>
      <p:sp>
        <p:nvSpPr>
          <p:cNvPr id="25" name="Ley marca 3"/>
          <p:cNvSpPr/>
          <p:nvPr/>
        </p:nvSpPr>
        <p:spPr>
          <a:xfrm>
            <a:off x="4910328" y="404202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6" name="Ley texto 3"/>
          <p:cNvSpPr txBox="1"/>
          <p:nvPr/>
        </p:nvSpPr>
        <p:spPr>
          <a:xfrm>
            <a:off x="5184648" y="4023736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Soporte, herramientas, KPI y dueño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del subproceso.</a:t>
            </a:r>
          </a:p>
        </p:txBody>
      </p:sp>
      <p:sp>
        <p:nvSpPr>
          <p:cNvPr id="27" name="Ley marca 4"/>
          <p:cNvSpPr/>
          <p:nvPr/>
        </p:nvSpPr>
        <p:spPr>
          <a:xfrm>
            <a:off x="4910328" y="426148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8" name="Ley texto 4"/>
          <p:cNvSpPr txBox="1"/>
          <p:nvPr/>
        </p:nvSpPr>
        <p:spPr>
          <a:xfrm>
            <a:off x="5184648" y="4243192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Tarea con responsable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identificado.</a:t>
            </a:r>
          </a:p>
        </p:txBody>
      </p:sp>
      <p:sp>
        <p:nvSpPr>
          <p:cNvPr id="29" name="Ley marca 5"/>
          <p:cNvSpPr/>
          <p:nvPr/>
        </p:nvSpPr>
        <p:spPr>
          <a:xfrm>
            <a:off x="4910328" y="44809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0" name="Ley texto 5"/>
          <p:cNvSpPr txBox="1"/>
          <p:nvPr/>
        </p:nvSpPr>
        <p:spPr>
          <a:xfrm>
            <a:off x="5184648" y="4462648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Responsable pendiente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levantar.</a:t>
            </a:r>
          </a:p>
        </p:txBody>
      </p:sp>
      <p:sp>
        <p:nvSpPr>
          <p:cNvPr id="31" name="Encabezado"/>
          <p:cNvSpPr txBox="1"/>
          <p:nvPr/>
        </p:nvSpPr>
        <p:spPr>
          <a:xfrm>
            <a:off x="411480" y="4694108"/>
            <a:ext cx="42976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Estado del contenido de MP8 (tareas)</a:t>
            </a:r>
          </a:p>
        </p:txBody>
      </p:sp>
      <p:graphicFrame>
        <p:nvGraphicFramePr>
          <p:cNvPr id="32" name="Tabla estado"/>
          <p:cNvGraphicFramePr>
            <a:graphicFrameLocks noGrp="1"/>
          </p:cNvGraphicFramePr>
          <p:nvPr/>
        </p:nvGraphicFramePr>
        <p:xfrm>
          <a:off x="411480" y="4986716"/>
          <a:ext cx="4297680" cy="9966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31720"/>
                <a:gridCol w="77724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 (n = 192)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N.º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Levantadas en terreno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89,1 %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Propuestas, por validar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10,9 %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 responsable identificado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43,2 %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3. Flujograma y tabla de actividades y tareas del subproceso C.1 (manual MP8 v1). En el manual, el texto naranjo identifica propuestas por validar.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(3 de 10)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SIPOC del macroproceso MP8: cómo se articulan sus cinco procesos.</a:t>
            </a:r>
          </a:p>
        </p:txBody>
      </p:sp>
      <p:pic>
        <p:nvPicPr>
          <p:cNvPr id="7" name="Captura SIPOC MP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77840" cy="3077108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395728"/>
            <a:ext cx="5577840" cy="3077108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499796" y="3144088"/>
            <a:ext cx="1757020" cy="104119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79095" y="302338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2433447" y="3232404"/>
            <a:ext cx="1501369" cy="133868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3836060" y="3111703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Senal 3"/>
          <p:cNvSpPr/>
          <p:nvPr/>
        </p:nvSpPr>
        <p:spPr>
          <a:xfrm>
            <a:off x="4157929" y="3144088"/>
            <a:ext cx="1594333" cy="13247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3"/>
          <p:cNvSpPr/>
          <p:nvPr/>
        </p:nvSpPr>
        <p:spPr>
          <a:xfrm>
            <a:off x="5653507" y="302338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5" name="Senal 4"/>
          <p:cNvSpPr/>
          <p:nvPr/>
        </p:nvSpPr>
        <p:spPr>
          <a:xfrm>
            <a:off x="453314" y="4928997"/>
            <a:ext cx="5475580" cy="44622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Marca 4"/>
          <p:cNvSpPr/>
          <p:nvPr/>
        </p:nvSpPr>
        <p:spPr>
          <a:xfrm>
            <a:off x="332613" y="5276469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7" name="Encabezado"/>
          <p:cNvSpPr txBox="1"/>
          <p:nvPr/>
        </p:nvSpPr>
        <p:spPr>
          <a:xfrm>
            <a:off x="6263640" y="2395728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Qué muestra</a:t>
            </a:r>
          </a:p>
        </p:txBody>
      </p:sp>
      <p:sp>
        <p:nvSpPr>
          <p:cNvPr id="18" name="Ley marca 1"/>
          <p:cNvSpPr/>
          <p:nvPr/>
        </p:nvSpPr>
        <p:spPr>
          <a:xfrm>
            <a:off x="6263640" y="276148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9" name="Ley texto 1"/>
          <p:cNvSpPr txBox="1"/>
          <p:nvPr/>
        </p:nvSpPr>
        <p:spPr>
          <a:xfrm>
            <a:off x="6537960" y="2743200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Proveedores y entradas: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desde el plan estratégico hasta la normativa laboral.</a:t>
            </a:r>
          </a:p>
        </p:txBody>
      </p:sp>
      <p:sp>
        <p:nvSpPr>
          <p:cNvPr id="20" name="Ley marca 2"/>
          <p:cNvSpPr/>
          <p:nvPr/>
        </p:nvSpPr>
        <p:spPr>
          <a:xfrm>
            <a:off x="6263640" y="34107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Ley texto 2"/>
          <p:cNvSpPr txBox="1"/>
          <p:nvPr/>
        </p:nvSpPr>
        <p:spPr>
          <a:xfrm>
            <a:off x="6537960" y="3392424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Cinco procesos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encadenados, de la dotación a la compensación.</a:t>
            </a:r>
          </a:p>
        </p:txBody>
      </p:sp>
      <p:sp>
        <p:nvSpPr>
          <p:cNvPr id="22" name="Ley marca 3"/>
          <p:cNvSpPr/>
          <p:nvPr/>
        </p:nvSpPr>
        <p:spPr>
          <a:xfrm>
            <a:off x="6263640" y="40599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3" name="Ley texto 3"/>
          <p:cNvSpPr txBox="1"/>
          <p:nvPr/>
        </p:nvSpPr>
        <p:spPr>
          <a:xfrm>
            <a:off x="6537960" y="4041648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Salidas y clientes: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personas contratadas, habilitadas y retribuidas.</a:t>
            </a:r>
          </a:p>
        </p:txBody>
      </p:sp>
      <p:sp>
        <p:nvSpPr>
          <p:cNvPr id="24" name="Ley marca 4"/>
          <p:cNvSpPr/>
          <p:nvPr/>
        </p:nvSpPr>
        <p:spPr>
          <a:xfrm>
            <a:off x="6263640" y="470916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5" name="Ley texto 4"/>
          <p:cNvSpPr txBox="1"/>
          <p:nvPr/>
        </p:nvSpPr>
        <p:spPr>
          <a:xfrm>
            <a:off x="6537960" y="4690872"/>
            <a:ext cx="219456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Macroprocesos de soporte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con que interactúa MP8.</a:t>
            </a:r>
          </a:p>
        </p:txBody>
      </p:sp>
      <p:sp>
        <p:nvSpPr>
          <p:cNvPr id="26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4. SIPOC del macroproceso Gestión de Personas (manual MP8 v1). Fuente: elaboración propia.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(4 de 10)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4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Ajuste metodológico en MP21. 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jerarquía se acordó con el dueño del proceso en lugar de derivarse de un flujo único de información, como establece la sección 2.3.1 del informe.</a:t>
            </a:r>
          </a:p>
        </p:txBody>
      </p:sp>
      <p:sp>
        <p:nvSpPr>
          <p:cNvPr id="7" name="Encabezado"/>
          <p:cNvSpPr txBox="1"/>
          <p:nvPr/>
        </p:nvSpPr>
        <p:spPr>
          <a:xfrm>
            <a:off x="411480" y="24871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6B6B6B"/>
                </a:solidFill>
                <a:latin typeface="Calibri"/>
                <a:cs typeface="Calibri"/>
              </a:rPr>
              <a:t>Planificado (informe, sección 2.3.1) · aplicado en MP8</a:t>
            </a:r>
          </a:p>
        </p:txBody>
      </p:sp>
      <p:sp>
        <p:nvSpPr>
          <p:cNvPr id="8" name="Plan 1"/>
          <p:cNvSpPr/>
          <p:nvPr/>
        </p:nvSpPr>
        <p:spPr>
          <a:xfrm>
            <a:off x="411480" y="2734056"/>
            <a:ext cx="1805940" cy="402336"/>
          </a:xfrm>
          <a:prstGeom prst="rect">
            <a:avLst/>
          </a:prstGeom>
          <a:solidFill>
            <a:srgbClr val="EDF2F8"/>
          </a:solidFill>
          <a:ln w="15875">
            <a:solidFill>
              <a:srgbClr val="B8C6D9"/>
            </a:solidFill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3A3A3A"/>
                </a:solidFill>
                <a:latin typeface="Calibri"/>
                <a:cs typeface="Calibri"/>
              </a:rPr>
              <a:t>Flujo único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de información (SIPOC)</a:t>
            </a:r>
          </a:p>
        </p:txBody>
      </p:sp>
      <p:sp>
        <p:nvSpPr>
          <p:cNvPr id="9" name="Plan 2"/>
          <p:cNvSpPr/>
          <p:nvPr/>
        </p:nvSpPr>
        <p:spPr>
          <a:xfrm>
            <a:off x="2583180" y="2734056"/>
            <a:ext cx="3977640" cy="402336"/>
          </a:xfrm>
          <a:prstGeom prst="rect">
            <a:avLst/>
          </a:prstGeom>
          <a:solidFill>
            <a:srgbClr val="EDF2F8"/>
          </a:solidFill>
          <a:ln w="15875">
            <a:solidFill>
              <a:srgbClr val="B8C6D9"/>
            </a:solidFill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3A3A3A"/>
                </a:solidFill>
                <a:latin typeface="Calibri"/>
                <a:cs typeface="Calibri"/>
              </a:rPr>
              <a:t>Segmentación en cinco niveles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derivada del flujo levantado</a:t>
            </a:r>
          </a:p>
        </p:txBody>
      </p:sp>
      <p:sp>
        <p:nvSpPr>
          <p:cNvPr id="10" name="Plan 3"/>
          <p:cNvSpPr/>
          <p:nvPr/>
        </p:nvSpPr>
        <p:spPr>
          <a:xfrm>
            <a:off x="6926580" y="2734056"/>
            <a:ext cx="1805940" cy="402336"/>
          </a:xfrm>
          <a:prstGeom prst="rect">
            <a:avLst/>
          </a:prstGeom>
          <a:solidFill>
            <a:srgbClr val="EDF2F8"/>
          </a:solidFill>
          <a:ln w="15875">
            <a:solidFill>
              <a:srgbClr val="B8C6D9"/>
            </a:solidFill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3A3A3A"/>
                </a:solidFill>
                <a:latin typeface="Calibri"/>
                <a:cs typeface="Calibri"/>
              </a:rPr>
              <a:t>Validación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con los dueños de proceso</a:t>
            </a:r>
          </a:p>
        </p:txBody>
      </p:sp>
      <p:sp>
        <p:nvSpPr>
          <p:cNvPr id="11" name="Flecha"/>
          <p:cNvSpPr/>
          <p:nvPr/>
        </p:nvSpPr>
        <p:spPr>
          <a:xfrm>
            <a:off x="2281428" y="2834640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" name="Flecha"/>
          <p:cNvSpPr/>
          <p:nvPr/>
        </p:nvSpPr>
        <p:spPr>
          <a:xfrm>
            <a:off x="6624828" y="2834640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Encabezado"/>
          <p:cNvSpPr txBox="1"/>
          <p:nvPr/>
        </p:nvSpPr>
        <p:spPr>
          <a:xfrm>
            <a:off x="411480" y="3246120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1F497D"/>
                </a:solidFill>
                <a:latin typeface="Calibri"/>
                <a:cs typeface="Calibri"/>
              </a:rPr>
              <a:t>Aplicado en MP21</a:t>
            </a:r>
          </a:p>
        </p:txBody>
      </p:sp>
      <p:sp>
        <p:nvSpPr>
          <p:cNvPr id="14" name="Apl 1"/>
          <p:cNvSpPr/>
          <p:nvPr/>
        </p:nvSpPr>
        <p:spPr>
          <a:xfrm>
            <a:off x="411480" y="3493008"/>
            <a:ext cx="1805940" cy="47548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Estructura acordada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con el dueño del proceso</a:t>
            </a:r>
          </a:p>
        </p:txBody>
      </p:sp>
      <p:sp>
        <p:nvSpPr>
          <p:cNvPr id="15" name="Apl 2"/>
          <p:cNvSpPr/>
          <p:nvPr/>
        </p:nvSpPr>
        <p:spPr>
          <a:xfrm>
            <a:off x="2583180" y="3493008"/>
            <a:ext cx="1805940" cy="475488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Contraste APQC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PCF 8.0 por subproceso</a:t>
            </a:r>
          </a:p>
        </p:txBody>
      </p:sp>
      <p:sp>
        <p:nvSpPr>
          <p:cNvPr id="16" name="Apl 3"/>
          <p:cNvSpPr/>
          <p:nvPr/>
        </p:nvSpPr>
        <p:spPr>
          <a:xfrm>
            <a:off x="4754880" y="3493008"/>
            <a:ext cx="1805940" cy="475488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Actividades y tareas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levantadas y propuestas</a:t>
            </a:r>
          </a:p>
        </p:txBody>
      </p:sp>
      <p:sp>
        <p:nvSpPr>
          <p:cNvPr id="17" name="Apl 4"/>
          <p:cNvSpPr/>
          <p:nvPr/>
        </p:nvSpPr>
        <p:spPr>
          <a:xfrm>
            <a:off x="6926580" y="3493008"/>
            <a:ext cx="18059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dash"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Validación formal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 i="1">
                <a:solidFill>
                  <a:srgbClr val="17375E"/>
                </a:solidFill>
                <a:latin typeface="Calibri"/>
                <a:cs typeface="Calibri"/>
              </a:rPr>
              <a:t>pendiente (A1.6)</a:t>
            </a:r>
          </a:p>
        </p:txBody>
      </p:sp>
      <p:sp>
        <p:nvSpPr>
          <p:cNvPr id="18" name="Flecha"/>
          <p:cNvSpPr/>
          <p:nvPr/>
        </p:nvSpPr>
        <p:spPr>
          <a:xfrm>
            <a:off x="2281428" y="3630168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Flecha"/>
          <p:cNvSpPr/>
          <p:nvPr/>
        </p:nvSpPr>
        <p:spPr>
          <a:xfrm>
            <a:off x="4453128" y="3630168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Flecha"/>
          <p:cNvSpPr/>
          <p:nvPr/>
        </p:nvSpPr>
        <p:spPr>
          <a:xfrm>
            <a:off x="6624828" y="3630168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" name="Encabezado"/>
          <p:cNvSpPr txBox="1"/>
          <p:nvPr/>
        </p:nvSpPr>
        <p:spPr>
          <a:xfrm>
            <a:off x="411480" y="4133088"/>
            <a:ext cx="48463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Por qué el ajuste</a:t>
            </a:r>
          </a:p>
        </p:txBody>
      </p:sp>
      <p:sp>
        <p:nvSpPr>
          <p:cNvPr id="22" name="Ley marca 1"/>
          <p:cNvSpPr/>
          <p:nvPr/>
        </p:nvSpPr>
        <p:spPr>
          <a:xfrm>
            <a:off x="411480" y="446227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685800" y="4443984"/>
            <a:ext cx="45720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Sin cadena única: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MP21 agrupa servicios paralelos (aseo, alimentación, seguridad, transporte, entre otros) que siguen un mismo ciclo de gestión.</a:t>
            </a:r>
          </a:p>
        </p:txBody>
      </p:sp>
      <p:sp>
        <p:nvSpPr>
          <p:cNvPr id="24" name="Ley marca 2"/>
          <p:cNvSpPr/>
          <p:nvPr/>
        </p:nvSpPr>
        <p:spPr>
          <a:xfrm>
            <a:off x="411480" y="489204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685800" y="4873752"/>
            <a:ext cx="45720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El ciclo es el «cómo» común;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cada servicio es el «qué» y entra en actividades y tareas.</a:t>
            </a:r>
          </a:p>
        </p:txBody>
      </p:sp>
      <p:sp>
        <p:nvSpPr>
          <p:cNvPr id="26" name="Ley marca 3"/>
          <p:cNvSpPr/>
          <p:nvPr/>
        </p:nvSpPr>
        <p:spPr>
          <a:xfrm>
            <a:off x="411480" y="532180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685800" y="5303520"/>
            <a:ext cx="45720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Trazabilidad conservada: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cada elemento declara su origen (levantado, propuesto o pendiente) y cada subproceso su equivalencia APQC.</a:t>
            </a:r>
          </a:p>
        </p:txBody>
      </p:sp>
      <p:sp>
        <p:nvSpPr>
          <p:cNvPr id="28" name="Encabezado"/>
          <p:cNvSpPr txBox="1"/>
          <p:nvPr/>
        </p:nvSpPr>
        <p:spPr>
          <a:xfrm>
            <a:off x="5532120" y="4133088"/>
            <a:ext cx="32004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Equivalencia APQC PCF 8.0</a:t>
            </a:r>
          </a:p>
        </p:txBody>
      </p:sp>
      <p:graphicFrame>
        <p:nvGraphicFramePr>
          <p:cNvPr id="29" name="Tabla APQC"/>
          <p:cNvGraphicFramePr>
            <a:graphicFrameLocks noGrp="1"/>
          </p:cNvGraphicFramePr>
          <p:nvPr/>
        </p:nvGraphicFramePr>
        <p:xfrm>
          <a:off x="5532120" y="4425696"/>
          <a:ext cx="3200400" cy="15133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92224"/>
                <a:gridCol w="1408176"/>
              </a:tblGrid>
              <a:tr h="2011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Subproceso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Código APQC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A.1 Evaluación de criticidad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10.1.1.3 · 4.2.1.6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B.1 Definición de estándares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4.2.1.2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B.2 Bases técnicas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4.2.1.1 · 4.2.1.4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B.3 Estimación presupuestaria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10.1.2.2 · 4.2.1.5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C.1 Aseguramiento del servicio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10.1.3 · 10.1.4 · 4.2.3.4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C.2 Control y mejora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4.2.5.2 · 4.2.5.3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D.1 y D.2 Evaluación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4.2.5.2 · 4.2.1.6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sobre la sección 2.3.1 del informe y el manual MP21 v2 (notas y equivalencias APQC).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(5 de 10)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MP21 se reestructuró: de la vida de un contrato a un ciclo de gestión del servicio.</a:t>
            </a:r>
          </a:p>
        </p:txBody>
      </p:sp>
      <p:sp>
        <p:nvSpPr>
          <p:cNvPr id="7" name="Encabezado"/>
          <p:cNvSpPr txBox="1"/>
          <p:nvPr/>
        </p:nvSpPr>
        <p:spPr>
          <a:xfrm>
            <a:off x="411480" y="2395728"/>
            <a:ext cx="3822192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6B6B6B"/>
                </a:solidFill>
                <a:latin typeface="Calibri"/>
                <a:cs typeface="Calibri"/>
              </a:rPr>
              <a:t>Manual v1 · 4 procesos y 11 subprocesos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782312" y="2395728"/>
            <a:ext cx="3950208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1F497D"/>
                </a:solidFill>
                <a:latin typeface="Calibri"/>
                <a:cs typeface="Calibri"/>
              </a:rPr>
              <a:t>Manual v2 · 4 procesos y 8 subprocesos</a:t>
            </a:r>
          </a:p>
        </p:txBody>
      </p:sp>
      <p:pic>
        <p:nvPicPr>
          <p:cNvPr id="9" name="Captura apertura MP21 v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61488"/>
            <a:ext cx="3822192" cy="1602380"/>
          </a:xfrm>
          <a:prstGeom prst="rect">
            <a:avLst/>
          </a:prstGeom>
        </p:spPr>
      </p:pic>
      <p:sp>
        <p:nvSpPr>
          <p:cNvPr id="10" name="Borde captura"/>
          <p:cNvSpPr/>
          <p:nvPr/>
        </p:nvSpPr>
        <p:spPr>
          <a:xfrm>
            <a:off x="411480" y="2761488"/>
            <a:ext cx="3822192" cy="1602380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Senal 1"/>
          <p:cNvSpPr/>
          <p:nvPr/>
        </p:nvSpPr>
        <p:spPr>
          <a:xfrm>
            <a:off x="2337277" y="2785989"/>
            <a:ext cx="1881695" cy="40182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1"/>
          <p:cNvSpPr/>
          <p:nvPr/>
        </p:nvSpPr>
        <p:spPr>
          <a:xfrm>
            <a:off x="2226634" y="2675347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3" name="Senal 2"/>
          <p:cNvSpPr/>
          <p:nvPr/>
        </p:nvSpPr>
        <p:spPr>
          <a:xfrm>
            <a:off x="3292825" y="3521026"/>
            <a:ext cx="921246" cy="24501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2"/>
          <p:cNvSpPr/>
          <p:nvPr/>
        </p:nvSpPr>
        <p:spPr>
          <a:xfrm>
            <a:off x="4123545" y="3675513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5" name="Flecha"/>
          <p:cNvSpPr/>
          <p:nvPr/>
        </p:nvSpPr>
        <p:spPr>
          <a:xfrm>
            <a:off x="4343400" y="3328416"/>
            <a:ext cx="329184" cy="3108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pic>
        <p:nvPicPr>
          <p:cNvPr id="16" name="Captura apertura MP21 v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2312" y="2761488"/>
            <a:ext cx="3950208" cy="1418023"/>
          </a:xfrm>
          <a:prstGeom prst="rect">
            <a:avLst/>
          </a:prstGeom>
        </p:spPr>
      </p:pic>
      <p:sp>
        <p:nvSpPr>
          <p:cNvPr id="17" name="Borde captura"/>
          <p:cNvSpPr/>
          <p:nvPr/>
        </p:nvSpPr>
        <p:spPr>
          <a:xfrm>
            <a:off x="4782312" y="2761488"/>
            <a:ext cx="3950208" cy="1418023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Senal 3"/>
          <p:cNvSpPr/>
          <p:nvPr/>
        </p:nvSpPr>
        <p:spPr>
          <a:xfrm>
            <a:off x="6772609" y="2786810"/>
            <a:ext cx="1939653" cy="415278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3"/>
          <p:cNvSpPr/>
          <p:nvPr/>
        </p:nvSpPr>
        <p:spPr>
          <a:xfrm>
            <a:off x="6661967" y="2676167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" name="Senal 4"/>
          <p:cNvSpPr/>
          <p:nvPr/>
        </p:nvSpPr>
        <p:spPr>
          <a:xfrm>
            <a:off x="6772609" y="3505950"/>
            <a:ext cx="1939653" cy="293733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Marca 4"/>
          <p:cNvSpPr/>
          <p:nvPr/>
        </p:nvSpPr>
        <p:spPr>
          <a:xfrm>
            <a:off x="8621737" y="3709158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2" name="Ley marca 1"/>
          <p:cNvSpPr/>
          <p:nvPr/>
        </p:nvSpPr>
        <p:spPr>
          <a:xfrm>
            <a:off x="411480" y="452846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685800" y="4510172"/>
            <a:ext cx="3547872" cy="3749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C y D seguían un contrato puntual: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se administra y se termina.</a:t>
            </a:r>
          </a:p>
        </p:txBody>
      </p:sp>
      <p:sp>
        <p:nvSpPr>
          <p:cNvPr id="24" name="Ley marca 2"/>
          <p:cNvSpPr/>
          <p:nvPr/>
        </p:nvSpPr>
        <p:spPr>
          <a:xfrm>
            <a:off x="411480" y="495822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685800" y="4939940"/>
            <a:ext cx="3547872" cy="3749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Las sanciones quedaban al término,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aunque ocurren durante la ejecución.</a:t>
            </a:r>
          </a:p>
        </p:txBody>
      </p:sp>
      <p:sp>
        <p:nvSpPr>
          <p:cNvPr id="26" name="Ley marca 3"/>
          <p:cNvSpPr/>
          <p:nvPr/>
        </p:nvSpPr>
        <p:spPr>
          <a:xfrm>
            <a:off x="4782312" y="452846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5056632" y="4510172"/>
            <a:ext cx="3675888" cy="3749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C administra y D evalúa el servicio;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D retroalimenta a A y B, y el ciclo se repite.</a:t>
            </a:r>
          </a:p>
        </p:txBody>
      </p:sp>
      <p:sp>
        <p:nvSpPr>
          <p:cNvPr id="28" name="Ley marca 4"/>
          <p:cNvSpPr/>
          <p:nvPr/>
        </p:nvSpPr>
        <p:spPr>
          <a:xfrm>
            <a:off x="4782312" y="495822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5056632" y="4939940"/>
            <a:ext cx="3675888" cy="3749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Nombres de C.2 y D.2 propuestos,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por validar con el dueño.</a:t>
            </a:r>
          </a:p>
        </p:txBody>
      </p:sp>
      <p:sp>
        <p:nvSpPr>
          <p:cNvPr id="30" name="Mensaje fondo"/>
          <p:cNvSpPr/>
          <p:nvPr/>
        </p:nvSpPr>
        <p:spPr>
          <a:xfrm>
            <a:off x="411480" y="5394960"/>
            <a:ext cx="8321040" cy="4572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1" name="Mensaje barra"/>
          <p:cNvSpPr/>
          <p:nvPr/>
        </p:nvSpPr>
        <p:spPr>
          <a:xfrm>
            <a:off x="411480" y="5394960"/>
            <a:ext cx="54864" cy="4572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2" name="Mensaje"/>
          <p:cNvSpPr txBox="1"/>
          <p:nvPr/>
        </p:nvSpPr>
        <p:spPr>
          <a:xfrm>
            <a:off x="539496" y="5394960"/>
            <a:ext cx="813816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Nada se perdió: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cinco subprocesos del v1 pasaron a ser actividades del v2 y el término de contrato es ahora una decisión dentro de C.2.</a:t>
            </a:r>
          </a:p>
        </p:txBody>
      </p:sp>
      <p:sp>
        <p:nvSpPr>
          <p:cNvPr id="33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5. Apertura del macroproceso MP21 en los manuales v1 y v2. Fuente: elaboración propia.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(6 de 10)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Un ciclo de gestión único para todos los servicios y plantas, con límite explícito con MP19.</a:t>
            </a:r>
          </a:p>
        </p:txBody>
      </p:sp>
      <p:sp>
        <p:nvSpPr>
          <p:cNvPr id="7" name="Proceso A"/>
          <p:cNvSpPr/>
          <p:nvPr/>
        </p:nvSpPr>
        <p:spPr>
          <a:xfrm>
            <a:off x="457200" y="2615184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A · Gestión estratégica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Prioriza qué servicio se necesita</a:t>
            </a:r>
          </a:p>
        </p:txBody>
      </p:sp>
      <p:sp>
        <p:nvSpPr>
          <p:cNvPr id="8" name="Proceso B"/>
          <p:cNvSpPr/>
          <p:nvPr/>
        </p:nvSpPr>
        <p:spPr>
          <a:xfrm>
            <a:off x="3108960" y="2615184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B · Planificación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Estándar, bases técnicas y presupuesto</a:t>
            </a:r>
          </a:p>
        </p:txBody>
      </p:sp>
      <p:sp>
        <p:nvSpPr>
          <p:cNvPr id="9" name="MP19"/>
          <p:cNvSpPr/>
          <p:nvPr/>
        </p:nvSpPr>
        <p:spPr>
          <a:xfrm>
            <a:off x="3108960" y="3730752"/>
            <a:ext cx="201168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dash"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MP19 · Compras y contratos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850" dirty="0" i="1">
                <a:solidFill>
                  <a:srgbClr val="17375E"/>
                </a:solidFill>
                <a:latin typeface="Calibri"/>
                <a:cs typeface="Calibri"/>
              </a:rPr>
              <a:t>Licita y adjudica (fuera del alcance)</a:t>
            </a:r>
          </a:p>
        </p:txBody>
      </p:sp>
      <p:sp>
        <p:nvSpPr>
          <p:cNvPr id="10" name="Proceso C"/>
          <p:cNvSpPr/>
          <p:nvPr/>
        </p:nvSpPr>
        <p:spPr>
          <a:xfrm>
            <a:off x="3108960" y="4791456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C · Administración de servicios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Asegura y controla la ejecución</a:t>
            </a:r>
          </a:p>
        </p:txBody>
      </p:sp>
      <p:sp>
        <p:nvSpPr>
          <p:cNvPr id="11" name="Proceso D"/>
          <p:cNvSpPr/>
          <p:nvPr/>
        </p:nvSpPr>
        <p:spPr>
          <a:xfrm>
            <a:off x="457200" y="4791456"/>
            <a:ext cx="2011680" cy="6766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1050" dirty="0" b="1">
                <a:solidFill>
                  <a:srgbClr val="FFFFFF"/>
                </a:solidFill>
                <a:latin typeface="Calibri"/>
                <a:cs typeface="Calibri"/>
              </a:rPr>
              <a:t>D · Evaluación del servicio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Identifica brechas y define planes</a:t>
            </a:r>
          </a:p>
        </p:txBody>
      </p:sp>
      <p:sp>
        <p:nvSpPr>
          <p:cNvPr id="12" name="Flecha"/>
          <p:cNvSpPr/>
          <p:nvPr/>
        </p:nvSpPr>
        <p:spPr>
          <a:xfrm>
            <a:off x="2578608" y="2843784"/>
            <a:ext cx="420624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Flecha"/>
          <p:cNvSpPr/>
          <p:nvPr/>
        </p:nvSpPr>
        <p:spPr>
          <a:xfrm>
            <a:off x="3995928" y="3346704"/>
            <a:ext cx="237744" cy="32918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Flecha"/>
          <p:cNvSpPr/>
          <p:nvPr/>
        </p:nvSpPr>
        <p:spPr>
          <a:xfrm>
            <a:off x="3995928" y="4389120"/>
            <a:ext cx="237744" cy="34747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Flecha"/>
          <p:cNvSpPr/>
          <p:nvPr/>
        </p:nvSpPr>
        <p:spPr>
          <a:xfrm>
            <a:off x="2578608" y="5020056"/>
            <a:ext cx="420624" cy="237744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" name="Flecha"/>
          <p:cNvSpPr/>
          <p:nvPr/>
        </p:nvSpPr>
        <p:spPr>
          <a:xfrm>
            <a:off x="731520" y="3346704"/>
            <a:ext cx="237744" cy="138988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Retro"/>
          <p:cNvSpPr txBox="1"/>
          <p:nvPr/>
        </p:nvSpPr>
        <p:spPr>
          <a:xfrm>
            <a:off x="1042416" y="3493008"/>
            <a:ext cx="1463040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4000"/>
              </a:lnSpc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Retroalimentación (D.2.2): </a:t>
            </a: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actualiza la criticidad (A.1) y los estándares (B.1).</a:t>
            </a:r>
          </a:p>
        </p:txBody>
      </p:sp>
      <p:sp>
        <p:nvSpPr>
          <p:cNvPr id="18" name="Interfaz"/>
          <p:cNvSpPr txBox="1"/>
          <p:nvPr/>
        </p:nvSpPr>
        <p:spPr>
          <a:xfrm>
            <a:off x="5138928" y="3712464"/>
            <a:ext cx="27432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800" dirty="0">
                <a:solidFill>
                  <a:srgbClr val="3A3A3A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Encabezado"/>
          <p:cNvSpPr txBox="1"/>
          <p:nvPr/>
        </p:nvSpPr>
        <p:spPr>
          <a:xfrm>
            <a:off x="5394960" y="2395728"/>
            <a:ext cx="33375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1F497D"/>
                </a:solidFill>
                <a:latin typeface="Calibri"/>
                <a:cs typeface="Calibri"/>
              </a:rPr>
              <a:t>Dónde quedó cada elemento del v1</a:t>
            </a:r>
          </a:p>
        </p:txBody>
      </p:sp>
      <p:graphicFrame>
        <p:nvGraphicFramePr>
          <p:cNvPr id="20" name="Tabla movimientos"/>
          <p:cNvGraphicFramePr>
            <a:graphicFrameLocks noGrp="1"/>
          </p:cNvGraphicFramePr>
          <p:nvPr/>
        </p:nvGraphicFramePr>
        <p:xfrm>
          <a:off x="5394960" y="2688336"/>
          <a:ext cx="3337560" cy="31821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5531"/>
                <a:gridCol w="1602029"/>
              </a:tblGrid>
              <a:tr h="2194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Manual v1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Manual v2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B.1 Levantamiento de necesidades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A.1.1 y tarea en B.1.1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A.1 Definición de estándares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Subproceso B.1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B.2 Asignación de presupuesto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B.3 Estimación presupuestaria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C.2 Desarrollo de proveedores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Actividad C.1.4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D.2 Implementación de sanciones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Actividad C.1.5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C.3 Control y auditoría QA QC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Actividad C.2.1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C.4 Gestión de sugerencias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Actividad C.2.2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D Término de contrato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C.2.3: renovar, modificar o terminar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Sin equivalente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8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C.1.3 Control de cumplimiento laboral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6. Ciclo de gestión del macroproceso MP21 v2. Fuente: elaboración propia sobre los manuales MP21 v1 y v2.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(7 de 10)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SIPOC del macroproceso MP21: qué recibe, qué entrega y con quién se articula.</a:t>
            </a:r>
          </a:p>
        </p:txBody>
      </p:sp>
      <p:pic>
        <p:nvPicPr>
          <p:cNvPr id="7" name="Captura SIPOC MP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32120" cy="2710739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395728"/>
            <a:ext cx="5532120" cy="2710739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489852" y="2423389"/>
            <a:ext cx="5320055" cy="175184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69151" y="2302688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499072" y="3557473"/>
            <a:ext cx="1742618" cy="290436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378371" y="374915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Senal 3"/>
          <p:cNvSpPr/>
          <p:nvPr/>
        </p:nvSpPr>
        <p:spPr>
          <a:xfrm>
            <a:off x="4131831" y="2856738"/>
            <a:ext cx="1576654" cy="21667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3"/>
          <p:cNvSpPr/>
          <p:nvPr/>
        </p:nvSpPr>
        <p:spPr>
          <a:xfrm>
            <a:off x="5609730" y="273603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5" name="Senal 4"/>
          <p:cNvSpPr/>
          <p:nvPr/>
        </p:nvSpPr>
        <p:spPr>
          <a:xfrm>
            <a:off x="4131831" y="3635845"/>
            <a:ext cx="1576654" cy="21206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Marca 4"/>
          <p:cNvSpPr/>
          <p:nvPr/>
        </p:nvSpPr>
        <p:spPr>
          <a:xfrm>
            <a:off x="5609730" y="374915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7" name="Senal 5"/>
          <p:cNvSpPr/>
          <p:nvPr/>
        </p:nvSpPr>
        <p:spPr>
          <a:xfrm>
            <a:off x="462191" y="4627016"/>
            <a:ext cx="5421478" cy="44257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Marca 5"/>
          <p:cNvSpPr/>
          <p:nvPr/>
        </p:nvSpPr>
        <p:spPr>
          <a:xfrm>
            <a:off x="341490" y="4970831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9" name="Alcance"/>
          <p:cNvSpPr txBox="1"/>
          <p:nvPr/>
        </p:nvSpPr>
        <p:spPr>
          <a:xfrm>
            <a:off x="411480" y="5197907"/>
            <a:ext cx="553212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4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Alcance: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cinco plantas del Negocio de Celulosa (Arauco, Constitución, Licancel, Nueva Aldea y Valdivia), extensible a Forestal.</a:t>
            </a:r>
          </a:p>
        </p:txBody>
      </p:sp>
      <p:sp>
        <p:nvSpPr>
          <p:cNvPr id="20" name="Encabezado"/>
          <p:cNvSpPr txBox="1"/>
          <p:nvPr/>
        </p:nvSpPr>
        <p:spPr>
          <a:xfrm>
            <a:off x="6199632" y="2395728"/>
            <a:ext cx="2532888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Qué muestra</a:t>
            </a:r>
          </a:p>
        </p:txBody>
      </p:sp>
      <p:sp>
        <p:nvSpPr>
          <p:cNvPr id="21" name="Ley marca 1"/>
          <p:cNvSpPr/>
          <p:nvPr/>
        </p:nvSpPr>
        <p:spPr>
          <a:xfrm>
            <a:off x="6199632" y="274320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2" name="Ley texto 1"/>
          <p:cNvSpPr txBox="1"/>
          <p:nvPr/>
        </p:nvSpPr>
        <p:spPr>
          <a:xfrm>
            <a:off x="6473952" y="2724912"/>
            <a:ext cx="2258568" cy="53035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Objetivo: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servicios de soporte no operacional, que no afectan la producción.</a:t>
            </a:r>
          </a:p>
        </p:txBody>
      </p:sp>
      <p:sp>
        <p:nvSpPr>
          <p:cNvPr id="23" name="Ley marca 2"/>
          <p:cNvSpPr/>
          <p:nvPr/>
        </p:nvSpPr>
        <p:spPr>
          <a:xfrm>
            <a:off x="6199632" y="331927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4" name="Ley texto 2"/>
          <p:cNvSpPr txBox="1"/>
          <p:nvPr/>
        </p:nvSpPr>
        <p:spPr>
          <a:xfrm>
            <a:off x="6473952" y="330098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Entrada desde MP19: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el contrato adjudicado.</a:t>
            </a:r>
          </a:p>
        </p:txBody>
      </p:sp>
      <p:sp>
        <p:nvSpPr>
          <p:cNvPr id="25" name="Ley marca 3"/>
          <p:cNvSpPr/>
          <p:nvPr/>
        </p:nvSpPr>
        <p:spPr>
          <a:xfrm>
            <a:off x="6199632" y="373075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6" name="Ley texto 3"/>
          <p:cNvSpPr txBox="1"/>
          <p:nvPr/>
        </p:nvSpPr>
        <p:spPr>
          <a:xfrm>
            <a:off x="6473952" y="371246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Salida hacia MP19: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bases técnicas y presupuesto.</a:t>
            </a:r>
          </a:p>
        </p:txBody>
      </p:sp>
      <p:sp>
        <p:nvSpPr>
          <p:cNvPr id="27" name="Ley marca 4"/>
          <p:cNvSpPr/>
          <p:nvPr/>
        </p:nvSpPr>
        <p:spPr>
          <a:xfrm>
            <a:off x="6199632" y="414223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8" name="Ley texto 4"/>
          <p:cNvSpPr txBox="1"/>
          <p:nvPr/>
        </p:nvSpPr>
        <p:spPr>
          <a:xfrm>
            <a:off x="6473952" y="412394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Estándares actualizados: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el ciclo se retroalimenta.</a:t>
            </a:r>
          </a:p>
        </p:txBody>
      </p:sp>
      <p:sp>
        <p:nvSpPr>
          <p:cNvPr id="29" name="Ley marca 5"/>
          <p:cNvSpPr/>
          <p:nvPr/>
        </p:nvSpPr>
        <p:spPr>
          <a:xfrm>
            <a:off x="6199632" y="45537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0" name="Ley texto 5"/>
          <p:cNvSpPr txBox="1"/>
          <p:nvPr/>
        </p:nvSpPr>
        <p:spPr>
          <a:xfrm>
            <a:off x="6473952" y="453542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Cinco macroprocesos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soporte y transversales.</a:t>
            </a:r>
          </a:p>
        </p:txBody>
      </p:sp>
      <p:sp>
        <p:nvSpPr>
          <p:cNvPr id="31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7. SIPOC del macroproceso Gestión de Servicios Generales (manual MP21 v2). En naranjo, contenido propuesto.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(8 de 10)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MP21: subproceso C.1 Aseguramiento del servicio.</a:t>
            </a:r>
          </a:p>
        </p:txBody>
      </p:sp>
      <p:pic>
        <p:nvPicPr>
          <p:cNvPr id="7" name="Captura flujogram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1955122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377440"/>
            <a:ext cx="4297680" cy="195512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2510097" y="2818688"/>
            <a:ext cx="365913" cy="29775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2399454" y="270804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3102014" y="2818688"/>
            <a:ext cx="373087" cy="29775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3384576" y="270804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Senal 3"/>
          <p:cNvSpPr/>
          <p:nvPr/>
        </p:nvSpPr>
        <p:spPr>
          <a:xfrm>
            <a:off x="2506509" y="3525401"/>
            <a:ext cx="968592" cy="33003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3"/>
          <p:cNvSpPr/>
          <p:nvPr/>
        </p:nvSpPr>
        <p:spPr>
          <a:xfrm>
            <a:off x="2395867" y="376491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5" name="Captura tarea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654142"/>
          </a:xfrm>
          <a:prstGeom prst="rect">
            <a:avLst/>
          </a:prstGeom>
        </p:spPr>
      </p:pic>
      <p:sp>
        <p:nvSpPr>
          <p:cNvPr id="16" name="Borde captura"/>
          <p:cNvSpPr/>
          <p:nvPr/>
        </p:nvSpPr>
        <p:spPr>
          <a:xfrm>
            <a:off x="4910328" y="2377440"/>
            <a:ext cx="3822192" cy="165414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Senal 4"/>
          <p:cNvSpPr/>
          <p:nvPr/>
        </p:nvSpPr>
        <p:spPr>
          <a:xfrm>
            <a:off x="6008807" y="2515553"/>
            <a:ext cx="1509605" cy="30834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Marca 4"/>
          <p:cNvSpPr/>
          <p:nvPr/>
        </p:nvSpPr>
        <p:spPr>
          <a:xfrm>
            <a:off x="7427886" y="240491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9" name="Senal 5"/>
          <p:cNvSpPr/>
          <p:nvPr/>
        </p:nvSpPr>
        <p:spPr>
          <a:xfrm>
            <a:off x="6008807" y="3453435"/>
            <a:ext cx="1509605" cy="8672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Marca 5"/>
          <p:cNvSpPr/>
          <p:nvPr/>
        </p:nvSpPr>
        <p:spPr>
          <a:xfrm>
            <a:off x="7427886" y="3342793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1" name="Ley marca 1"/>
          <p:cNvSpPr/>
          <p:nvPr/>
        </p:nvSpPr>
        <p:spPr>
          <a:xfrm>
            <a:off x="4910328" y="414131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2" name="Ley texto 1"/>
          <p:cNvSpPr txBox="1"/>
          <p:nvPr/>
        </p:nvSpPr>
        <p:spPr>
          <a:xfrm>
            <a:off x="5184648" y="4123022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Nueva actividad: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control de cumplimiento laboral.</a:t>
            </a:r>
          </a:p>
        </p:txBody>
      </p:sp>
      <p:sp>
        <p:nvSpPr>
          <p:cNvPr id="23" name="Ley marca 2"/>
          <p:cNvSpPr/>
          <p:nvPr/>
        </p:nvSpPr>
        <p:spPr>
          <a:xfrm>
            <a:off x="4910328" y="435619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4" name="Ley texto 2"/>
          <p:cNvSpPr txBox="1"/>
          <p:nvPr/>
        </p:nvSpPr>
        <p:spPr>
          <a:xfrm>
            <a:off x="5184648" y="4337906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Antes subproceso C.2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, hoy actividad C.1.4.</a:t>
            </a:r>
          </a:p>
        </p:txBody>
      </p:sp>
      <p:sp>
        <p:nvSpPr>
          <p:cNvPr id="25" name="Ley marca 3"/>
          <p:cNvSpPr/>
          <p:nvPr/>
        </p:nvSpPr>
        <p:spPr>
          <a:xfrm>
            <a:off x="4910328" y="457107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6" name="Ley texto 3"/>
          <p:cNvSpPr txBox="1"/>
          <p:nvPr/>
        </p:nvSpPr>
        <p:spPr>
          <a:xfrm>
            <a:off x="5184648" y="4552790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Sanción al incumplir,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antes subproceso de «término».</a:t>
            </a:r>
          </a:p>
        </p:txBody>
      </p:sp>
      <p:sp>
        <p:nvSpPr>
          <p:cNvPr id="27" name="Ley marca 4"/>
          <p:cNvSpPr/>
          <p:nvPr/>
        </p:nvSpPr>
        <p:spPr>
          <a:xfrm>
            <a:off x="4910328" y="478596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8" name="Ley texto 4"/>
          <p:cNvSpPr txBox="1"/>
          <p:nvPr/>
        </p:nvSpPr>
        <p:spPr>
          <a:xfrm>
            <a:off x="5184648" y="4767674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Naranjo: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tarea propuesta.</a:t>
            </a:r>
          </a:p>
        </p:txBody>
      </p:sp>
      <p:sp>
        <p:nvSpPr>
          <p:cNvPr id="29" name="Ley marca 5"/>
          <p:cNvSpPr/>
          <p:nvPr/>
        </p:nvSpPr>
        <p:spPr>
          <a:xfrm>
            <a:off x="4910328" y="500084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0" name="Ley texto 5"/>
          <p:cNvSpPr txBox="1"/>
          <p:nvPr/>
        </p:nvSpPr>
        <p:spPr>
          <a:xfrm>
            <a:off x="5184648" y="4982558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Normal: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tarea levantada.</a:t>
            </a:r>
          </a:p>
        </p:txBody>
      </p:sp>
      <p:sp>
        <p:nvSpPr>
          <p:cNvPr id="31" name="Mensaje fondo"/>
          <p:cNvSpPr/>
          <p:nvPr/>
        </p:nvSpPr>
        <p:spPr>
          <a:xfrm>
            <a:off x="411480" y="4533730"/>
            <a:ext cx="4297680" cy="86868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2" name="Mensaje barra"/>
          <p:cNvSpPr/>
          <p:nvPr/>
        </p:nvSpPr>
        <p:spPr>
          <a:xfrm>
            <a:off x="411480" y="4533730"/>
            <a:ext cx="54864" cy="86868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Mensaje"/>
          <p:cNvSpPr txBox="1"/>
          <p:nvPr/>
        </p:nvSpPr>
        <p:spPr>
          <a:xfrm>
            <a:off x="539496" y="4533730"/>
            <a:ext cx="4114800" cy="8686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Lo distintivo de MP21: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el cumplimiento laboral del contratista se controla durante la ejecución (C.1.3) y la sanción se aplica cuando ocurre el incumplimiento (C.1.5).</a:t>
            </a:r>
          </a:p>
        </p:txBody>
      </p:sp>
      <p:sp>
        <p:nvSpPr>
          <p:cNvPr id="34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8. Flujograma y tabla de actividades y tareas del subproceso C.1 (manual MP21 v2).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(9 de 10)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14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MP21: subproceso C.2 Control y mejora del servicio.</a:t>
            </a:r>
          </a:p>
        </p:txBody>
      </p:sp>
      <p:pic>
        <p:nvPicPr>
          <p:cNvPr id="7" name="Captura flujogram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1955122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377440"/>
            <a:ext cx="4297680" cy="195512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1161242" y="3152314"/>
            <a:ext cx="373087" cy="30134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1050600" y="3041671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3797966" y="2553222"/>
            <a:ext cx="904019" cy="15067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4611460" y="2442579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Senal 3"/>
          <p:cNvSpPr/>
          <p:nvPr/>
        </p:nvSpPr>
        <p:spPr>
          <a:xfrm>
            <a:off x="2154946" y="3152314"/>
            <a:ext cx="1399078" cy="627791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3"/>
          <p:cNvSpPr/>
          <p:nvPr/>
        </p:nvSpPr>
        <p:spPr>
          <a:xfrm>
            <a:off x="3463498" y="368958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5" name="Captura tarea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172353"/>
          </a:xfrm>
          <a:prstGeom prst="rect">
            <a:avLst/>
          </a:prstGeom>
        </p:spPr>
      </p:pic>
      <p:sp>
        <p:nvSpPr>
          <p:cNvPr id="16" name="Borde captura"/>
          <p:cNvSpPr/>
          <p:nvPr/>
        </p:nvSpPr>
        <p:spPr>
          <a:xfrm>
            <a:off x="4910328" y="2377440"/>
            <a:ext cx="3822192" cy="1172353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Senal 4"/>
          <p:cNvSpPr/>
          <p:nvPr/>
        </p:nvSpPr>
        <p:spPr>
          <a:xfrm>
            <a:off x="7521624" y="2512341"/>
            <a:ext cx="1191625" cy="31155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Marca 4"/>
          <p:cNvSpPr/>
          <p:nvPr/>
        </p:nvSpPr>
        <p:spPr>
          <a:xfrm>
            <a:off x="8622723" y="2401698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9" name="Senal 5"/>
          <p:cNvSpPr/>
          <p:nvPr/>
        </p:nvSpPr>
        <p:spPr>
          <a:xfrm>
            <a:off x="6008807" y="3305687"/>
            <a:ext cx="2704442" cy="11241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Marca 5"/>
          <p:cNvSpPr/>
          <p:nvPr/>
        </p:nvSpPr>
        <p:spPr>
          <a:xfrm>
            <a:off x="5898164" y="3327578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1" name="Ley marca 1"/>
          <p:cNvSpPr/>
          <p:nvPr/>
        </p:nvSpPr>
        <p:spPr>
          <a:xfrm>
            <a:off x="4910328" y="3659521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2" name="Ley texto 1"/>
          <p:cNvSpPr txBox="1"/>
          <p:nvPr/>
        </p:nvSpPr>
        <p:spPr>
          <a:xfrm>
            <a:off x="5184648" y="3641233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Auditoría QA/QC: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antes subproceso C.3.</a:t>
            </a:r>
          </a:p>
        </p:txBody>
      </p:sp>
      <p:sp>
        <p:nvSpPr>
          <p:cNvPr id="23" name="Ley marca 2"/>
          <p:cNvSpPr/>
          <p:nvPr/>
        </p:nvSpPr>
        <p:spPr>
          <a:xfrm>
            <a:off x="4910328" y="3874405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4" name="Ley texto 2"/>
          <p:cNvSpPr txBox="1"/>
          <p:nvPr/>
        </p:nvSpPr>
        <p:spPr>
          <a:xfrm>
            <a:off x="5184648" y="3856117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Gris: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quién audita, por confirmar.</a:t>
            </a:r>
          </a:p>
        </p:txBody>
      </p:sp>
      <p:sp>
        <p:nvSpPr>
          <p:cNvPr id="25" name="Ley marca 3"/>
          <p:cNvSpPr/>
          <p:nvPr/>
        </p:nvSpPr>
        <p:spPr>
          <a:xfrm>
            <a:off x="4910328" y="4089289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6" name="Ley texto 3"/>
          <p:cNvSpPr txBox="1"/>
          <p:nvPr/>
        </p:nvSpPr>
        <p:spPr>
          <a:xfrm>
            <a:off x="5184648" y="4071001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Término como decisión: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renovar o terminar.</a:t>
            </a:r>
          </a:p>
        </p:txBody>
      </p:sp>
      <p:sp>
        <p:nvSpPr>
          <p:cNvPr id="27" name="Ley marca 4"/>
          <p:cNvSpPr/>
          <p:nvPr/>
        </p:nvSpPr>
        <p:spPr>
          <a:xfrm>
            <a:off x="4910328" y="4304173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8" name="Ley texto 4"/>
          <p:cNvSpPr txBox="1"/>
          <p:nvPr/>
        </p:nvSpPr>
        <p:spPr>
          <a:xfrm>
            <a:off x="5184648" y="4285885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Tres responsables pendientes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 (C.2.1).</a:t>
            </a:r>
          </a:p>
        </p:txBody>
      </p:sp>
      <p:sp>
        <p:nvSpPr>
          <p:cNvPr id="29" name="Ley marca 5"/>
          <p:cNvSpPr/>
          <p:nvPr/>
        </p:nvSpPr>
        <p:spPr>
          <a:xfrm>
            <a:off x="4910328" y="4519057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0" name="Ley texto 5"/>
          <p:cNvSpPr txBox="1"/>
          <p:nvPr/>
        </p:nvSpPr>
        <p:spPr>
          <a:xfrm>
            <a:off x="5184648" y="4500769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Decide la Subgerencia;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ejecuta Compras.</a:t>
            </a:r>
          </a:p>
        </p:txBody>
      </p:sp>
      <p:sp>
        <p:nvSpPr>
          <p:cNvPr id="31" name="Mensaje fondo"/>
          <p:cNvSpPr/>
          <p:nvPr/>
        </p:nvSpPr>
        <p:spPr>
          <a:xfrm>
            <a:off x="411480" y="4533730"/>
            <a:ext cx="4297680" cy="86868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2" name="Mensaje barra"/>
          <p:cNvSpPr/>
          <p:nvPr/>
        </p:nvSpPr>
        <p:spPr>
          <a:xfrm>
            <a:off x="411480" y="4533730"/>
            <a:ext cx="54864" cy="86868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Mensaje"/>
          <p:cNvSpPr txBox="1"/>
          <p:nvPr/>
        </p:nvSpPr>
        <p:spPr>
          <a:xfrm>
            <a:off x="539496" y="4533730"/>
            <a:ext cx="4114800" cy="8686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El término de contrato deja de ser un proceso: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es una de las salidas de C.2.3 (renovar, modificar o terminar), que se ejecuta a través de Gestión de compras y contratos.</a:t>
            </a:r>
          </a:p>
        </p:txBody>
      </p:sp>
      <p:sp>
        <p:nvSpPr>
          <p:cNvPr id="34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9. Flujograma y tabla de actividades y tareas del subproceso C.2 (manual MP21 v2).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(10 de 10)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Estado del contenido: MP8 está levantado; MP21 está estructurado y por validar.</a:t>
            </a:r>
          </a:p>
        </p:txBody>
      </p:sp>
      <p:sp>
        <p:nvSpPr>
          <p:cNvPr id="7" name="Encabezado"/>
          <p:cNvSpPr txBox="1"/>
          <p:nvPr/>
        </p:nvSpPr>
        <p:spPr>
          <a:xfrm>
            <a:off x="411480" y="2395728"/>
            <a:ext cx="39319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Tareas de MP21 por proceso</a:t>
            </a:r>
          </a:p>
        </p:txBody>
      </p:sp>
      <p:sp>
        <p:nvSpPr>
          <p:cNvPr id="8" name="Barra rotulo A"/>
          <p:cNvSpPr txBox="1"/>
          <p:nvPr/>
        </p:nvSpPr>
        <p:spPr>
          <a:xfrm>
            <a:off x="411480" y="274320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A Gestión estratégica</a:t>
            </a:r>
          </a:p>
        </p:txBody>
      </p:sp>
      <p:sp>
        <p:nvSpPr>
          <p:cNvPr id="9" name="Barra lev A"/>
          <p:cNvSpPr/>
          <p:nvPr/>
        </p:nvSpPr>
        <p:spPr>
          <a:xfrm>
            <a:off x="1984248" y="2798064"/>
            <a:ext cx="261851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" name="Barra prop A"/>
          <p:cNvSpPr/>
          <p:nvPr/>
        </p:nvSpPr>
        <p:spPr>
          <a:xfrm>
            <a:off x="2246099" y="2798064"/>
            <a:ext cx="436418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Barra valor A"/>
          <p:cNvSpPr txBox="1"/>
          <p:nvPr/>
        </p:nvSpPr>
        <p:spPr>
          <a:xfrm>
            <a:off x="2728237" y="274320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12" name="Barra rotulo B"/>
          <p:cNvSpPr txBox="1"/>
          <p:nvPr/>
        </p:nvSpPr>
        <p:spPr>
          <a:xfrm>
            <a:off x="411480" y="310896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B Planificación</a:t>
            </a:r>
          </a:p>
        </p:txBody>
      </p:sp>
      <p:sp>
        <p:nvSpPr>
          <p:cNvPr id="13" name="Barra lev B"/>
          <p:cNvSpPr/>
          <p:nvPr/>
        </p:nvSpPr>
        <p:spPr>
          <a:xfrm>
            <a:off x="1984248" y="3163824"/>
            <a:ext cx="698269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Barra prop B"/>
          <p:cNvSpPr/>
          <p:nvPr/>
        </p:nvSpPr>
        <p:spPr>
          <a:xfrm>
            <a:off x="2682517" y="3163824"/>
            <a:ext cx="960120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Barra valor B"/>
          <p:cNvSpPr txBox="1"/>
          <p:nvPr/>
        </p:nvSpPr>
        <p:spPr>
          <a:xfrm>
            <a:off x="3688357" y="310896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19</a:t>
            </a:r>
          </a:p>
        </p:txBody>
      </p:sp>
      <p:sp>
        <p:nvSpPr>
          <p:cNvPr id="16" name="Barra rotulo C"/>
          <p:cNvSpPr txBox="1"/>
          <p:nvPr/>
        </p:nvSpPr>
        <p:spPr>
          <a:xfrm>
            <a:off x="411480" y="347472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C Administración</a:t>
            </a:r>
          </a:p>
        </p:txBody>
      </p:sp>
      <p:sp>
        <p:nvSpPr>
          <p:cNvPr id="17" name="Barra lev C"/>
          <p:cNvSpPr/>
          <p:nvPr/>
        </p:nvSpPr>
        <p:spPr>
          <a:xfrm>
            <a:off x="1984248" y="3529584"/>
            <a:ext cx="174567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" name="Barra prop C"/>
          <p:cNvSpPr/>
          <p:nvPr/>
        </p:nvSpPr>
        <p:spPr>
          <a:xfrm>
            <a:off x="2158815" y="3529584"/>
            <a:ext cx="1745673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Barra valor C"/>
          <p:cNvSpPr txBox="1"/>
          <p:nvPr/>
        </p:nvSpPr>
        <p:spPr>
          <a:xfrm>
            <a:off x="3950208" y="347472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20" name="Barra rotulo D"/>
          <p:cNvSpPr txBox="1"/>
          <p:nvPr/>
        </p:nvSpPr>
        <p:spPr>
          <a:xfrm>
            <a:off x="411480" y="3840480"/>
            <a:ext cx="1536192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D Evaluación</a:t>
            </a:r>
          </a:p>
        </p:txBody>
      </p:sp>
      <p:sp>
        <p:nvSpPr>
          <p:cNvPr id="21" name="Barra prop D"/>
          <p:cNvSpPr/>
          <p:nvPr/>
        </p:nvSpPr>
        <p:spPr>
          <a:xfrm>
            <a:off x="1984248" y="3895344"/>
            <a:ext cx="610985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" name="Barra valor D"/>
          <p:cNvSpPr txBox="1"/>
          <p:nvPr/>
        </p:nvSpPr>
        <p:spPr>
          <a:xfrm>
            <a:off x="2640953" y="3840480"/>
            <a:ext cx="4114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3" name="Ley lev"/>
          <p:cNvSpPr/>
          <p:nvPr/>
        </p:nvSpPr>
        <p:spPr>
          <a:xfrm>
            <a:off x="1984248" y="4297680"/>
            <a:ext cx="182880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4" name="Ley lev t"/>
          <p:cNvSpPr txBox="1"/>
          <p:nvPr/>
        </p:nvSpPr>
        <p:spPr>
          <a:xfrm>
            <a:off x="2212848" y="4233672"/>
            <a:ext cx="86868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Levantadas</a:t>
            </a:r>
          </a:p>
        </p:txBody>
      </p:sp>
      <p:sp>
        <p:nvSpPr>
          <p:cNvPr id="25" name="Ley prop"/>
          <p:cNvSpPr/>
          <p:nvPr/>
        </p:nvSpPr>
        <p:spPr>
          <a:xfrm>
            <a:off x="3035808" y="4297680"/>
            <a:ext cx="182880" cy="128016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6" name="Ley prop t"/>
          <p:cNvSpPr txBox="1"/>
          <p:nvPr/>
        </p:nvSpPr>
        <p:spPr>
          <a:xfrm>
            <a:off x="3264408" y="4233672"/>
            <a:ext cx="91440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Propuestas</a:t>
            </a:r>
          </a:p>
        </p:txBody>
      </p:sp>
      <p:sp>
        <p:nvSpPr>
          <p:cNvPr id="27" name="Encabezado"/>
          <p:cNvSpPr txBox="1"/>
          <p:nvPr/>
        </p:nvSpPr>
        <p:spPr>
          <a:xfrm>
            <a:off x="4617720" y="2395728"/>
            <a:ext cx="41148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MP8 frente a MP21</a:t>
            </a:r>
          </a:p>
        </p:txBody>
      </p:sp>
      <p:graphicFrame>
        <p:nvGraphicFramePr>
          <p:cNvPr id="28" name="Tabla comparativa"/>
          <p:cNvGraphicFramePr>
            <a:graphicFrameLocks noGrp="1"/>
          </p:cNvGraphicFramePr>
          <p:nvPr/>
        </p:nvGraphicFramePr>
        <p:xfrm>
          <a:off x="4617720" y="2724912"/>
          <a:ext cx="4114800" cy="16276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1234440"/>
                <a:gridCol w="1234440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Indicador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9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9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192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Tareas levantadas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171 (89,1 %)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13 (23,2 %)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Tareas propuestas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21 (10,9 %)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43 (76,8 %)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Actividades levantadas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37 de 59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11 de 24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 responsable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83 (43,2 %)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53 (94,6 %)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Mensaje fondo"/>
          <p:cNvSpPr/>
          <p:nvPr/>
        </p:nvSpPr>
        <p:spPr>
          <a:xfrm>
            <a:off x="411480" y="4590288"/>
            <a:ext cx="4069080" cy="71323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" name="Mensaje barra"/>
          <p:cNvSpPr/>
          <p:nvPr/>
        </p:nvSpPr>
        <p:spPr>
          <a:xfrm>
            <a:off x="411480" y="4590288"/>
            <a:ext cx="54864" cy="71323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1" name="Mensaje"/>
          <p:cNvSpPr txBox="1"/>
          <p:nvPr/>
        </p:nvSpPr>
        <p:spPr>
          <a:xfrm>
            <a:off x="539496" y="4590288"/>
            <a:ext cx="388620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MP8: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el contenido está levantado en terreno; falta identificar 109 responsables.</a:t>
            </a:r>
          </a:p>
        </p:txBody>
      </p:sp>
      <p:sp>
        <p:nvSpPr>
          <p:cNvPr id="32" name="Mensaje fondo"/>
          <p:cNvSpPr/>
          <p:nvPr/>
        </p:nvSpPr>
        <p:spPr>
          <a:xfrm>
            <a:off x="4663440" y="4590288"/>
            <a:ext cx="4069080" cy="71323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Mensaje barra"/>
          <p:cNvSpPr/>
          <p:nvPr/>
        </p:nvSpPr>
        <p:spPr>
          <a:xfrm>
            <a:off x="4663440" y="4590288"/>
            <a:ext cx="54864" cy="71323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Mensaje"/>
          <p:cNvSpPr txBox="1"/>
          <p:nvPr/>
        </p:nvSpPr>
        <p:spPr>
          <a:xfrm>
            <a:off x="4791456" y="4590288"/>
            <a:ext cx="388620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MP21: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estructura y responsables definidos; falta validar 43 tareas propuestas con el dueño.</a:t>
            </a:r>
          </a:p>
        </p:txBody>
      </p:sp>
      <p:sp>
        <p:nvSpPr>
          <p:cNvPr id="35" name="CAP"/>
          <p:cNvSpPr txBox="1"/>
          <p:nvPr/>
        </p:nvSpPr>
        <p:spPr>
          <a:xfrm>
            <a:off x="411480" y="541324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4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CAP: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los 4 procesos de MP21 están documentados en los cinco niveles; el indicador se declara al cierre de la validación formal (A1.6), como establece la sección 2.3.1.</a:t>
            </a:r>
          </a:p>
        </p:txBody>
      </p:sp>
      <p:sp>
        <p:nvSpPr>
          <p:cNvPr id="36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a partir de los manuales MP8 v1 y MP21 v2. Levantado: texto normal; propuesto: texto naranjo.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OE2 (1 de 2)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6" name="Estado"/>
          <p:cNvSpPr txBox="1"/>
          <p:nvPr/>
        </p:nvSpPr>
        <p:spPr>
          <a:xfrm>
            <a:off x="411480" y="202996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Actividades realizadas.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OE2 se inicia en la semana 12 según el plan; a la fecha no se han realizado talleres. El resultado de este periodo es el universo de </a:t>
            </a: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248 tareas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 que se evaluará, definido por OE1.</a:t>
            </a:r>
          </a:p>
        </p:txBody>
      </p:sp>
      <p:sp>
        <p:nvSpPr>
          <p:cNvPr id="7" name="Encabezado"/>
          <p:cNvSpPr txBox="1"/>
          <p:nvPr/>
        </p:nvSpPr>
        <p:spPr>
          <a:xfrm>
            <a:off x="411480" y="2633472"/>
            <a:ext cx="51206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Tareas por proceso (universo de OE2)</a:t>
            </a:r>
          </a:p>
        </p:txBody>
      </p:sp>
      <p:sp>
        <p:nvSpPr>
          <p:cNvPr id="8" name="Rot MP8 A"/>
          <p:cNvSpPr txBox="1"/>
          <p:nvPr/>
        </p:nvSpPr>
        <p:spPr>
          <a:xfrm>
            <a:off x="914400" y="292608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 Necesidad y dotación</a:t>
            </a:r>
          </a:p>
        </p:txBody>
      </p:sp>
      <p:sp>
        <p:nvSpPr>
          <p:cNvPr id="9" name="Prop MP8 A"/>
          <p:cNvSpPr/>
          <p:nvPr/>
        </p:nvSpPr>
        <p:spPr>
          <a:xfrm>
            <a:off x="2862072" y="2980944"/>
            <a:ext cx="306218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" name="Val MP8 A"/>
          <p:cNvSpPr txBox="1"/>
          <p:nvPr/>
        </p:nvSpPr>
        <p:spPr>
          <a:xfrm>
            <a:off x="3214010" y="292608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11" name="Rot MP8 B"/>
          <p:cNvSpPr txBox="1"/>
          <p:nvPr/>
        </p:nvSpPr>
        <p:spPr>
          <a:xfrm>
            <a:off x="914400" y="320040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B Valoración de cargo</a:t>
            </a:r>
          </a:p>
        </p:txBody>
      </p:sp>
      <p:sp>
        <p:nvSpPr>
          <p:cNvPr id="12" name="Lev MP8 B"/>
          <p:cNvSpPr/>
          <p:nvPr/>
        </p:nvSpPr>
        <p:spPr>
          <a:xfrm>
            <a:off x="2862072" y="3255264"/>
            <a:ext cx="127591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Prop MP8 B"/>
          <p:cNvSpPr/>
          <p:nvPr/>
        </p:nvSpPr>
        <p:spPr>
          <a:xfrm>
            <a:off x="2989663" y="3255264"/>
            <a:ext cx="204145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Val MP8 B"/>
          <p:cNvSpPr txBox="1"/>
          <p:nvPr/>
        </p:nvSpPr>
        <p:spPr>
          <a:xfrm>
            <a:off x="3239528" y="320040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15" name="Rot MP8 C"/>
          <p:cNvSpPr txBox="1"/>
          <p:nvPr/>
        </p:nvSpPr>
        <p:spPr>
          <a:xfrm>
            <a:off x="914400" y="347472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 Atracción y selección</a:t>
            </a:r>
          </a:p>
        </p:txBody>
      </p:sp>
      <p:sp>
        <p:nvSpPr>
          <p:cNvPr id="16" name="Lev MP8 C"/>
          <p:cNvSpPr/>
          <p:nvPr/>
        </p:nvSpPr>
        <p:spPr>
          <a:xfrm>
            <a:off x="2862072" y="3529584"/>
            <a:ext cx="2194560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Val MP8 C"/>
          <p:cNvSpPr txBox="1"/>
          <p:nvPr/>
        </p:nvSpPr>
        <p:spPr>
          <a:xfrm>
            <a:off x="5102352" y="347472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86</a:t>
            </a:r>
          </a:p>
        </p:txBody>
      </p:sp>
      <p:sp>
        <p:nvSpPr>
          <p:cNvPr id="18" name="Rot MP8 D"/>
          <p:cNvSpPr txBox="1"/>
          <p:nvPr/>
        </p:nvSpPr>
        <p:spPr>
          <a:xfrm>
            <a:off x="914400" y="374904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 Desarrollo organizacional</a:t>
            </a:r>
          </a:p>
        </p:txBody>
      </p:sp>
      <p:sp>
        <p:nvSpPr>
          <p:cNvPr id="19" name="Lev MP8 D"/>
          <p:cNvSpPr/>
          <p:nvPr/>
        </p:nvSpPr>
        <p:spPr>
          <a:xfrm>
            <a:off x="2862072" y="3803904"/>
            <a:ext cx="1480052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Prop MP8 D"/>
          <p:cNvSpPr/>
          <p:nvPr/>
        </p:nvSpPr>
        <p:spPr>
          <a:xfrm>
            <a:off x="4342124" y="3803904"/>
            <a:ext cx="25518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" name="Val MP8 D"/>
          <p:cNvSpPr txBox="1"/>
          <p:nvPr/>
        </p:nvSpPr>
        <p:spPr>
          <a:xfrm>
            <a:off x="4413362" y="374904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59</a:t>
            </a:r>
          </a:p>
        </p:txBody>
      </p:sp>
      <p:sp>
        <p:nvSpPr>
          <p:cNvPr id="22" name="Rot MP8 E"/>
          <p:cNvSpPr txBox="1"/>
          <p:nvPr/>
        </p:nvSpPr>
        <p:spPr>
          <a:xfrm>
            <a:off x="914400" y="402336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E Compensaciones</a:t>
            </a:r>
          </a:p>
        </p:txBody>
      </p:sp>
      <p:sp>
        <p:nvSpPr>
          <p:cNvPr id="23" name="Lev MP8 E"/>
          <p:cNvSpPr/>
          <p:nvPr/>
        </p:nvSpPr>
        <p:spPr>
          <a:xfrm>
            <a:off x="2862072" y="4078224"/>
            <a:ext cx="561399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4" name="Val MP8 E"/>
          <p:cNvSpPr txBox="1"/>
          <p:nvPr/>
        </p:nvSpPr>
        <p:spPr>
          <a:xfrm>
            <a:off x="3469191" y="402336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25" name="Grupo MP8"/>
          <p:cNvSpPr txBox="1"/>
          <p:nvPr/>
        </p:nvSpPr>
        <p:spPr>
          <a:xfrm>
            <a:off x="411480" y="2926080"/>
            <a:ext cx="475488" cy="13716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4F81BD"/>
                </a:solidFill>
                <a:latin typeface="Calibri"/>
                <a:cs typeface="Calibri"/>
              </a:rPr>
              <a:t>MP8</a:t>
            </a:r>
          </a:p>
        </p:txBody>
      </p:sp>
      <p:sp>
        <p:nvSpPr>
          <p:cNvPr id="26" name="Llave MP8"/>
          <p:cNvSpPr/>
          <p:nvPr/>
        </p:nvSpPr>
        <p:spPr>
          <a:xfrm>
            <a:off x="868680" y="2962656"/>
            <a:ext cx="18288" cy="1298448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7" name="Rot MP21 A"/>
          <p:cNvSpPr txBox="1"/>
          <p:nvPr/>
        </p:nvSpPr>
        <p:spPr>
          <a:xfrm>
            <a:off x="914400" y="437083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 Gestión estratégica</a:t>
            </a:r>
          </a:p>
        </p:txBody>
      </p:sp>
      <p:sp>
        <p:nvSpPr>
          <p:cNvPr id="28" name="Lev MP21 A"/>
          <p:cNvSpPr/>
          <p:nvPr/>
        </p:nvSpPr>
        <p:spPr>
          <a:xfrm>
            <a:off x="2862072" y="4425696"/>
            <a:ext cx="76554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9" name="Prop MP21 A"/>
          <p:cNvSpPr/>
          <p:nvPr/>
        </p:nvSpPr>
        <p:spPr>
          <a:xfrm>
            <a:off x="2938626" y="4425696"/>
            <a:ext cx="127591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" name="Val MP21 A"/>
          <p:cNvSpPr txBox="1"/>
          <p:nvPr/>
        </p:nvSpPr>
        <p:spPr>
          <a:xfrm>
            <a:off x="3111937" y="437083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31" name="Rot MP21 B"/>
          <p:cNvSpPr txBox="1"/>
          <p:nvPr/>
        </p:nvSpPr>
        <p:spPr>
          <a:xfrm>
            <a:off x="914400" y="464515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B Planificación</a:t>
            </a:r>
          </a:p>
        </p:txBody>
      </p:sp>
      <p:sp>
        <p:nvSpPr>
          <p:cNvPr id="32" name="Lev MP21 B"/>
          <p:cNvSpPr/>
          <p:nvPr/>
        </p:nvSpPr>
        <p:spPr>
          <a:xfrm>
            <a:off x="2862072" y="4700016"/>
            <a:ext cx="204145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Prop MP21 B"/>
          <p:cNvSpPr/>
          <p:nvPr/>
        </p:nvSpPr>
        <p:spPr>
          <a:xfrm>
            <a:off x="3066217" y="4700016"/>
            <a:ext cx="280700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Val MP21 B"/>
          <p:cNvSpPr txBox="1"/>
          <p:nvPr/>
        </p:nvSpPr>
        <p:spPr>
          <a:xfrm>
            <a:off x="3392637" y="464515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19</a:t>
            </a:r>
          </a:p>
        </p:txBody>
      </p:sp>
      <p:sp>
        <p:nvSpPr>
          <p:cNvPr id="35" name="Rot MP21 C"/>
          <p:cNvSpPr txBox="1"/>
          <p:nvPr/>
        </p:nvSpPr>
        <p:spPr>
          <a:xfrm>
            <a:off x="914400" y="491947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 Administración de servicios</a:t>
            </a:r>
          </a:p>
        </p:txBody>
      </p:sp>
      <p:sp>
        <p:nvSpPr>
          <p:cNvPr id="36" name="Lev MP21 C"/>
          <p:cNvSpPr/>
          <p:nvPr/>
        </p:nvSpPr>
        <p:spPr>
          <a:xfrm>
            <a:off x="2862072" y="4974336"/>
            <a:ext cx="51036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7" name="Prop MP21 C"/>
          <p:cNvSpPr/>
          <p:nvPr/>
        </p:nvSpPr>
        <p:spPr>
          <a:xfrm>
            <a:off x="2913108" y="4974336"/>
            <a:ext cx="510363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8" name="Val MP21 C"/>
          <p:cNvSpPr txBox="1"/>
          <p:nvPr/>
        </p:nvSpPr>
        <p:spPr>
          <a:xfrm>
            <a:off x="3469191" y="491947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39" name="Rot MP21 D"/>
          <p:cNvSpPr txBox="1"/>
          <p:nvPr/>
        </p:nvSpPr>
        <p:spPr>
          <a:xfrm>
            <a:off x="914400" y="519379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 Evaluación del servicio</a:t>
            </a:r>
          </a:p>
        </p:txBody>
      </p:sp>
      <p:sp>
        <p:nvSpPr>
          <p:cNvPr id="40" name="Prop MP21 D"/>
          <p:cNvSpPr/>
          <p:nvPr/>
        </p:nvSpPr>
        <p:spPr>
          <a:xfrm>
            <a:off x="2862072" y="5248656"/>
            <a:ext cx="178627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1" name="Val MP21 D"/>
          <p:cNvSpPr txBox="1"/>
          <p:nvPr/>
        </p:nvSpPr>
        <p:spPr>
          <a:xfrm>
            <a:off x="3086419" y="519379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42" name="Grupo MP21"/>
          <p:cNvSpPr txBox="1"/>
          <p:nvPr/>
        </p:nvSpPr>
        <p:spPr>
          <a:xfrm>
            <a:off x="411480" y="4370832"/>
            <a:ext cx="475488" cy="10972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4F81BD"/>
                </a:solidFill>
                <a:latin typeface="Calibri"/>
                <a:cs typeface="Calibri"/>
              </a:rPr>
              <a:t>MP21</a:t>
            </a:r>
          </a:p>
        </p:txBody>
      </p:sp>
      <p:sp>
        <p:nvSpPr>
          <p:cNvPr id="43" name="Llave MP21"/>
          <p:cNvSpPr/>
          <p:nvPr/>
        </p:nvSpPr>
        <p:spPr>
          <a:xfrm>
            <a:off x="868680" y="4407408"/>
            <a:ext cx="18288" cy="1024128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4" name="Ley lev"/>
          <p:cNvSpPr/>
          <p:nvPr/>
        </p:nvSpPr>
        <p:spPr>
          <a:xfrm>
            <a:off x="2862072" y="5596128"/>
            <a:ext cx="182880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5" name="Ley lev t"/>
          <p:cNvSpPr txBox="1"/>
          <p:nvPr/>
        </p:nvSpPr>
        <p:spPr>
          <a:xfrm>
            <a:off x="3090672" y="5541264"/>
            <a:ext cx="86868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Levantadas</a:t>
            </a:r>
          </a:p>
        </p:txBody>
      </p:sp>
      <p:sp>
        <p:nvSpPr>
          <p:cNvPr id="46" name="Ley prop"/>
          <p:cNvSpPr/>
          <p:nvPr/>
        </p:nvSpPr>
        <p:spPr>
          <a:xfrm>
            <a:off x="3913632" y="5596128"/>
            <a:ext cx="182880" cy="128016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7" name="Ley prop t"/>
          <p:cNvSpPr txBox="1"/>
          <p:nvPr/>
        </p:nvSpPr>
        <p:spPr>
          <a:xfrm>
            <a:off x="4142232" y="5541264"/>
            <a:ext cx="14630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Propuestas por validar</a:t>
            </a:r>
          </a:p>
        </p:txBody>
      </p:sp>
      <p:sp>
        <p:nvSpPr>
          <p:cNvPr id="48" name="Regla vertical"/>
          <p:cNvSpPr/>
          <p:nvPr/>
        </p:nvSpPr>
        <p:spPr>
          <a:xfrm>
            <a:off x="5650992" y="2688336"/>
            <a:ext cx="12802" cy="320040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9" name="Encabezado"/>
          <p:cNvSpPr txBox="1"/>
          <p:nvPr/>
        </p:nvSpPr>
        <p:spPr>
          <a:xfrm>
            <a:off x="5852160" y="2633472"/>
            <a:ext cx="28803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Condiciones para iniciar</a:t>
            </a:r>
          </a:p>
        </p:txBody>
      </p:sp>
      <p:sp>
        <p:nvSpPr>
          <p:cNvPr id="50" name="Cond num 1"/>
          <p:cNvSpPr txBox="1"/>
          <p:nvPr/>
        </p:nvSpPr>
        <p:spPr>
          <a:xfrm>
            <a:off x="5852160" y="2962656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1" name="Cond 1"/>
          <p:cNvSpPr txBox="1"/>
          <p:nvPr/>
        </p:nvSpPr>
        <p:spPr>
          <a:xfrm>
            <a:off x="6126480" y="2962656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Validar 64 tareas propuestas (21 de MP8 y 43 de MP21).</a:t>
            </a:r>
          </a:p>
        </p:txBody>
      </p:sp>
      <p:sp>
        <p:nvSpPr>
          <p:cNvPr id="52" name="Cond num 2"/>
          <p:cNvSpPr txBox="1"/>
          <p:nvPr/>
        </p:nvSpPr>
        <p:spPr>
          <a:xfrm>
            <a:off x="5852160" y="3639312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53" name="Cond 2"/>
          <p:cNvSpPr txBox="1"/>
          <p:nvPr/>
        </p:nvSpPr>
        <p:spPr>
          <a:xfrm>
            <a:off x="6126480" y="3639312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Identificar 112 responsables pendientes (109 y 3).</a:t>
            </a:r>
          </a:p>
        </p:txBody>
      </p:sp>
      <p:sp>
        <p:nvSpPr>
          <p:cNvPr id="54" name="Cond num 3"/>
          <p:cNvSpPr txBox="1"/>
          <p:nvPr/>
        </p:nvSpPr>
        <p:spPr>
          <a:xfrm>
            <a:off x="5852160" y="4315968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55" name="Cond 3"/>
          <p:cNvSpPr txBox="1"/>
          <p:nvPr/>
        </p:nvSpPr>
        <p:spPr>
          <a:xfrm>
            <a:off x="6126480" y="4315968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Incorporar F15 a F18 al manual MP8.</a:t>
            </a:r>
          </a:p>
        </p:txBody>
      </p:sp>
      <p:sp>
        <p:nvSpPr>
          <p:cNvPr id="56" name="Cond num 4"/>
          <p:cNvSpPr txBox="1"/>
          <p:nvPr/>
        </p:nvSpPr>
        <p:spPr>
          <a:xfrm>
            <a:off x="5852160" y="4992624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57" name="Cond 4"/>
          <p:cNvSpPr txBox="1"/>
          <p:nvPr/>
        </p:nvSpPr>
        <p:spPr>
          <a:xfrm>
            <a:off x="6126480" y="4992624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Formalizar con su dueño la estructura de MP21.</a:t>
            </a:r>
          </a:p>
        </p:txBody>
      </p:sp>
      <p:sp>
        <p:nvSpPr>
          <p:cNvPr id="58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a partir de los manuales MP8 v1 y MP21 v2. Una tarea no descrita no puede evaluarse: estas condiciones fijan la cobertura del TCER.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OE2 (2 de 2)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17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202996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La matriz de riesgos se construye sobre la tabla de actividades y tareas del manual: cada fila es una tarea con su código y responsable, a la que se agregan los siete atributos de COSO II.</a:t>
            </a:r>
          </a:p>
        </p:txBody>
      </p:sp>
      <p:sp>
        <p:nvSpPr>
          <p:cNvPr id="7" name="Encabezado"/>
          <p:cNvSpPr txBox="1"/>
          <p:nvPr/>
        </p:nvSpPr>
        <p:spPr>
          <a:xfrm>
            <a:off x="411480" y="2697480"/>
            <a:ext cx="35661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Desde el manual de procesos (OE1)</a:t>
            </a:r>
          </a:p>
        </p:txBody>
      </p:sp>
      <p:sp>
        <p:nvSpPr>
          <p:cNvPr id="8" name="Regla"/>
          <p:cNvSpPr/>
          <p:nvPr/>
        </p:nvSpPr>
        <p:spPr>
          <a:xfrm>
            <a:off x="411480" y="3008376"/>
            <a:ext cx="3566160" cy="1645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Origen Código MGO"/>
          <p:cNvSpPr txBox="1"/>
          <p:nvPr/>
        </p:nvSpPr>
        <p:spPr>
          <a:xfrm>
            <a:off x="411480" y="3081528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Código MGO</a:t>
            </a:r>
          </a:p>
        </p:txBody>
      </p:sp>
      <p:sp>
        <p:nvSpPr>
          <p:cNvPr id="10" name="Origen Subproceso y actividad"/>
          <p:cNvSpPr txBox="1"/>
          <p:nvPr/>
        </p:nvSpPr>
        <p:spPr>
          <a:xfrm>
            <a:off x="411480" y="3346704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Subproceso y actividad</a:t>
            </a:r>
          </a:p>
        </p:txBody>
      </p:sp>
      <p:sp>
        <p:nvSpPr>
          <p:cNvPr id="11" name="Origen Tarea"/>
          <p:cNvSpPr txBox="1"/>
          <p:nvPr/>
        </p:nvSpPr>
        <p:spPr>
          <a:xfrm>
            <a:off x="411480" y="3611880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Tarea</a:t>
            </a:r>
          </a:p>
        </p:txBody>
      </p:sp>
      <p:sp>
        <p:nvSpPr>
          <p:cNvPr id="12" name="Origen Responsable"/>
          <p:cNvSpPr txBox="1"/>
          <p:nvPr/>
        </p:nvSpPr>
        <p:spPr>
          <a:xfrm>
            <a:off x="411480" y="3877056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Responsable</a:t>
            </a:r>
          </a:p>
        </p:txBody>
      </p:sp>
      <p:sp>
        <p:nvSpPr>
          <p:cNvPr id="13" name="Flecha"/>
          <p:cNvSpPr/>
          <p:nvPr/>
        </p:nvSpPr>
        <p:spPr>
          <a:xfrm>
            <a:off x="4142232" y="3566160"/>
            <a:ext cx="50292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Encabezado"/>
          <p:cNvSpPr txBox="1"/>
          <p:nvPr/>
        </p:nvSpPr>
        <p:spPr>
          <a:xfrm>
            <a:off x="4818888" y="2697480"/>
            <a:ext cx="3913632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Atributos COSO II por tarea (OE2)</a:t>
            </a:r>
          </a:p>
        </p:txBody>
      </p:sp>
      <p:sp>
        <p:nvSpPr>
          <p:cNvPr id="15" name="Regla"/>
          <p:cNvSpPr/>
          <p:nvPr/>
        </p:nvSpPr>
        <p:spPr>
          <a:xfrm>
            <a:off x="4818888" y="3008376"/>
            <a:ext cx="3913632" cy="1645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" name="Atributo Evento de riesgo"/>
          <p:cNvSpPr txBox="1"/>
          <p:nvPr/>
        </p:nvSpPr>
        <p:spPr>
          <a:xfrm>
            <a:off x="4818888" y="3081528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Evento de riesgo</a:t>
            </a:r>
          </a:p>
        </p:txBody>
      </p:sp>
      <p:sp>
        <p:nvSpPr>
          <p:cNvPr id="17" name="Atributo Categoría"/>
          <p:cNvSpPr txBox="1"/>
          <p:nvPr/>
        </p:nvSpPr>
        <p:spPr>
          <a:xfrm>
            <a:off x="4818888" y="3346704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Categoría</a:t>
            </a:r>
          </a:p>
        </p:txBody>
      </p:sp>
      <p:sp>
        <p:nvSpPr>
          <p:cNvPr id="18" name="Atributo Probabilidad"/>
          <p:cNvSpPr txBox="1"/>
          <p:nvPr/>
        </p:nvSpPr>
        <p:spPr>
          <a:xfrm>
            <a:off x="4818888" y="3611880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Probabilidad</a:t>
            </a:r>
          </a:p>
        </p:txBody>
      </p:sp>
      <p:sp>
        <p:nvSpPr>
          <p:cNvPr id="19" name="Atributo Impacto"/>
          <p:cNvSpPr txBox="1"/>
          <p:nvPr/>
        </p:nvSpPr>
        <p:spPr>
          <a:xfrm>
            <a:off x="4818888" y="3877056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Impacto</a:t>
            </a:r>
          </a:p>
        </p:txBody>
      </p:sp>
      <p:sp>
        <p:nvSpPr>
          <p:cNvPr id="20" name="Atributo Riesgo inherente"/>
          <p:cNvSpPr txBox="1"/>
          <p:nvPr/>
        </p:nvSpPr>
        <p:spPr>
          <a:xfrm>
            <a:off x="6775704" y="3081528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Riesgo inherente</a:t>
            </a:r>
          </a:p>
        </p:txBody>
      </p:sp>
      <p:sp>
        <p:nvSpPr>
          <p:cNvPr id="21" name="Atributo Controles existentes"/>
          <p:cNvSpPr txBox="1"/>
          <p:nvPr/>
        </p:nvSpPr>
        <p:spPr>
          <a:xfrm>
            <a:off x="6775704" y="3346704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Controles existentes</a:t>
            </a:r>
          </a:p>
        </p:txBody>
      </p:sp>
      <p:sp>
        <p:nvSpPr>
          <p:cNvPr id="22" name="Atributo Riesgo residual"/>
          <p:cNvSpPr txBox="1"/>
          <p:nvPr/>
        </p:nvSpPr>
        <p:spPr>
          <a:xfrm>
            <a:off x="6775704" y="3611880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Riesgo residual</a:t>
            </a:r>
          </a:p>
        </p:txBody>
      </p:sp>
      <p:sp>
        <p:nvSpPr>
          <p:cNvPr id="23" name="Encabezado"/>
          <p:cNvSpPr txBox="1"/>
          <p:nvPr/>
        </p:nvSpPr>
        <p:spPr>
          <a:xfrm>
            <a:off x="411480" y="4261104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Ejemplo de filas con datos de los manuales MP8 y MP21</a:t>
            </a:r>
          </a:p>
        </p:txBody>
      </p:sp>
      <p:graphicFrame>
        <p:nvGraphicFramePr>
          <p:cNvPr id="24" name="Tabla ejemplo"/>
          <p:cNvGraphicFramePr>
            <a:graphicFrameLocks noGrp="1"/>
          </p:cNvGraphicFramePr>
          <p:nvPr/>
        </p:nvGraphicFramePr>
        <p:xfrm>
          <a:off x="411480" y="4590288"/>
          <a:ext cx="8321040" cy="1188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60120"/>
                <a:gridCol w="3154680"/>
                <a:gridCol w="164592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Código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Responsable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Atributos COSO II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 C.1.1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Verificar disponibilidad de la vacante con el área de Personas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Área Solicitante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Se determina en los talleres A2.1 y A2.2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 C.1.3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Revisar certificados de cumplimiento laboral y previsional del contratista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Jefe de Servicios Generales zonal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Se determina en los talleres A2.1 y A2.2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propia. Atributos según la sección 2.3.2 del informe; tareas y responsables tomados de los manuales MP8 v1 y MP21 v2.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Carta Gantt · Nivel de cumplimiento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18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75104"/>
            <a:ext cx="832104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Horizonte de 20 semanas, agosto 2026 a enero 2027. Esta presentación corresponde a la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semana 10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7" name="Tabla Gantt"/>
          <p:cNvGraphicFramePr>
            <a:graphicFrameLocks noGrp="1"/>
          </p:cNvGraphicFramePr>
          <p:nvPr/>
        </p:nvGraphicFramePr>
        <p:xfrm>
          <a:off x="411480" y="2304288"/>
          <a:ext cx="8321040" cy="29992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5728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1133856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Actividad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13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Estado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A1.1–A1.2 Diagnóstico y entrevistas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A1.3.1 Flujo único 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A1.3.2 Segmentación 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14 de 18 fases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A1.4.1 Estructura MP21 con el dueño*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A1.4.2 Segmentación 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 (v2)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A1.5–A1.6 Manuales y validación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MP8 v1 · MP21 v2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A2.1–A2.2 Identificación y valoración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A2.3–A2.4 Matriz y validación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A3.1–A3.2 Planes y gobernanza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A3.3–A3.4 Integración y entrega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A-G Documentación del TFG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En curso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Hitos A-P1 · A-P2 · A-PF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A-P2 en S10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emana actual"/>
          <p:cNvSpPr/>
          <p:nvPr/>
        </p:nvSpPr>
        <p:spPr>
          <a:xfrm>
            <a:off x="5191963" y="2304288"/>
            <a:ext cx="21946" cy="309067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Semana actual rotulo"/>
          <p:cNvSpPr txBox="1"/>
          <p:nvPr/>
        </p:nvSpPr>
        <p:spPr>
          <a:xfrm>
            <a:off x="4654296" y="539496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850" dirty="0" b="1">
                <a:solidFill>
                  <a:srgbClr val="C0504D"/>
                </a:solidFill>
                <a:latin typeface="Calibri"/>
                <a:cs typeface="Calibri"/>
              </a:rPr>
              <a:t>Semana 10</a:t>
            </a:r>
          </a:p>
        </p:txBody>
      </p:sp>
      <p:sp>
        <p:nvSpPr>
          <p:cNvPr id="10" name="Ley Completado"/>
          <p:cNvSpPr/>
          <p:nvPr/>
        </p:nvSpPr>
        <p:spPr>
          <a:xfrm>
            <a:off x="411480" y="5696712"/>
            <a:ext cx="201168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Ley t Completado"/>
          <p:cNvSpPr txBox="1"/>
          <p:nvPr/>
        </p:nvSpPr>
        <p:spPr>
          <a:xfrm>
            <a:off x="658368" y="5650992"/>
            <a:ext cx="96012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Completado</a:t>
            </a:r>
          </a:p>
        </p:txBody>
      </p:sp>
      <p:sp>
        <p:nvSpPr>
          <p:cNvPr id="12" name="Ley Ejecutado o en curso"/>
          <p:cNvSpPr/>
          <p:nvPr/>
        </p:nvSpPr>
        <p:spPr>
          <a:xfrm>
            <a:off x="1737360" y="5696712"/>
            <a:ext cx="201168" cy="12801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Ley t Ejecutado o en curso"/>
          <p:cNvSpPr txBox="1"/>
          <p:nvPr/>
        </p:nvSpPr>
        <p:spPr>
          <a:xfrm>
            <a:off x="1984248" y="5650992"/>
            <a:ext cx="155448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Ejecutado o en curso</a:t>
            </a:r>
          </a:p>
        </p:txBody>
      </p:sp>
      <p:sp>
        <p:nvSpPr>
          <p:cNvPr id="14" name="Ley Planificado"/>
          <p:cNvSpPr/>
          <p:nvPr/>
        </p:nvSpPr>
        <p:spPr>
          <a:xfrm>
            <a:off x="3657600" y="5696712"/>
            <a:ext cx="201168" cy="128016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Ley t Planificado"/>
          <p:cNvSpPr txBox="1"/>
          <p:nvPr/>
        </p:nvSpPr>
        <p:spPr>
          <a:xfrm>
            <a:off x="3904488" y="5650992"/>
            <a:ext cx="96012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Planificado</a:t>
            </a:r>
          </a:p>
        </p:txBody>
      </p:sp>
      <p:sp>
        <p:nvSpPr>
          <p:cNvPr id="16" name="Cumplimiento"/>
          <p:cNvSpPr txBox="1"/>
          <p:nvPr/>
        </p:nvSpPr>
        <p:spPr>
          <a:xfrm>
            <a:off x="411480" y="5870448"/>
            <a:ext cx="768096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OE1: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de 8 actividades, 5 completadas, 2 en curso y 1 no iniciada (validación formal, A1.6). Pendiente principal: fases F15 a F18 de MP8.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* Ajuste metodológico: en MP21 la estructura se acordó con el dueño del proceso en lugar de derivarse de un flujo único (lámina 9).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cias"/>
          <p:cNvSpPr txBox="1"/>
          <p:nvPr/>
        </p:nvSpPr>
        <p:spPr>
          <a:xfrm>
            <a:off x="731520" y="3017520"/>
            <a:ext cx="768096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2600" dirty="0" b="1">
                <a:solidFill>
                  <a:srgbClr val="17375E"/>
                </a:solidFill>
                <a:latin typeface="Calibri"/>
                <a:cs typeface="Calibri"/>
              </a:rPr>
              <a:t>Gracias por su atención</a:t>
            </a:r>
          </a:p>
        </p:txBody>
      </p:sp>
      <p:sp>
        <p:nvSpPr>
          <p:cNvPr id="3" name="Preguntas"/>
          <p:cNvSpPr txBox="1"/>
          <p:nvPr/>
        </p:nvSpPr>
        <p:spPr>
          <a:xfrm>
            <a:off x="731520" y="3639312"/>
            <a:ext cx="76809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400" dirty="0">
                <a:solidFill>
                  <a:srgbClr val="3A3A3A"/>
                </a:solidFill>
                <a:latin typeface="Calibri"/>
                <a:cs typeface="Calibri"/>
              </a:rPr>
              <a:t>Preguntas y comentarios</a:t>
            </a:r>
          </a:p>
        </p:txBody>
      </p:sp>
      <p:sp>
        <p:nvSpPr>
          <p:cNvPr id="4" name="Autoria"/>
          <p:cNvSpPr txBox="1"/>
          <p:nvPr/>
        </p:nvSpPr>
        <p:spPr>
          <a:xfrm>
            <a:off x="731520" y="5815584"/>
            <a:ext cx="768096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200" dirty="0" b="1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Magíster en Sistemas de Gestión Integral de la Calidad · Universidad de La Frontera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19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2 TFG - Bastián Darwit Vera</dc:title>
  <dc:creator>Bastián Darwit Vera</dc:creator>
  <cp:lastModifiedBy>Bastián Darwit Vera</cp:lastModifiedBy>
  <cp:revision>1</cp:revision>
</cp:coreProperties>
</file>