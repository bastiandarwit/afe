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2"/>
  </p:notesMasterIdLst>
  <p:sldIdLst>
    <p:sldId id="256" r:id="rId501"/>
    <p:sldId id="257" r:id="rId502"/>
    <p:sldId id="258" r:id="rId503"/>
    <p:sldId id="259" r:id="rId504"/>
    <p:sldId id="260" r:id="rId505"/>
    <p:sldId id="261" r:id="rId506"/>
    <p:sldId id="262" r:id="rId507"/>
    <p:sldId id="263" r:id="rId508"/>
    <p:sldId id="264" r:id="rId509"/>
    <p:sldId id="265" r:id="rId510"/>
    <p:sldId id="266" r:id="rId511"/>
    <p:sldId id="267" r:id="rId512"/>
    <p:sldId id="268" r:id="rId513"/>
  </p:sldIdLst>
  <p:sldSz cx="9144000" cy="6858000" type="screen4x3"/>
  <p:notesSz cx="6858000" cy="91440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501" Type="http://schemas.openxmlformats.org/officeDocument/2006/relationships/slide" Target="slides/slide1.xml"/><Relationship Id="rId502" Type="http://schemas.openxmlformats.org/officeDocument/2006/relationships/slide" Target="slides/slide2.xml"/><Relationship Id="rId503" Type="http://schemas.openxmlformats.org/officeDocument/2006/relationships/slide" Target="slides/slide3.xml"/><Relationship Id="rId504" Type="http://schemas.openxmlformats.org/officeDocument/2006/relationships/slide" Target="slides/slide4.xml"/><Relationship Id="rId505" Type="http://schemas.openxmlformats.org/officeDocument/2006/relationships/slide" Target="slides/slide5.xml"/><Relationship Id="rId506" Type="http://schemas.openxmlformats.org/officeDocument/2006/relationships/slide" Target="slides/slide6.xml"/><Relationship Id="rId507" Type="http://schemas.openxmlformats.org/officeDocument/2006/relationships/slide" Target="slides/slide7.xml"/><Relationship Id="rId508" Type="http://schemas.openxmlformats.org/officeDocument/2006/relationships/slide" Target="slides/slide8.xml"/><Relationship Id="rId509" Type="http://schemas.openxmlformats.org/officeDocument/2006/relationships/slide" Target="slides/slide9.xml"/><Relationship Id="rId510" Type="http://schemas.openxmlformats.org/officeDocument/2006/relationships/slide" Target="slides/slide10.xml"/><Relationship Id="rId511" Type="http://schemas.openxmlformats.org/officeDocument/2006/relationships/slide" Target="slides/slide11.xml"/><Relationship Id="rId512" Type="http://schemas.openxmlformats.org/officeDocument/2006/relationships/slide" Target="slides/slide12.xml"/><Relationship Id="rId513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14A46-6E62-43DB-BF60-607EEC7479EF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A489-9F24-40B1-A85B-D6DE9635E6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945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mapa_macroprocesos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apertura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c1_flujograma.png"/><Relationship Id="rId11" Type="http://schemas.openxmlformats.org/officeDocument/2006/relationships/image" Target="../media/av2_mp8_c1_tareas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8_sipoc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av2_mp21_ficha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etitulo"/>
          <p:cNvSpPr txBox="1"/>
          <p:nvPr/>
        </p:nvSpPr>
        <p:spPr>
          <a:xfrm>
            <a:off x="731520" y="290779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500" dirty="0" b="1">
                <a:solidFill>
                  <a:srgbClr val="595959"/>
                </a:solidFill>
                <a:latin typeface="Calibri"/>
                <a:cs typeface="Calibri"/>
              </a:rPr>
              <a:t>Avance 2 · Trabajo Final de Grado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731520" y="3273552"/>
            <a:ext cx="7680960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8000"/>
              </a:lnSpc>
              <a:buNone/>
            </a:pPr>
            <a:r>
              <a:rPr lang="es-CL" sz="16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4" name="Programa"/>
          <p:cNvSpPr txBox="1"/>
          <p:nvPr/>
        </p:nvSpPr>
        <p:spPr>
          <a:xfrm>
            <a:off x="731520" y="4224528"/>
            <a:ext cx="768096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 b="1">
                <a:solidFill>
                  <a:srgbClr val="3A3A3A"/>
                </a:solidFill>
                <a:latin typeface="Calibri"/>
                <a:cs typeface="Calibri"/>
              </a:rPr>
              <a:t>Magíster en Sistemas de Gestión Integral de la Calidad</a:t>
            </a:r>
          </a:p>
          <a:p>
            <a:pPr algn="ctr">
              <a:buNone/>
            </a:pPr>
            <a:r>
              <a:rPr lang="es-CL" sz="1000" dirty="0">
                <a:solidFill>
                  <a:srgbClr val="6B6B6B"/>
                </a:solidFill>
                <a:latin typeface="Calibri"/>
                <a:cs typeface="Calibri"/>
              </a:rPr>
              <a:t>Facultad de Ingeniería y Ciencias · Universidad de La Frontera</a:t>
            </a:r>
          </a:p>
        </p:txBody>
      </p:sp>
      <p:sp>
        <p:nvSpPr>
          <p:cNvPr id="5" name="Autoria"/>
          <p:cNvSpPr txBox="1"/>
          <p:nvPr/>
        </p:nvSpPr>
        <p:spPr>
          <a:xfrm>
            <a:off x="2103120" y="4700016"/>
            <a:ext cx="4937760" cy="8412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115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115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Carlos Muñoz P.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Profesor co-guía: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Manuel Echiburú Fuenzalida</a:t>
            </a:r>
          </a:p>
        </p:txBody>
      </p:sp>
      <p:sp>
        <p:nvSpPr>
          <p:cNvPr id="6" name="Fecha"/>
          <p:cNvSpPr txBox="1"/>
          <p:nvPr/>
        </p:nvSpPr>
        <p:spPr>
          <a:xfrm>
            <a:off x="3200400" y="583387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Fecha: </a:t>
            </a:r>
            <a:r>
              <a:rPr lang="es-CL" sz="1100" dirty="0">
                <a:solidFill>
                  <a:srgbClr val="17375E"/>
                </a:solidFill>
                <a:latin typeface="Calibri"/>
                <a:cs typeface="Calibri"/>
              </a:rPr>
              <a:t>14/10/2026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instituciona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1664208"/>
            <a:ext cx="3566160" cy="4453128"/>
          </a:xfrm>
          <a:prstGeom prst="rect">
            <a:avLst/>
          </a:prstGeom>
        </p:spPr>
      </p:pic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del trabajo"/>
          <p:cNvSpPr txBox="1"/>
          <p:nvPr/>
        </p:nvSpPr>
        <p:spPr>
          <a:xfrm>
            <a:off x="4572000" y="1664208"/>
            <a:ext cx="4114800" cy="22860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2000" dirty="0" b="1">
                <a:solidFill>
                  <a:srgbClr val="595959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5" name="Regla"/>
          <p:cNvSpPr/>
          <p:nvPr/>
        </p:nvSpPr>
        <p:spPr>
          <a:xfrm>
            <a:off x="4608576" y="4078224"/>
            <a:ext cx="402336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Precision"/>
          <p:cNvSpPr txBox="1"/>
          <p:nvPr/>
        </p:nvSpPr>
        <p:spPr>
          <a:xfrm>
            <a:off x="4572000" y="4187952"/>
            <a:ext cx="4114800" cy="18288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10000"/>
              </a:lnSpc>
              <a:buNone/>
            </a:pPr>
            <a:r>
              <a:rPr lang="es-CL" sz="1200" dirty="0" b="1">
                <a:solidFill>
                  <a:srgbClr val="17375E"/>
                </a:solidFill>
                <a:latin typeface="Calibri"/>
                <a:cs typeface="Calibri"/>
              </a:rPr>
              <a:t>Título sin modificaciones</a:t>
            </a: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 respecto del anteproyecto aprobado y del Avance 1.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El trabajo comprende el </a:t>
            </a:r>
            <a:r>
              <a:rPr lang="es-CL" sz="1200" dirty="0" b="1">
                <a:solidFill>
                  <a:srgbClr val="3A3A3A"/>
                </a:solidFill>
                <a:latin typeface="Calibri"/>
                <a:cs typeface="Calibri"/>
              </a:rPr>
              <a:t>diseño</a:t>
            </a: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 del sistema de gestión de riesgos; su implementación no forma parte del alcance.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Este avance reporta la arquitectura de procesos consolidada en los manuales de MP8 y MP21.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(1 de 2) · Organización y unidad de estudio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6" name="Organizacion"/>
          <p:cNvSpPr txBox="1"/>
          <p:nvPr/>
        </p:nvSpPr>
        <p:spPr>
          <a:xfrm>
            <a:off x="411480" y="2029968"/>
            <a:ext cx="8321040" cy="6583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Celulosa Arauco y Constitución S.A.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, Negocio de Celulosa: cinco plantas en Chile (Arauco, Constitución, Licancel, Nueva Aldea y Valdivia) y una en Argentina. Sus procesos se ordenan en 21 macroprocesos bajo el </a:t>
            </a:r>
            <a:r>
              <a:rPr lang="es-CL" sz="1250" dirty="0" b="1">
                <a:solidFill>
                  <a:srgbClr val="3A3A3A"/>
                </a:solidFill>
                <a:latin typeface="Calibri"/>
                <a:cs typeface="Calibri"/>
              </a:rPr>
              <a:t>Modelo de Gestión Operacional (MGO)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pic>
        <p:nvPicPr>
          <p:cNvPr id="7" name="Captura mapa macroproceso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88920"/>
            <a:ext cx="5760720" cy="2537978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788920"/>
            <a:ext cx="5760720" cy="253797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3030977" y="3033479"/>
            <a:ext cx="499987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432209" y="2912778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5389612" y="4718218"/>
            <a:ext cx="521726" cy="5706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5812582" y="459751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Rotulo figura"/>
          <p:cNvSpPr txBox="1"/>
          <p:nvPr/>
        </p:nvSpPr>
        <p:spPr>
          <a:xfrm>
            <a:off x="411480" y="5363474"/>
            <a:ext cx="576072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Figura 1. </a:t>
            </a:r>
            <a:r>
              <a:rPr lang="es-CL" sz="900" dirty="0" i="1">
                <a:solidFill>
                  <a:srgbClr val="6B6B6B"/>
                </a:solidFill>
                <a:latin typeface="Calibri"/>
                <a:cs typeface="Calibri"/>
              </a:rPr>
              <a:t>Mapa de macroprocesos del Negocio de Celulosa según el MGO.</a:t>
            </a:r>
          </a:p>
        </p:txBody>
      </p:sp>
      <p:sp>
        <p:nvSpPr>
          <p:cNvPr id="14" name="Encabezado"/>
          <p:cNvSpPr txBox="1"/>
          <p:nvPr/>
        </p:nvSpPr>
        <p:spPr>
          <a:xfrm>
            <a:off x="6446520" y="278892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250" dirty="0" b="1">
                <a:solidFill>
                  <a:srgbClr val="1F497D"/>
                </a:solidFill>
                <a:latin typeface="Calibri"/>
                <a:cs typeface="Calibri"/>
              </a:rPr>
              <a:t>Unidad de estudio</a:t>
            </a:r>
          </a:p>
        </p:txBody>
      </p:sp>
      <p:sp>
        <p:nvSpPr>
          <p:cNvPr id="15" name="Ley marca 1"/>
          <p:cNvSpPr/>
          <p:nvPr/>
        </p:nvSpPr>
        <p:spPr>
          <a:xfrm>
            <a:off x="6446520" y="31455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6" name="Ley texto 1"/>
          <p:cNvSpPr txBox="1"/>
          <p:nvPr/>
        </p:nvSpPr>
        <p:spPr>
          <a:xfrm>
            <a:off x="6720840" y="312724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MP8 Gestión de Personas.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Transversal a los negocios de celulosa, madera y forestal.</a:t>
            </a:r>
          </a:p>
        </p:txBody>
      </p:sp>
      <p:sp>
        <p:nvSpPr>
          <p:cNvPr id="17" name="Ley marca 2"/>
          <p:cNvSpPr/>
          <p:nvPr/>
        </p:nvSpPr>
        <p:spPr>
          <a:xfrm>
            <a:off x="6446520" y="385419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Ley texto 2"/>
          <p:cNvSpPr txBox="1"/>
          <p:nvPr/>
        </p:nvSpPr>
        <p:spPr>
          <a:xfrm>
            <a:off x="6720840" y="3835908"/>
            <a:ext cx="2011680" cy="5989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MP21 Servicios Generales.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Soporte; transversal a celulosa y forestal.</a:t>
            </a:r>
          </a:p>
        </p:txBody>
      </p:sp>
      <p:sp>
        <p:nvSpPr>
          <p:cNvPr id="19" name="Unidad"/>
          <p:cNvSpPr txBox="1"/>
          <p:nvPr/>
        </p:nvSpPr>
        <p:spPr>
          <a:xfrm>
            <a:off x="6446520" y="4617720"/>
            <a:ext cx="2286000" cy="10972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 b="1">
                <a:solidFill>
                  <a:srgbClr val="17375E"/>
                </a:solidFill>
                <a:latin typeface="Calibri"/>
                <a:cs typeface="Calibri"/>
              </a:rPr>
              <a:t>Unidad de análisis: </a:t>
            </a: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el nivel corporativo que diseña ambos macroprocesos para el conjunto de las plantas.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sobre el mapa de macroprocesos de los manuales MP8 y MP21 (v1) y la sección 1.5 del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Problema (2 de 2) · Descripción y relevancia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Descripción del problema</a:t>
            </a:r>
          </a:p>
        </p:txBody>
      </p:sp>
      <p:sp>
        <p:nvSpPr>
          <p:cNvPr id="7" name="Problema"/>
          <p:cNvSpPr txBox="1"/>
          <p:nvPr/>
        </p:nvSpPr>
        <p:spPr>
          <a:xfrm>
            <a:off x="411480" y="2322576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200" dirty="0">
                <a:solidFill>
                  <a:srgbClr val="3A3A3A"/>
                </a:solidFill>
                <a:latin typeface="Calibri"/>
                <a:cs typeface="Calibri"/>
              </a:rPr>
              <a:t>MP8 y MP21 operan sin un sistema de gestión de riesgos estructurado y sin una arquitectura de procesos formalizada bajo el MGO, lo que limita la trazabilidad de responsabilidades y la gestión de sus riesgos operacionales.</a:t>
            </a:r>
          </a:p>
        </p:txBody>
      </p:sp>
      <p:sp>
        <p:nvSpPr>
          <p:cNvPr id="8" name="Carencia num 1"/>
          <p:cNvSpPr txBox="1"/>
          <p:nvPr/>
        </p:nvSpPr>
        <p:spPr>
          <a:xfrm>
            <a:off x="411480" y="2980944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9" name="Carencia 1"/>
          <p:cNvSpPr txBox="1"/>
          <p:nvPr/>
        </p:nvSpPr>
        <p:spPr>
          <a:xfrm>
            <a:off x="777240" y="2980944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arquitectura formalizada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en los niveles del MGO, que sirva de base para analizar los riesgos.</a:t>
            </a:r>
          </a:p>
        </p:txBody>
      </p:sp>
      <p:sp>
        <p:nvSpPr>
          <p:cNvPr id="10" name="Carencia num 2"/>
          <p:cNvSpPr txBox="1"/>
          <p:nvPr/>
        </p:nvSpPr>
        <p:spPr>
          <a:xfrm>
            <a:off x="411480" y="3310128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Carencia 2"/>
          <p:cNvSpPr txBox="1"/>
          <p:nvPr/>
        </p:nvSpPr>
        <p:spPr>
          <a:xfrm>
            <a:off x="777240" y="3310128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evaluación estructurada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de los riesgos operacionales de las tareas.</a:t>
            </a:r>
          </a:p>
        </p:txBody>
      </p:sp>
      <p:sp>
        <p:nvSpPr>
          <p:cNvPr id="12" name="Carencia num 3"/>
          <p:cNvSpPr txBox="1"/>
          <p:nvPr/>
        </p:nvSpPr>
        <p:spPr>
          <a:xfrm>
            <a:off x="411480" y="3639312"/>
            <a:ext cx="32918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Carencia 3"/>
          <p:cNvSpPr txBox="1"/>
          <p:nvPr/>
        </p:nvSpPr>
        <p:spPr>
          <a:xfrm>
            <a:off x="777240" y="3639312"/>
            <a:ext cx="79552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Sin un sistema que integre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riesgos, planes de mitigación, responsables y monitoreo.</a:t>
            </a:r>
          </a:p>
        </p:txBody>
      </p:sp>
      <p:sp>
        <p:nvSpPr>
          <p:cNvPr id="14" name="Regla"/>
          <p:cNvSpPr/>
          <p:nvPr/>
        </p:nvSpPr>
        <p:spPr>
          <a:xfrm>
            <a:off x="411480" y="4041648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Encabezado"/>
          <p:cNvSpPr txBox="1"/>
          <p:nvPr/>
        </p:nvSpPr>
        <p:spPr>
          <a:xfrm>
            <a:off x="411480" y="4151376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Relevancia para la gestión de la calidad</a:t>
            </a:r>
          </a:p>
        </p:txBody>
      </p:sp>
      <p:sp>
        <p:nvSpPr>
          <p:cNvPr id="16" name="Relevancia 1"/>
          <p:cNvSpPr txBox="1"/>
          <p:nvPr/>
        </p:nvSpPr>
        <p:spPr>
          <a:xfrm>
            <a:off x="411480" y="4462272"/>
            <a:ext cx="4023360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arquitectura de procesos es la condición previa para gestionar riesgos: ordena actividades dispersas y les asigna responsables trazables (Davenport, 1993; Teixeira et al., 2024).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Un sistema sustentado en esa arquitectura puede replicarse en las cinco plantas y homogeneizar la gestión.</a:t>
            </a:r>
          </a:p>
        </p:txBody>
      </p:sp>
      <p:sp>
        <p:nvSpPr>
          <p:cNvPr id="17" name="Relevancia 2"/>
          <p:cNvSpPr txBox="1"/>
          <p:nvPr/>
        </p:nvSpPr>
        <p:spPr>
          <a:xfrm>
            <a:off x="4636008" y="4462272"/>
            <a:ext cx="4096512" cy="14813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Evidencia externa, no proyectable al caso: 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la adopción de ERM se asocia a una prima de valoración cercana al 20 % en aseguradoras (Hoyt y Liebenberg, 2011) y su madurez a una mayor Q de Tobin, del orden de 25 % (Farrell y Gallagher, 2015).</a:t>
            </a:r>
          </a:p>
        </p:txBody>
      </p:sp>
      <p:sp>
        <p:nvSpPr>
          <p:cNvPr id="18" name="Regla vertical"/>
          <p:cNvSpPr/>
          <p:nvPr/>
        </p:nvSpPr>
        <p:spPr>
          <a:xfrm>
            <a:off x="4526280" y="4498848"/>
            <a:ext cx="12802" cy="137160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secciones 1.2 y 1.3 del informe de avance.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Objetivos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6" name="Encabezado"/>
          <p:cNvSpPr txBox="1"/>
          <p:nvPr/>
        </p:nvSpPr>
        <p:spPr>
          <a:xfrm>
            <a:off x="411480" y="2029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 general</a:t>
            </a:r>
          </a:p>
        </p:txBody>
      </p:sp>
      <p:sp>
        <p:nvSpPr>
          <p:cNvPr id="7" name="OG"/>
          <p:cNvSpPr txBox="1"/>
          <p:nvPr/>
        </p:nvSpPr>
        <p:spPr>
          <a:xfrm>
            <a:off x="411480" y="2340864"/>
            <a:ext cx="8321040" cy="60350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8000"/>
              </a:lnSpc>
              <a:buNone/>
            </a:pPr>
            <a:r>
              <a:rPr lang="es-CL" sz="1400" dirty="0">
                <a:solidFill>
                  <a:srgbClr val="17375E"/>
                </a:solidFill>
                <a:latin typeface="Calibri"/>
                <a:cs typeface="Calibri"/>
              </a:rPr>
              <a:t>Estructurar un sistema de gestión de riesgos según COSO II para los macroprocesos de Gestión de Personas (MP8) y Servicios Generales (MP21) de Celulosa Arauco y Constitución S.A.</a:t>
            </a:r>
          </a:p>
        </p:txBody>
      </p:sp>
      <p:sp>
        <p:nvSpPr>
          <p:cNvPr id="8" name="Regla"/>
          <p:cNvSpPr/>
          <p:nvPr/>
        </p:nvSpPr>
        <p:spPr>
          <a:xfrm>
            <a:off x="411480" y="3054096"/>
            <a:ext cx="832104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Encabezado"/>
          <p:cNvSpPr txBox="1"/>
          <p:nvPr/>
        </p:nvSpPr>
        <p:spPr>
          <a:xfrm>
            <a:off x="411480" y="318211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300" dirty="0" b="1">
                <a:solidFill>
                  <a:srgbClr val="1F497D"/>
                </a:solidFill>
                <a:latin typeface="Calibri"/>
                <a:cs typeface="Calibri"/>
              </a:rPr>
              <a:t>Objetivos específicos</a:t>
            </a:r>
          </a:p>
        </p:txBody>
      </p:sp>
      <p:sp>
        <p:nvSpPr>
          <p:cNvPr id="10" name="OE cod OE1"/>
          <p:cNvSpPr txBox="1"/>
          <p:nvPr/>
        </p:nvSpPr>
        <p:spPr>
          <a:xfrm>
            <a:off x="411480" y="354787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OE1</a:t>
            </a:r>
          </a:p>
        </p:txBody>
      </p:sp>
      <p:sp>
        <p:nvSpPr>
          <p:cNvPr id="11" name="OE txt OE1"/>
          <p:cNvSpPr txBox="1"/>
          <p:nvPr/>
        </p:nvSpPr>
        <p:spPr>
          <a:xfrm>
            <a:off x="1014984" y="354787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Modelar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la arquitectura de procesos de MP8 y MP21, desde sus procesos hasta sus tareas, según el marco del Modelo de Gestión Operacional.</a:t>
            </a:r>
          </a:p>
        </p:txBody>
      </p:sp>
      <p:sp>
        <p:nvSpPr>
          <p:cNvPr id="12" name="OE ind OE1"/>
          <p:cNvSpPr txBox="1"/>
          <p:nvPr/>
        </p:nvSpPr>
        <p:spPr>
          <a:xfrm>
            <a:off x="7452360" y="354787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CAP</a:t>
            </a:r>
          </a:p>
        </p:txBody>
      </p:sp>
      <p:sp>
        <p:nvSpPr>
          <p:cNvPr id="13" name="OE cod OE2"/>
          <p:cNvSpPr txBox="1"/>
          <p:nvPr/>
        </p:nvSpPr>
        <p:spPr>
          <a:xfrm>
            <a:off x="411480" y="42793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OE2</a:t>
            </a:r>
          </a:p>
        </p:txBody>
      </p:sp>
      <p:sp>
        <p:nvSpPr>
          <p:cNvPr id="14" name="OE txt OE2"/>
          <p:cNvSpPr txBox="1"/>
          <p:nvPr/>
        </p:nvSpPr>
        <p:spPr>
          <a:xfrm>
            <a:off x="1014984" y="427939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Evaluar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los riesgos operacionales asociados a las tareas modeladas de ambos macroprocesos según COSO II.</a:t>
            </a:r>
          </a:p>
        </p:txBody>
      </p:sp>
      <p:sp>
        <p:nvSpPr>
          <p:cNvPr id="15" name="OE ind OE2"/>
          <p:cNvSpPr txBox="1"/>
          <p:nvPr/>
        </p:nvSpPr>
        <p:spPr>
          <a:xfrm>
            <a:off x="7452360" y="427939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TCER</a:t>
            </a:r>
          </a:p>
        </p:txBody>
      </p:sp>
      <p:sp>
        <p:nvSpPr>
          <p:cNvPr id="16" name="OE cod OE3"/>
          <p:cNvSpPr txBox="1"/>
          <p:nvPr/>
        </p:nvSpPr>
        <p:spPr>
          <a:xfrm>
            <a:off x="411480" y="501091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300" dirty="0" b="1">
                <a:solidFill>
                  <a:srgbClr val="4F81BD"/>
                </a:solidFill>
                <a:latin typeface="Calibri"/>
                <a:cs typeface="Calibri"/>
              </a:rPr>
              <a:t>OE3</a:t>
            </a:r>
          </a:p>
        </p:txBody>
      </p:sp>
      <p:sp>
        <p:nvSpPr>
          <p:cNvPr id="17" name="OE txt OE3"/>
          <p:cNvSpPr txBox="1"/>
          <p:nvPr/>
        </p:nvSpPr>
        <p:spPr>
          <a:xfrm>
            <a:off x="1014984" y="5010912"/>
            <a:ext cx="6309360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250" dirty="0" b="1">
                <a:solidFill>
                  <a:srgbClr val="17375E"/>
                </a:solidFill>
                <a:latin typeface="Calibri"/>
                <a:cs typeface="Calibri"/>
              </a:rPr>
              <a:t>Elaborar </a:t>
            </a:r>
            <a:r>
              <a:rPr lang="es-CL" sz="1250" dirty="0">
                <a:solidFill>
                  <a:srgbClr val="3A3A3A"/>
                </a:solidFill>
                <a:latin typeface="Calibri"/>
                <a:cs typeface="Calibri"/>
              </a:rPr>
              <a:t>el sistema de gestión de riesgos, integrando el catálogo de riesgos y sus planes de mitigación según COSO II.</a:t>
            </a:r>
          </a:p>
        </p:txBody>
      </p:sp>
      <p:sp>
        <p:nvSpPr>
          <p:cNvPr id="18" name="OE ind OE3"/>
          <p:cNvSpPr txBox="1"/>
          <p:nvPr/>
        </p:nvSpPr>
        <p:spPr>
          <a:xfrm>
            <a:off x="7452360" y="5010912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Indicador: </a:t>
            </a: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CRPM</a:t>
            </a:r>
          </a:p>
        </p:txBody>
      </p:sp>
      <p:sp>
        <p:nvSpPr>
          <p:cNvPr id="19" name="Nota"/>
          <p:cNvSpPr txBox="1"/>
          <p:nvPr/>
        </p:nvSpPr>
        <p:spPr>
          <a:xfrm>
            <a:off x="411480" y="5742432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i="1">
                <a:solidFill>
                  <a:srgbClr val="6B6B6B"/>
                </a:solidFill>
                <a:latin typeface="Calibri"/>
                <a:cs typeface="Calibri"/>
              </a:rPr>
              <a:t>Objetivos sin modificaciones. Este avance reporta el OE1 y la preparación del OE2.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(1 de 4)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6" name="Actividades"/>
          <p:cNvSpPr txBox="1"/>
          <p:nvPr/>
        </p:nvSpPr>
        <p:spPr>
          <a:xfrm>
            <a:off x="411480" y="2029968"/>
            <a:ext cx="8321040" cy="6400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A1.3.2 segmentación jerárquica de MP8 desde el flujo único del Avance 1, y A1.5 consolidación en manuales con el formato del MGO aprobado por la organización: MP8 v1 (58 láminas) y esqueleto MP21 v1 (37 láminas).</a:t>
            </a:r>
          </a:p>
        </p:txBody>
      </p:sp>
      <p:pic>
        <p:nvPicPr>
          <p:cNvPr id="7" name="Captura apertura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61488"/>
            <a:ext cx="5074920" cy="2143090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761488"/>
            <a:ext cx="5074920" cy="2143090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452993" y="2803001"/>
            <a:ext cx="975547" cy="4099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32292" y="268230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452993" y="3223316"/>
            <a:ext cx="975547" cy="321723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332292" y="3446284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2466356" y="2803001"/>
            <a:ext cx="975547" cy="20860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3343147" y="2682300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5" name="Ley marca 1"/>
          <p:cNvSpPr/>
          <p:nvPr/>
        </p:nvSpPr>
        <p:spPr>
          <a:xfrm>
            <a:off x="411480" y="501430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6" name="Ley texto 1"/>
          <p:cNvSpPr txBox="1"/>
          <p:nvPr/>
        </p:nvSpPr>
        <p:spPr>
          <a:xfrm>
            <a:off x="685800" y="4996018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Proceso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(A a E), con su ficha y SIPOC.</a:t>
            </a:r>
          </a:p>
        </p:txBody>
      </p:sp>
      <p:sp>
        <p:nvSpPr>
          <p:cNvPr id="17" name="Ley marca 2"/>
          <p:cNvSpPr/>
          <p:nvPr/>
        </p:nvSpPr>
        <p:spPr>
          <a:xfrm>
            <a:off x="411480" y="525205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Ley texto 2"/>
          <p:cNvSpPr txBox="1"/>
          <p:nvPr/>
        </p:nvSpPr>
        <p:spPr>
          <a:xfrm>
            <a:off x="685800" y="5233762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Subproceso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(A.1), con flujograma, actividades y tareas.</a:t>
            </a:r>
          </a:p>
        </p:txBody>
      </p:sp>
      <p:sp>
        <p:nvSpPr>
          <p:cNvPr id="19" name="Ley marca 3"/>
          <p:cNvSpPr/>
          <p:nvPr/>
        </p:nvSpPr>
        <p:spPr>
          <a:xfrm>
            <a:off x="411480" y="548979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" name="Ley texto 3"/>
          <p:cNvSpPr txBox="1"/>
          <p:nvPr/>
        </p:nvSpPr>
        <p:spPr>
          <a:xfrm>
            <a:off x="685800" y="5471506"/>
            <a:ext cx="480060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Atracción y selección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: cinco subprocesos (fases F3 a F10 del flujo).</a:t>
            </a:r>
          </a:p>
        </p:txBody>
      </p:sp>
      <p:sp>
        <p:nvSpPr>
          <p:cNvPr id="21" name="Encabezado"/>
          <p:cNvSpPr txBox="1"/>
          <p:nvPr/>
        </p:nvSpPr>
        <p:spPr>
          <a:xfrm>
            <a:off x="5760720" y="2761488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Elementos por nivel MGO</a:t>
            </a:r>
          </a:p>
        </p:txBody>
      </p:sp>
      <p:graphicFrame>
        <p:nvGraphicFramePr>
          <p:cNvPr id="22" name="Tabla niveles"/>
          <p:cNvGraphicFramePr>
            <a:graphicFrameLocks noGrp="1"/>
          </p:cNvGraphicFramePr>
          <p:nvPr/>
        </p:nvGraphicFramePr>
        <p:xfrm>
          <a:off x="5760720" y="3090672"/>
          <a:ext cx="2770632" cy="16642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61288"/>
                <a:gridCol w="804672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Nivel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Macroproceso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Subprocesos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Actividades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9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Por levantar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192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9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Por levantar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Cobertura"/>
          <p:cNvSpPr txBox="1"/>
          <p:nvPr/>
        </p:nvSpPr>
        <p:spPr>
          <a:xfrm>
            <a:off x="5760720" y="4864608"/>
            <a:ext cx="2971800" cy="107899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MP8: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14 de las 18 fases del flujo único segmentadas; restan nómina, clima, desvinculación y datos (F15 a F18).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MP21: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estructura de procesos y subprocesos; inicia el levantamiento del ciclo del contrato.</a:t>
            </a:r>
          </a:p>
        </p:txBody>
      </p:sp>
      <p:sp>
        <p:nvSpPr>
          <p:cNvPr id="24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2. Apertura del macroproceso MP8 en el manual de procesos v1. Fuente: elaboración propia.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(2 de 4)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Ejemplo del manual MP8: subproceso C.1 Requisición y apertura de vacante.</a:t>
            </a:r>
          </a:p>
        </p:txBody>
      </p:sp>
      <p:pic>
        <p:nvPicPr>
          <p:cNvPr id="7" name="Captura flujograma C.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77440"/>
            <a:ext cx="4297680" cy="2170364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377440"/>
            <a:ext cx="4297680" cy="217036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1150480" y="3367557"/>
            <a:ext cx="179369" cy="82510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1039838" y="3256914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2334315" y="3378319"/>
            <a:ext cx="373087" cy="32286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2616877" y="326767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3783616" y="2653668"/>
            <a:ext cx="904019" cy="179368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3672974" y="2543026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15" name="Captura tareas C.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377440"/>
            <a:ext cx="3822192" cy="1115944"/>
          </a:xfrm>
          <a:prstGeom prst="rect">
            <a:avLst/>
          </a:prstGeom>
        </p:spPr>
      </p:pic>
      <p:sp>
        <p:nvSpPr>
          <p:cNvPr id="16" name="Borde captura"/>
          <p:cNvSpPr/>
          <p:nvPr/>
        </p:nvSpPr>
        <p:spPr>
          <a:xfrm>
            <a:off x="4910328" y="2377440"/>
            <a:ext cx="3822192" cy="1115944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7" name="Senal 4"/>
          <p:cNvSpPr/>
          <p:nvPr/>
        </p:nvSpPr>
        <p:spPr>
          <a:xfrm>
            <a:off x="7435705" y="2517360"/>
            <a:ext cx="853168" cy="8872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Marca 4"/>
          <p:cNvSpPr/>
          <p:nvPr/>
        </p:nvSpPr>
        <p:spPr>
          <a:xfrm>
            <a:off x="8198347" y="2406717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9" name="Senal 5"/>
          <p:cNvSpPr/>
          <p:nvPr/>
        </p:nvSpPr>
        <p:spPr>
          <a:xfrm>
            <a:off x="7428880" y="2865452"/>
            <a:ext cx="262776" cy="75079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Marca 5"/>
          <p:cNvSpPr/>
          <p:nvPr/>
        </p:nvSpPr>
        <p:spPr>
          <a:xfrm>
            <a:off x="7601130" y="2754810"/>
            <a:ext cx="201168" cy="20116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" name="Ley marca 1"/>
          <p:cNvSpPr/>
          <p:nvPr/>
        </p:nvSpPr>
        <p:spPr>
          <a:xfrm>
            <a:off x="4910328" y="36031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2" name="Ley texto 1"/>
          <p:cNvSpPr txBox="1"/>
          <p:nvPr/>
        </p:nvSpPr>
        <p:spPr>
          <a:xfrm>
            <a:off x="5184648" y="3584824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Código MGO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la actividad (C.1.1).</a:t>
            </a:r>
          </a:p>
        </p:txBody>
      </p:sp>
      <p:sp>
        <p:nvSpPr>
          <p:cNvPr id="23" name="Ley marca 2"/>
          <p:cNvSpPr/>
          <p:nvPr/>
        </p:nvSpPr>
        <p:spPr>
          <a:xfrm>
            <a:off x="4910328" y="382256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" name="Ley texto 2"/>
          <p:cNvSpPr txBox="1"/>
          <p:nvPr/>
        </p:nvSpPr>
        <p:spPr>
          <a:xfrm>
            <a:off x="5184648" y="3804280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Decisión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flujo: proceso masivo o individual.</a:t>
            </a:r>
          </a:p>
        </p:txBody>
      </p:sp>
      <p:sp>
        <p:nvSpPr>
          <p:cNvPr id="25" name="Ley marca 3"/>
          <p:cNvSpPr/>
          <p:nvPr/>
        </p:nvSpPr>
        <p:spPr>
          <a:xfrm>
            <a:off x="4910328" y="4042024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6" name="Ley texto 3"/>
          <p:cNvSpPr txBox="1"/>
          <p:nvPr/>
        </p:nvSpPr>
        <p:spPr>
          <a:xfrm>
            <a:off x="5184648" y="4023736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Soporte, herramientas, KPI y dueño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del subproceso.</a:t>
            </a:r>
          </a:p>
        </p:txBody>
      </p:sp>
      <p:sp>
        <p:nvSpPr>
          <p:cNvPr id="27" name="Ley marca 4"/>
          <p:cNvSpPr/>
          <p:nvPr/>
        </p:nvSpPr>
        <p:spPr>
          <a:xfrm>
            <a:off x="4910328" y="426148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8" name="Ley texto 4"/>
          <p:cNvSpPr txBox="1"/>
          <p:nvPr/>
        </p:nvSpPr>
        <p:spPr>
          <a:xfrm>
            <a:off x="5184648" y="4243192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Tarea con responsable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identificado.</a:t>
            </a:r>
          </a:p>
        </p:txBody>
      </p:sp>
      <p:sp>
        <p:nvSpPr>
          <p:cNvPr id="29" name="Ley marca 5"/>
          <p:cNvSpPr/>
          <p:nvPr/>
        </p:nvSpPr>
        <p:spPr>
          <a:xfrm>
            <a:off x="4910328" y="4480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0" name="Ley texto 5"/>
          <p:cNvSpPr txBox="1"/>
          <p:nvPr/>
        </p:nvSpPr>
        <p:spPr>
          <a:xfrm>
            <a:off x="5184648" y="4462648"/>
            <a:ext cx="3547872" cy="20116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950" dirty="0" b="1">
                <a:solidFill>
                  <a:srgbClr val="17375E"/>
                </a:solidFill>
                <a:latin typeface="Calibri"/>
                <a:cs typeface="Calibri"/>
              </a:rPr>
              <a:t>Responsable pendiente</a:t>
            </a: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 de levantar.</a:t>
            </a:r>
          </a:p>
        </p:txBody>
      </p:sp>
      <p:sp>
        <p:nvSpPr>
          <p:cNvPr id="31" name="Encabezado"/>
          <p:cNvSpPr txBox="1"/>
          <p:nvPr/>
        </p:nvSpPr>
        <p:spPr>
          <a:xfrm>
            <a:off x="411480" y="4694108"/>
            <a:ext cx="42976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Estado del contenido de MP8 (tareas)</a:t>
            </a:r>
          </a:p>
        </p:txBody>
      </p:sp>
      <p:graphicFrame>
        <p:nvGraphicFramePr>
          <p:cNvPr id="32" name="Tabla estado"/>
          <p:cNvGraphicFramePr>
            <a:graphicFrameLocks noGrp="1"/>
          </p:cNvGraphicFramePr>
          <p:nvPr/>
        </p:nvGraphicFramePr>
        <p:xfrm>
          <a:off x="411480" y="4986716"/>
          <a:ext cx="4297680" cy="9966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1720"/>
                <a:gridCol w="77724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Tareas (n = 192)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N.º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Levantadas en terreno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171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89,1 %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Propuestas, por validar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10,9 %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Con responsable identificado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43,2 %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3. Flujograma y tabla de actividades y tareas del subproceso C.1 (manual MP8 v1). En el manual, el texto naranjo identifica propuestas por validar.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(3 de 4)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SIPOC del macroproceso MP8: cómo se articulan sus cinco procesos.</a:t>
            </a:r>
          </a:p>
        </p:txBody>
      </p:sp>
      <p:pic>
        <p:nvPicPr>
          <p:cNvPr id="7" name="Captura SIPOC MP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77840" cy="3077108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395728"/>
            <a:ext cx="5577840" cy="3077108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499796" y="3144088"/>
            <a:ext cx="1757020" cy="104119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79095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2433447" y="3232404"/>
            <a:ext cx="1501369" cy="1338682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3836060" y="3111703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4157929" y="3144088"/>
            <a:ext cx="1594333" cy="132473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5653507" y="302338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5" name="Senal 4"/>
          <p:cNvSpPr/>
          <p:nvPr/>
        </p:nvSpPr>
        <p:spPr>
          <a:xfrm>
            <a:off x="453314" y="4928997"/>
            <a:ext cx="5475580" cy="446227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Marca 4"/>
          <p:cNvSpPr/>
          <p:nvPr/>
        </p:nvSpPr>
        <p:spPr>
          <a:xfrm>
            <a:off x="332613" y="5276469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7" name="Encabezado"/>
          <p:cNvSpPr txBox="1"/>
          <p:nvPr/>
        </p:nvSpPr>
        <p:spPr>
          <a:xfrm>
            <a:off x="6263640" y="2395728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Qué muestra</a:t>
            </a:r>
          </a:p>
        </p:txBody>
      </p:sp>
      <p:sp>
        <p:nvSpPr>
          <p:cNvPr id="18" name="Ley marca 1"/>
          <p:cNvSpPr/>
          <p:nvPr/>
        </p:nvSpPr>
        <p:spPr>
          <a:xfrm>
            <a:off x="6263640" y="276148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9" name="Ley texto 1"/>
          <p:cNvSpPr txBox="1"/>
          <p:nvPr/>
        </p:nvSpPr>
        <p:spPr>
          <a:xfrm>
            <a:off x="6537960" y="2743200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Proveedores y entradas: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desde el plan estratégico hasta la normativa laboral.</a:t>
            </a:r>
          </a:p>
        </p:txBody>
      </p:sp>
      <p:sp>
        <p:nvSpPr>
          <p:cNvPr id="20" name="Ley marca 2"/>
          <p:cNvSpPr/>
          <p:nvPr/>
        </p:nvSpPr>
        <p:spPr>
          <a:xfrm>
            <a:off x="6263640" y="3410712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Ley texto 2"/>
          <p:cNvSpPr txBox="1"/>
          <p:nvPr/>
        </p:nvSpPr>
        <p:spPr>
          <a:xfrm>
            <a:off x="6537960" y="3392424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Cinco procesos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encadenados, de la dotación a la compensación.</a:t>
            </a:r>
          </a:p>
        </p:txBody>
      </p:sp>
      <p:sp>
        <p:nvSpPr>
          <p:cNvPr id="22" name="Ley marca 3"/>
          <p:cNvSpPr/>
          <p:nvPr/>
        </p:nvSpPr>
        <p:spPr>
          <a:xfrm>
            <a:off x="6263640" y="405993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3" name="Ley texto 3"/>
          <p:cNvSpPr txBox="1"/>
          <p:nvPr/>
        </p:nvSpPr>
        <p:spPr>
          <a:xfrm>
            <a:off x="6537960" y="4041648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Salidas y clientes: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personas contratadas, habilitadas y retribuidas.</a:t>
            </a:r>
          </a:p>
        </p:txBody>
      </p:sp>
      <p:sp>
        <p:nvSpPr>
          <p:cNvPr id="24" name="Ley marca 4"/>
          <p:cNvSpPr/>
          <p:nvPr/>
        </p:nvSpPr>
        <p:spPr>
          <a:xfrm>
            <a:off x="6263640" y="470916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" name="Ley texto 4"/>
          <p:cNvSpPr txBox="1"/>
          <p:nvPr/>
        </p:nvSpPr>
        <p:spPr>
          <a:xfrm>
            <a:off x="6537960" y="4690872"/>
            <a:ext cx="219456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Macroprocesos de soporte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con que interactúa MP8.</a:t>
            </a:r>
          </a:p>
        </p:txBody>
      </p:sp>
      <p:sp>
        <p:nvSpPr>
          <p:cNvPr id="26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4. SIPOC del macroproceso Gestión de Personas (manual MP8 v1). Fuente: elaboración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OE1 (4 de 4)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93392"/>
            <a:ext cx="832104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MP21: estructura definida y levantamiento del ciclo del contrato en curso.</a:t>
            </a:r>
          </a:p>
        </p:txBody>
      </p:sp>
      <p:pic>
        <p:nvPicPr>
          <p:cNvPr id="7" name="Captura ficha MP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395728"/>
            <a:ext cx="5577840" cy="3021330"/>
          </a:xfrm>
          <a:prstGeom prst="rect">
            <a:avLst/>
          </a:prstGeom>
        </p:spPr>
      </p:pic>
      <p:sp>
        <p:nvSpPr>
          <p:cNvPr id="8" name="Borde captura"/>
          <p:cNvSpPr/>
          <p:nvPr/>
        </p:nvSpPr>
        <p:spPr>
          <a:xfrm>
            <a:off x="411480" y="2395728"/>
            <a:ext cx="5577840" cy="3021330"/>
          </a:xfrm>
          <a:prstGeom prst="rect">
            <a:avLst/>
          </a:prstGeom>
          <a:noFill/>
          <a:ln w="9525">
            <a:solidFill>
              <a:srgbClr val="B8C6D9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" name="Senal 1"/>
          <p:cNvSpPr/>
          <p:nvPr/>
        </p:nvSpPr>
        <p:spPr>
          <a:xfrm>
            <a:off x="495148" y="2814066"/>
            <a:ext cx="5387264" cy="371856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" name="Marca 1"/>
          <p:cNvSpPr/>
          <p:nvPr/>
        </p:nvSpPr>
        <p:spPr>
          <a:xfrm>
            <a:off x="374447" y="2693365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Senal 2"/>
          <p:cNvSpPr/>
          <p:nvPr/>
        </p:nvSpPr>
        <p:spPr>
          <a:xfrm>
            <a:off x="495148" y="4282897"/>
            <a:ext cx="2575103" cy="999363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Marca 2"/>
          <p:cNvSpPr/>
          <p:nvPr/>
        </p:nvSpPr>
        <p:spPr>
          <a:xfrm>
            <a:off x="374447" y="5183505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3" name="Senal 3"/>
          <p:cNvSpPr/>
          <p:nvPr/>
        </p:nvSpPr>
        <p:spPr>
          <a:xfrm>
            <a:off x="495148" y="3223108"/>
            <a:ext cx="5350078" cy="1022604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Marca 3"/>
          <p:cNvSpPr/>
          <p:nvPr/>
        </p:nvSpPr>
        <p:spPr>
          <a:xfrm>
            <a:off x="5746471" y="3102407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5" name="Senal 4"/>
          <p:cNvSpPr/>
          <p:nvPr/>
        </p:nvSpPr>
        <p:spPr>
          <a:xfrm>
            <a:off x="3205048" y="4282897"/>
            <a:ext cx="2640178" cy="999363"/>
          </a:xfrm>
          <a:prstGeom prst="rect">
            <a:avLst/>
          </a:prstGeom>
          <a:noFill/>
          <a:ln w="25400">
            <a:solidFill>
              <a:srgbClr val="1737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6" name="Marca 4"/>
          <p:cNvSpPr/>
          <p:nvPr/>
        </p:nvSpPr>
        <p:spPr>
          <a:xfrm>
            <a:off x="5746471" y="5183505"/>
            <a:ext cx="219456" cy="21945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10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7" name="Encabezado"/>
          <p:cNvSpPr txBox="1"/>
          <p:nvPr/>
        </p:nvSpPr>
        <p:spPr>
          <a:xfrm>
            <a:off x="6263640" y="2395728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Estado del manual MP21</a:t>
            </a:r>
          </a:p>
        </p:txBody>
      </p:sp>
      <p:sp>
        <p:nvSpPr>
          <p:cNvPr id="18" name="Ley marca 1"/>
          <p:cNvSpPr/>
          <p:nvPr/>
        </p:nvSpPr>
        <p:spPr>
          <a:xfrm>
            <a:off x="6263640" y="276148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9" name="Ley texto 1"/>
          <p:cNvSpPr txBox="1"/>
          <p:nvPr/>
        </p:nvSpPr>
        <p:spPr>
          <a:xfrm>
            <a:off x="6537960" y="2743200"/>
            <a:ext cx="219456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Objetivo definido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; propósito propuesto por validar.</a:t>
            </a:r>
          </a:p>
        </p:txBody>
      </p:sp>
      <p:sp>
        <p:nvSpPr>
          <p:cNvPr id="20" name="Ley marca 2"/>
          <p:cNvSpPr/>
          <p:nvPr/>
        </p:nvSpPr>
        <p:spPr>
          <a:xfrm>
            <a:off x="6263640" y="3236976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Ley texto 2"/>
          <p:cNvSpPr txBox="1"/>
          <p:nvPr/>
        </p:nvSpPr>
        <p:spPr>
          <a:xfrm>
            <a:off x="6537960" y="3218688"/>
            <a:ext cx="2194560" cy="5577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Dueño identificado: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Subgerencia de Administración y jefes zonales.</a:t>
            </a:r>
          </a:p>
        </p:txBody>
      </p:sp>
      <p:sp>
        <p:nvSpPr>
          <p:cNvPr id="22" name="Ley marca 3"/>
          <p:cNvSpPr/>
          <p:nvPr/>
        </p:nvSpPr>
        <p:spPr>
          <a:xfrm>
            <a:off x="6263640" y="3886200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3" name="Ley texto 3"/>
          <p:cNvSpPr txBox="1"/>
          <p:nvPr/>
        </p:nvSpPr>
        <p:spPr>
          <a:xfrm>
            <a:off x="6537960" y="3867912"/>
            <a:ext cx="219456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Entradas y salidas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pendientes de levantamiento.</a:t>
            </a:r>
          </a:p>
        </p:txBody>
      </p:sp>
      <p:sp>
        <p:nvSpPr>
          <p:cNvPr id="24" name="Ley marca 4"/>
          <p:cNvSpPr/>
          <p:nvPr/>
        </p:nvSpPr>
        <p:spPr>
          <a:xfrm>
            <a:off x="6263640" y="4361688"/>
            <a:ext cx="201168" cy="201168"/>
          </a:xfrm>
          <a:prstGeom prst="ellipse">
            <a:avLst/>
          </a:prstGeom>
          <a:solidFill>
            <a:srgbClr val="1737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s-CL" sz="900" dirty="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" name="Ley texto 4"/>
          <p:cNvSpPr txBox="1"/>
          <p:nvPr/>
        </p:nvSpPr>
        <p:spPr>
          <a:xfrm>
            <a:off x="6537960" y="4343400"/>
            <a:ext cx="2194560" cy="21031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KPI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pendientes de levantamiento.</a:t>
            </a:r>
          </a:p>
        </p:txBody>
      </p:sp>
      <p:sp>
        <p:nvSpPr>
          <p:cNvPr id="26" name="Regla"/>
          <p:cNvSpPr/>
          <p:nvPr/>
        </p:nvSpPr>
        <p:spPr>
          <a:xfrm>
            <a:off x="6263640" y="4773168"/>
            <a:ext cx="2468880" cy="12802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7" name="Estructura"/>
          <p:cNvSpPr txBox="1"/>
          <p:nvPr/>
        </p:nvSpPr>
        <p:spPr>
          <a:xfrm>
            <a:off x="6263640" y="4846320"/>
            <a:ext cx="2468880" cy="11887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4 procesos y 11 subprocesos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 según el mapa de procesos vigente: gestión estratégica, planificación, administración y término de contrato.</a:t>
            </a:r>
          </a:p>
        </p:txBody>
      </p:sp>
      <p:sp>
        <p:nvSpPr>
          <p:cNvPr id="28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Figura 5. Ficha resumen de Gestión de Servicios Generales (manual MP21 v1). En gris, contenido pendiente de levantamiento.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OE2 (1 de 2)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6" name="Estado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 b="1">
                <a:solidFill>
                  <a:srgbClr val="17375E"/>
                </a:solidFill>
                <a:latin typeface="Calibri"/>
                <a:cs typeface="Calibri"/>
              </a:rPr>
              <a:t>Actividades realizadas. </a:t>
            </a: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OE2 se inicia en la semana 12 según el plan; a la fecha no se han realizado talleres de evaluación. El resultado de este periodo es el universo de tareas que se evaluará, definido por OE1.</a:t>
            </a:r>
          </a:p>
        </p:txBody>
      </p:sp>
      <p:sp>
        <p:nvSpPr>
          <p:cNvPr id="7" name="Encabezado"/>
          <p:cNvSpPr txBox="1"/>
          <p:nvPr/>
        </p:nvSpPr>
        <p:spPr>
          <a:xfrm>
            <a:off x="411480" y="2670048"/>
            <a:ext cx="51206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Tareas de MP8 por proceso (universo de OE2)</a:t>
            </a:r>
          </a:p>
        </p:txBody>
      </p:sp>
      <p:sp>
        <p:nvSpPr>
          <p:cNvPr id="8" name="Barra rotulo A"/>
          <p:cNvSpPr txBox="1"/>
          <p:nvPr/>
        </p:nvSpPr>
        <p:spPr>
          <a:xfrm>
            <a:off x="411480" y="3035808"/>
            <a:ext cx="18745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A Necesidad y dotación</a:t>
            </a:r>
          </a:p>
        </p:txBody>
      </p:sp>
      <p:sp>
        <p:nvSpPr>
          <p:cNvPr id="9" name="Barra prop A"/>
          <p:cNvSpPr/>
          <p:nvPr/>
        </p:nvSpPr>
        <p:spPr>
          <a:xfrm>
            <a:off x="2350008" y="3090672"/>
            <a:ext cx="363633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" name="Barra valor A"/>
          <p:cNvSpPr txBox="1"/>
          <p:nvPr/>
        </p:nvSpPr>
        <p:spPr>
          <a:xfrm>
            <a:off x="2759361" y="3035808"/>
            <a:ext cx="5029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11" name="Barra rotulo B"/>
          <p:cNvSpPr txBox="1"/>
          <p:nvPr/>
        </p:nvSpPr>
        <p:spPr>
          <a:xfrm>
            <a:off x="411480" y="3401568"/>
            <a:ext cx="18745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B Valoración de cargo</a:t>
            </a:r>
          </a:p>
        </p:txBody>
      </p:sp>
      <p:sp>
        <p:nvSpPr>
          <p:cNvPr id="12" name="Barra lev B"/>
          <p:cNvSpPr/>
          <p:nvPr/>
        </p:nvSpPr>
        <p:spPr>
          <a:xfrm>
            <a:off x="2350008" y="3456432"/>
            <a:ext cx="151514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Barra prop B"/>
          <p:cNvSpPr/>
          <p:nvPr/>
        </p:nvSpPr>
        <p:spPr>
          <a:xfrm>
            <a:off x="2501522" y="3456432"/>
            <a:ext cx="242422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Barra valor B"/>
          <p:cNvSpPr txBox="1"/>
          <p:nvPr/>
        </p:nvSpPr>
        <p:spPr>
          <a:xfrm>
            <a:off x="2789664" y="3401568"/>
            <a:ext cx="5029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15" name="Barra rotulo C"/>
          <p:cNvSpPr txBox="1"/>
          <p:nvPr/>
        </p:nvSpPr>
        <p:spPr>
          <a:xfrm>
            <a:off x="411480" y="3767328"/>
            <a:ext cx="18745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C Atracción y selección</a:t>
            </a:r>
          </a:p>
        </p:txBody>
      </p:sp>
      <p:sp>
        <p:nvSpPr>
          <p:cNvPr id="16" name="Barra lev C"/>
          <p:cNvSpPr/>
          <p:nvPr/>
        </p:nvSpPr>
        <p:spPr>
          <a:xfrm>
            <a:off x="2350008" y="3822192"/>
            <a:ext cx="2606040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" name="Barra valor C"/>
          <p:cNvSpPr txBox="1"/>
          <p:nvPr/>
        </p:nvSpPr>
        <p:spPr>
          <a:xfrm>
            <a:off x="5001768" y="3767328"/>
            <a:ext cx="5029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86</a:t>
            </a:r>
          </a:p>
        </p:txBody>
      </p:sp>
      <p:sp>
        <p:nvSpPr>
          <p:cNvPr id="18" name="Barra rotulo D"/>
          <p:cNvSpPr txBox="1"/>
          <p:nvPr/>
        </p:nvSpPr>
        <p:spPr>
          <a:xfrm>
            <a:off x="411480" y="4133088"/>
            <a:ext cx="18745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 Desarrollo organizacional</a:t>
            </a:r>
          </a:p>
        </p:txBody>
      </p:sp>
      <p:sp>
        <p:nvSpPr>
          <p:cNvPr id="19" name="Barra lev D"/>
          <p:cNvSpPr/>
          <p:nvPr/>
        </p:nvSpPr>
        <p:spPr>
          <a:xfrm>
            <a:off x="2350008" y="4187952"/>
            <a:ext cx="1757562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Barra prop D"/>
          <p:cNvSpPr/>
          <p:nvPr/>
        </p:nvSpPr>
        <p:spPr>
          <a:xfrm>
            <a:off x="4107570" y="4187952"/>
            <a:ext cx="30303" cy="201168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" name="Barra valor D"/>
          <p:cNvSpPr txBox="1"/>
          <p:nvPr/>
        </p:nvSpPr>
        <p:spPr>
          <a:xfrm>
            <a:off x="4183593" y="4133088"/>
            <a:ext cx="5029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59</a:t>
            </a:r>
          </a:p>
        </p:txBody>
      </p:sp>
      <p:sp>
        <p:nvSpPr>
          <p:cNvPr id="22" name="Barra rotulo E"/>
          <p:cNvSpPr txBox="1"/>
          <p:nvPr/>
        </p:nvSpPr>
        <p:spPr>
          <a:xfrm>
            <a:off x="411480" y="4498848"/>
            <a:ext cx="18745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E Compensaciones</a:t>
            </a:r>
          </a:p>
        </p:txBody>
      </p:sp>
      <p:sp>
        <p:nvSpPr>
          <p:cNvPr id="23" name="Barra lev E"/>
          <p:cNvSpPr/>
          <p:nvPr/>
        </p:nvSpPr>
        <p:spPr>
          <a:xfrm>
            <a:off x="2350008" y="4553712"/>
            <a:ext cx="666661" cy="20116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" name="Barra valor E"/>
          <p:cNvSpPr txBox="1"/>
          <p:nvPr/>
        </p:nvSpPr>
        <p:spPr>
          <a:xfrm>
            <a:off x="3062389" y="4498848"/>
            <a:ext cx="50292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5" name="Ley lev"/>
          <p:cNvSpPr/>
          <p:nvPr/>
        </p:nvSpPr>
        <p:spPr>
          <a:xfrm>
            <a:off x="2350008" y="4956048"/>
            <a:ext cx="182880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6" name="Ley lev t"/>
          <p:cNvSpPr txBox="1"/>
          <p:nvPr/>
        </p:nvSpPr>
        <p:spPr>
          <a:xfrm>
            <a:off x="2578608" y="4892040"/>
            <a:ext cx="109728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Levantadas</a:t>
            </a:r>
          </a:p>
        </p:txBody>
      </p:sp>
      <p:sp>
        <p:nvSpPr>
          <p:cNvPr id="27" name="Ley prop"/>
          <p:cNvSpPr/>
          <p:nvPr/>
        </p:nvSpPr>
        <p:spPr>
          <a:xfrm>
            <a:off x="3630168" y="4956048"/>
            <a:ext cx="182880" cy="128016"/>
          </a:xfrm>
          <a:prstGeom prst="rect">
            <a:avLst/>
          </a:prstGeom>
          <a:solidFill>
            <a:srgbClr val="A9C4E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8" name="Ley prop t"/>
          <p:cNvSpPr txBox="1"/>
          <p:nvPr/>
        </p:nvSpPr>
        <p:spPr>
          <a:xfrm>
            <a:off x="3858768" y="4892040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50" dirty="0">
                <a:solidFill>
                  <a:srgbClr val="3A3A3A"/>
                </a:solidFill>
                <a:latin typeface="Calibri"/>
                <a:cs typeface="Calibri"/>
              </a:rPr>
              <a:t>Propuestas por validar</a:t>
            </a:r>
          </a:p>
        </p:txBody>
      </p:sp>
      <p:sp>
        <p:nvSpPr>
          <p:cNvPr id="29" name="Regla vertical"/>
          <p:cNvSpPr/>
          <p:nvPr/>
        </p:nvSpPr>
        <p:spPr>
          <a:xfrm>
            <a:off x="5650992" y="2724912"/>
            <a:ext cx="12802" cy="3108960"/>
          </a:xfrm>
          <a:prstGeom prst="rect">
            <a:avLst/>
          </a:prstGeom>
          <a:solidFill>
            <a:srgbClr val="B8C6D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0" name="Encabezado"/>
          <p:cNvSpPr txBox="1"/>
          <p:nvPr/>
        </p:nvSpPr>
        <p:spPr>
          <a:xfrm>
            <a:off x="5852160" y="2670048"/>
            <a:ext cx="28803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50" dirty="0" b="1">
                <a:solidFill>
                  <a:srgbClr val="1F497D"/>
                </a:solidFill>
                <a:latin typeface="Calibri"/>
                <a:cs typeface="Calibri"/>
              </a:rPr>
              <a:t>Condiciones para iniciar</a:t>
            </a:r>
          </a:p>
        </p:txBody>
      </p:sp>
      <p:sp>
        <p:nvSpPr>
          <p:cNvPr id="31" name="Cond num 1"/>
          <p:cNvSpPr txBox="1"/>
          <p:nvPr/>
        </p:nvSpPr>
        <p:spPr>
          <a:xfrm>
            <a:off x="5852160" y="3035808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2" name="Cond 1"/>
          <p:cNvSpPr txBox="1"/>
          <p:nvPr/>
        </p:nvSpPr>
        <p:spPr>
          <a:xfrm>
            <a:off x="6126480" y="3035808"/>
            <a:ext cx="2606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Validar las 21 tareas propuestas.</a:t>
            </a:r>
          </a:p>
        </p:txBody>
      </p:sp>
      <p:sp>
        <p:nvSpPr>
          <p:cNvPr id="33" name="Cond num 2"/>
          <p:cNvSpPr txBox="1"/>
          <p:nvPr/>
        </p:nvSpPr>
        <p:spPr>
          <a:xfrm>
            <a:off x="5852160" y="3639312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4" name="Cond 2"/>
          <p:cNvSpPr txBox="1"/>
          <p:nvPr/>
        </p:nvSpPr>
        <p:spPr>
          <a:xfrm>
            <a:off x="6126480" y="3639312"/>
            <a:ext cx="2606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Identificar 109 responsables pendientes.</a:t>
            </a:r>
          </a:p>
        </p:txBody>
      </p:sp>
      <p:sp>
        <p:nvSpPr>
          <p:cNvPr id="35" name="Cond num 3"/>
          <p:cNvSpPr txBox="1"/>
          <p:nvPr/>
        </p:nvSpPr>
        <p:spPr>
          <a:xfrm>
            <a:off x="5852160" y="4242816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6" name="Cond 3"/>
          <p:cNvSpPr txBox="1"/>
          <p:nvPr/>
        </p:nvSpPr>
        <p:spPr>
          <a:xfrm>
            <a:off x="6126480" y="4242816"/>
            <a:ext cx="2606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Incorporar F15 a F18 al manual MP8.</a:t>
            </a:r>
          </a:p>
        </p:txBody>
      </p:sp>
      <p:sp>
        <p:nvSpPr>
          <p:cNvPr id="37" name="Cond num 4"/>
          <p:cNvSpPr txBox="1"/>
          <p:nvPr/>
        </p:nvSpPr>
        <p:spPr>
          <a:xfrm>
            <a:off x="5852160" y="4846320"/>
            <a:ext cx="256032" cy="402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buNone/>
            </a:pPr>
            <a:r>
              <a:rPr lang="es-CL" sz="1200" dirty="0" b="1">
                <a:solidFill>
                  <a:srgbClr val="4F81BD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8" name="Cond 4"/>
          <p:cNvSpPr txBox="1"/>
          <p:nvPr/>
        </p:nvSpPr>
        <p:spPr>
          <a:xfrm>
            <a:off x="6126480" y="4846320"/>
            <a:ext cx="2606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Levantar actividades y tareas de MP21.</a:t>
            </a:r>
          </a:p>
        </p:txBody>
      </p:sp>
      <p:sp>
        <p:nvSpPr>
          <p:cNvPr id="39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 a partir del manual MP8 v1. Una tarea no descrita no puede evaluarse: estas condiciones fijan la cobertura alcanzable del TCER.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Desarrollo y resultados del OE2 (2 de 2)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2029968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6000"/>
              </a:lnSpc>
              <a:buNone/>
            </a:pPr>
            <a:r>
              <a:rPr lang="es-CL" sz="1150" dirty="0">
                <a:solidFill>
                  <a:srgbClr val="3A3A3A"/>
                </a:solidFill>
                <a:latin typeface="Calibri"/>
                <a:cs typeface="Calibri"/>
              </a:rPr>
              <a:t>La matriz de riesgos se construye sobre la tabla de actividades y tareas del manual: cada fila es una tarea con su código y responsable, a la que se agregan los siete atributos de COSO II.</a:t>
            </a:r>
          </a:p>
        </p:txBody>
      </p:sp>
      <p:sp>
        <p:nvSpPr>
          <p:cNvPr id="7" name="Encabezado"/>
          <p:cNvSpPr txBox="1"/>
          <p:nvPr/>
        </p:nvSpPr>
        <p:spPr>
          <a:xfrm>
            <a:off x="411480" y="2697480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Desde el manual de procesos (OE1)</a:t>
            </a:r>
          </a:p>
        </p:txBody>
      </p:sp>
      <p:sp>
        <p:nvSpPr>
          <p:cNvPr id="8" name="Regla"/>
          <p:cNvSpPr/>
          <p:nvPr/>
        </p:nvSpPr>
        <p:spPr>
          <a:xfrm>
            <a:off x="411480" y="3008376"/>
            <a:ext cx="3566160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Origen Código MGO"/>
          <p:cNvSpPr txBox="1"/>
          <p:nvPr/>
        </p:nvSpPr>
        <p:spPr>
          <a:xfrm>
            <a:off x="411480" y="3081528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Código MGO</a:t>
            </a:r>
          </a:p>
        </p:txBody>
      </p:sp>
      <p:sp>
        <p:nvSpPr>
          <p:cNvPr id="10" name="Origen Subproceso y actividad"/>
          <p:cNvSpPr txBox="1"/>
          <p:nvPr/>
        </p:nvSpPr>
        <p:spPr>
          <a:xfrm>
            <a:off x="411480" y="3346704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Subproceso y actividad</a:t>
            </a:r>
          </a:p>
        </p:txBody>
      </p:sp>
      <p:sp>
        <p:nvSpPr>
          <p:cNvPr id="11" name="Origen Tarea"/>
          <p:cNvSpPr txBox="1"/>
          <p:nvPr/>
        </p:nvSpPr>
        <p:spPr>
          <a:xfrm>
            <a:off x="411480" y="3611880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Tarea</a:t>
            </a:r>
          </a:p>
        </p:txBody>
      </p:sp>
      <p:sp>
        <p:nvSpPr>
          <p:cNvPr id="12" name="Origen Responsable"/>
          <p:cNvSpPr txBox="1"/>
          <p:nvPr/>
        </p:nvSpPr>
        <p:spPr>
          <a:xfrm>
            <a:off x="411480" y="3877056"/>
            <a:ext cx="3566160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Responsable</a:t>
            </a:r>
          </a:p>
        </p:txBody>
      </p:sp>
      <p:sp>
        <p:nvSpPr>
          <p:cNvPr id="13" name="Flecha"/>
          <p:cNvSpPr/>
          <p:nvPr/>
        </p:nvSpPr>
        <p:spPr>
          <a:xfrm>
            <a:off x="4142232" y="3566160"/>
            <a:ext cx="502920" cy="3291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A6D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" name="Encabezado"/>
          <p:cNvSpPr txBox="1"/>
          <p:nvPr/>
        </p:nvSpPr>
        <p:spPr>
          <a:xfrm>
            <a:off x="4818888" y="2697480"/>
            <a:ext cx="3913632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Atributos COSO II por tarea (OE2)</a:t>
            </a:r>
          </a:p>
        </p:txBody>
      </p:sp>
      <p:sp>
        <p:nvSpPr>
          <p:cNvPr id="15" name="Regla"/>
          <p:cNvSpPr/>
          <p:nvPr/>
        </p:nvSpPr>
        <p:spPr>
          <a:xfrm>
            <a:off x="4818888" y="3008376"/>
            <a:ext cx="3913632" cy="1645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" name="Atributo Evento de riesgo"/>
          <p:cNvSpPr txBox="1"/>
          <p:nvPr/>
        </p:nvSpPr>
        <p:spPr>
          <a:xfrm>
            <a:off x="4818888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Evento de riesgo</a:t>
            </a:r>
          </a:p>
        </p:txBody>
      </p:sp>
      <p:sp>
        <p:nvSpPr>
          <p:cNvPr id="17" name="Atributo Categoría"/>
          <p:cNvSpPr txBox="1"/>
          <p:nvPr/>
        </p:nvSpPr>
        <p:spPr>
          <a:xfrm>
            <a:off x="4818888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Categoría</a:t>
            </a:r>
          </a:p>
        </p:txBody>
      </p:sp>
      <p:sp>
        <p:nvSpPr>
          <p:cNvPr id="18" name="Atributo Probabilidad"/>
          <p:cNvSpPr txBox="1"/>
          <p:nvPr/>
        </p:nvSpPr>
        <p:spPr>
          <a:xfrm>
            <a:off x="4818888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Probabilidad</a:t>
            </a:r>
          </a:p>
        </p:txBody>
      </p:sp>
      <p:sp>
        <p:nvSpPr>
          <p:cNvPr id="19" name="Atributo Impacto"/>
          <p:cNvSpPr txBox="1"/>
          <p:nvPr/>
        </p:nvSpPr>
        <p:spPr>
          <a:xfrm>
            <a:off x="4818888" y="3877056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Impacto</a:t>
            </a:r>
          </a:p>
        </p:txBody>
      </p:sp>
      <p:sp>
        <p:nvSpPr>
          <p:cNvPr id="20" name="Atributo Riesgo inherente"/>
          <p:cNvSpPr txBox="1"/>
          <p:nvPr/>
        </p:nvSpPr>
        <p:spPr>
          <a:xfrm>
            <a:off x="6775704" y="3081528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inherente</a:t>
            </a:r>
          </a:p>
        </p:txBody>
      </p:sp>
      <p:sp>
        <p:nvSpPr>
          <p:cNvPr id="21" name="Atributo Controles existentes"/>
          <p:cNvSpPr txBox="1"/>
          <p:nvPr/>
        </p:nvSpPr>
        <p:spPr>
          <a:xfrm>
            <a:off x="6775704" y="3346704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Controles existentes</a:t>
            </a:r>
          </a:p>
        </p:txBody>
      </p:sp>
      <p:sp>
        <p:nvSpPr>
          <p:cNvPr id="22" name="Atributo Riesgo residual"/>
          <p:cNvSpPr txBox="1"/>
          <p:nvPr/>
        </p:nvSpPr>
        <p:spPr>
          <a:xfrm>
            <a:off x="6775704" y="3611880"/>
            <a:ext cx="1956816" cy="2468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050" dirty="0">
                <a:solidFill>
                  <a:srgbClr val="3A3A3A"/>
                </a:solidFill>
                <a:latin typeface="Calibri"/>
                <a:cs typeface="Calibri"/>
              </a:rPr>
              <a:t>Riesgo residual</a:t>
            </a:r>
          </a:p>
        </p:txBody>
      </p:sp>
      <p:sp>
        <p:nvSpPr>
          <p:cNvPr id="23" name="Encabezado"/>
          <p:cNvSpPr txBox="1"/>
          <p:nvPr/>
        </p:nvSpPr>
        <p:spPr>
          <a:xfrm>
            <a:off x="411480" y="4315968"/>
            <a:ext cx="8321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 b="1">
                <a:solidFill>
                  <a:srgbClr val="1F497D"/>
                </a:solidFill>
                <a:latin typeface="Calibri"/>
                <a:cs typeface="Calibri"/>
              </a:rPr>
              <a:t>Ejemplo de fila con datos del manual MP8 (subproceso C.1)</a:t>
            </a:r>
          </a:p>
        </p:txBody>
      </p:sp>
      <p:graphicFrame>
        <p:nvGraphicFramePr>
          <p:cNvPr id="24" name="Tabla ejemplo"/>
          <p:cNvGraphicFramePr>
            <a:graphicFrameLocks noGrp="1"/>
          </p:cNvGraphicFramePr>
          <p:nvPr/>
        </p:nvGraphicFramePr>
        <p:xfrm>
          <a:off x="411480" y="4645152"/>
          <a:ext cx="8321040" cy="1115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66928"/>
                <a:gridCol w="3246120"/>
                <a:gridCol w="1554480"/>
                <a:gridCol w="2953512"/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Código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Tarea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Responsable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Atributos COSO II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17375E"/>
                      </a:solidFill>
                      <a:prstDash val="solid"/>
                    </a:lnT>
                    <a:lnB w="952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Verificar disponibilidad de la vacante con el área de Personas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Área Solicitante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C.1.1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Priorizar la necesidad según urgencia en reunión de inicio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Pendiente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dirty="0" i="1">
                          <a:solidFill>
                            <a:srgbClr val="6B6B6B"/>
                          </a:solidFill>
                          <a:latin typeface="Calibri"/>
                          <a:cs typeface="Calibri"/>
                        </a:rPr>
                        <a:t>Se determina en los talleres A2.1 y A2.2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875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Fuente"/>
          <p:cNvSpPr txBox="1"/>
          <p:nvPr/>
        </p:nvSpPr>
        <p:spPr>
          <a:xfrm>
            <a:off x="411480" y="6053328"/>
            <a:ext cx="758952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850" dirty="0" i="1">
                <a:solidFill>
                  <a:srgbClr val="6B6B6B"/>
                </a:solidFill>
                <a:latin typeface="Calibri"/>
                <a:cs typeface="Calibri"/>
              </a:rPr>
              <a:t>Fuente: elaboración propia. Estructura de atributos según la sección 2.3.2 del informe; tareas y responsables tomados del manual MP8 v1.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TFG"/>
          <p:cNvSpPr txBox="1"/>
          <p:nvPr/>
        </p:nvSpPr>
        <p:spPr>
          <a:xfrm>
            <a:off x="1499616" y="164592"/>
            <a:ext cx="6364224" cy="8961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12000"/>
              </a:lnSpc>
              <a:buNone/>
            </a:pP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3" name="Estudiante"/>
          <p:cNvSpPr txBox="1"/>
          <p:nvPr/>
        </p:nvSpPr>
        <p:spPr>
          <a:xfrm>
            <a:off x="5742432" y="1033272"/>
            <a:ext cx="2020824" cy="219456"/>
          </a:xfrm>
          <a:prstGeom prst="rect">
            <a:avLst/>
          </a:prstGeom>
          <a:noFill/>
        </p:spPr>
        <p:txBody>
          <a:bodyPr wrap="square" lIns="18288" tIns="9144" rIns="18288" bIns="9144" anchor="ctr"/>
          <a:lstStyle/>
          <a:p>
            <a:pPr algn="ctr">
              <a:buNone/>
            </a:pP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| </a:t>
            </a:r>
            <a:r>
              <a:rPr lang="es-CL" sz="900" dirty="0" b="1">
                <a:solidFill>
                  <a:srgbClr val="17375E"/>
                </a:solidFill>
                <a:latin typeface="Calibri"/>
                <a:cs typeface="Calibri"/>
              </a:rPr>
              <a:t>Estudiante: </a:t>
            </a:r>
            <a:r>
              <a:rPr lang="es-CL" sz="900" dirty="0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  <a:r>
              <a:rPr lang="es-CL" sz="900" dirty="0">
                <a:solidFill>
                  <a:srgbClr val="7F7F7F"/>
                </a:solidFill>
                <a:latin typeface="Calibri"/>
                <a:cs typeface="Calibri"/>
              </a:rPr>
              <a:t> |</a:t>
            </a:r>
          </a:p>
        </p:txBody>
      </p:sp>
      <p:sp>
        <p:nvSpPr>
          <p:cNvPr id="4" name="Titulo lamina"/>
          <p:cNvSpPr txBox="1"/>
          <p:nvPr/>
        </p:nvSpPr>
        <p:spPr>
          <a:xfrm>
            <a:off x="411480" y="1335024"/>
            <a:ext cx="832104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2200" dirty="0" b="1">
                <a:solidFill>
                  <a:srgbClr val="595959"/>
                </a:solidFill>
                <a:latin typeface="Calibri"/>
                <a:cs typeface="Calibri"/>
              </a:rPr>
              <a:t>Carta Gantt · Nivel de cumplimiento</a:t>
            </a:r>
          </a:p>
        </p:txBody>
      </p:sp>
      <p:sp>
        <p:nvSpPr>
          <p:cNvPr id="5" name="Numero"/>
          <p:cNvSpPr txBox="1"/>
          <p:nvPr/>
        </p:nvSpPr>
        <p:spPr>
          <a:xfrm>
            <a:off x="8156448" y="6053328"/>
            <a:ext cx="566928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buNone/>
            </a:pPr>
            <a:r>
              <a:rPr lang="es-CL" sz="2000" dirty="0" b="1">
                <a:solidFill>
                  <a:srgbClr val="17375E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6" name="Bajada"/>
          <p:cNvSpPr txBox="1"/>
          <p:nvPr/>
        </p:nvSpPr>
        <p:spPr>
          <a:xfrm>
            <a:off x="411480" y="1975104"/>
            <a:ext cx="832104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Horizonte de 20 semanas, agosto 2026 a enero 2027. Esta presentación corresponde a la </a:t>
            </a:r>
            <a:r>
              <a:rPr lang="es-CL" sz="1100" dirty="0" b="1">
                <a:solidFill>
                  <a:srgbClr val="17375E"/>
                </a:solidFill>
                <a:latin typeface="Calibri"/>
                <a:cs typeface="Calibri"/>
              </a:rPr>
              <a:t>semana 10</a:t>
            </a:r>
            <a:r>
              <a:rPr lang="es-CL" sz="1100" dirty="0">
                <a:solidFill>
                  <a:srgbClr val="3A3A3A"/>
                </a:solidFill>
                <a:latin typeface="Calibri"/>
                <a:cs typeface="Calibri"/>
              </a:rPr>
              <a:t>.</a:t>
            </a:r>
          </a:p>
        </p:txBody>
      </p:sp>
      <p:graphicFrame>
        <p:nvGraphicFramePr>
          <p:cNvPr id="7" name="Tabla Gantt"/>
          <p:cNvGraphicFramePr>
            <a:graphicFrameLocks noGrp="1"/>
          </p:cNvGraphicFramePr>
          <p:nvPr/>
        </p:nvGraphicFramePr>
        <p:xfrm>
          <a:off x="411480" y="2340864"/>
          <a:ext cx="8321040" cy="32186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5728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239573"/>
                <a:gridCol w="1133856"/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Actividad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8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50" dirty="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Estado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75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A1.1–A1.2 Diagnóstico y entrevistas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A1.3.1 Flujo único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Completada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A1.3.2 Segmentación MP8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14 de 18 fases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A1.4.1 Flujo único 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curso, atrasada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A1.4.2 Segmentación MP21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No iniciada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A1.5–A1.6 Manuales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Iniciada (v1)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A2.1–A2.2 Identificación y valoración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A2.3–A2.4 Matriz y validación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A3.1–A3.2 Planes y gobernanza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A3.3–A3.4 Integración y entrega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Planificada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A-G Documentación del TFG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En curso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8C6D9"/>
                      </a:solidFill>
                      <a:prstDash val="solid"/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 b="1">
                          <a:solidFill>
                            <a:srgbClr val="17375E"/>
                          </a:solidFill>
                          <a:latin typeface="Calibri"/>
                          <a:cs typeface="Calibri"/>
                        </a:rPr>
                        <a:t>Hitos A-P1 · A-P2 · A-PF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6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0" marR="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solidFill>
                      <a:srgbClr val="D2E0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90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A-P2 en S10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7375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emana actual"/>
          <p:cNvSpPr/>
          <p:nvPr/>
        </p:nvSpPr>
        <p:spPr>
          <a:xfrm>
            <a:off x="5191963" y="2340864"/>
            <a:ext cx="21946" cy="331012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" name="Semana actual rotulo"/>
          <p:cNvSpPr txBox="1"/>
          <p:nvPr/>
        </p:nvSpPr>
        <p:spPr>
          <a:xfrm>
            <a:off x="4654296" y="5650992"/>
            <a:ext cx="1097280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850" dirty="0" b="1">
                <a:solidFill>
                  <a:srgbClr val="C0504D"/>
                </a:solidFill>
                <a:latin typeface="Calibri"/>
                <a:cs typeface="Calibri"/>
              </a:rPr>
              <a:t>Semana 10</a:t>
            </a:r>
          </a:p>
        </p:txBody>
      </p:sp>
      <p:sp>
        <p:nvSpPr>
          <p:cNvPr id="10" name="Ley Completado"/>
          <p:cNvSpPr/>
          <p:nvPr/>
        </p:nvSpPr>
        <p:spPr>
          <a:xfrm>
            <a:off x="411480" y="5952744"/>
            <a:ext cx="201168" cy="12801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Ley t Completado"/>
          <p:cNvSpPr txBox="1"/>
          <p:nvPr/>
        </p:nvSpPr>
        <p:spPr>
          <a:xfrm>
            <a:off x="658368" y="5907024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Completado</a:t>
            </a:r>
          </a:p>
        </p:txBody>
      </p:sp>
      <p:sp>
        <p:nvSpPr>
          <p:cNvPr id="12" name="Ley Ejecutado o en curso"/>
          <p:cNvSpPr/>
          <p:nvPr/>
        </p:nvSpPr>
        <p:spPr>
          <a:xfrm>
            <a:off x="1737360" y="5952744"/>
            <a:ext cx="201168" cy="12801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" name="Ley t Ejecutado o en curso"/>
          <p:cNvSpPr txBox="1"/>
          <p:nvPr/>
        </p:nvSpPr>
        <p:spPr>
          <a:xfrm>
            <a:off x="1984248" y="5907024"/>
            <a:ext cx="155448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Ejecutado o en curso</a:t>
            </a:r>
          </a:p>
        </p:txBody>
      </p:sp>
      <p:sp>
        <p:nvSpPr>
          <p:cNvPr id="14" name="Ley Planificado"/>
          <p:cNvSpPr/>
          <p:nvPr/>
        </p:nvSpPr>
        <p:spPr>
          <a:xfrm>
            <a:off x="3657600" y="5952744"/>
            <a:ext cx="201168" cy="128016"/>
          </a:xfrm>
          <a:prstGeom prst="rect">
            <a:avLst/>
          </a:prstGeom>
          <a:solidFill>
            <a:srgbClr val="D2E0EF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" name="Ley t Planificado"/>
          <p:cNvSpPr txBox="1"/>
          <p:nvPr/>
        </p:nvSpPr>
        <p:spPr>
          <a:xfrm>
            <a:off x="3904488" y="5907024"/>
            <a:ext cx="960120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buNone/>
            </a:pPr>
            <a:r>
              <a:rPr lang="es-CL" sz="900" dirty="0">
                <a:solidFill>
                  <a:srgbClr val="3A3A3A"/>
                </a:solidFill>
                <a:latin typeface="Calibri"/>
                <a:cs typeface="Calibri"/>
              </a:rPr>
              <a:t>Planificado</a:t>
            </a:r>
          </a:p>
        </p:txBody>
      </p:sp>
      <p:sp>
        <p:nvSpPr>
          <p:cNvPr id="16" name="Cumplimiento"/>
          <p:cNvSpPr txBox="1"/>
          <p:nvPr/>
        </p:nvSpPr>
        <p:spPr>
          <a:xfrm>
            <a:off x="411480" y="6181344"/>
            <a:ext cx="8321040" cy="3657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buNone/>
            </a:pPr>
            <a:r>
              <a:rPr lang="es-CL" sz="1000" dirty="0" b="1">
                <a:solidFill>
                  <a:srgbClr val="17375E"/>
                </a:solidFill>
                <a:latin typeface="Calibri"/>
                <a:cs typeface="Calibri"/>
              </a:rPr>
              <a:t>OE1: </a:t>
            </a:r>
            <a:r>
              <a:rPr lang="es-CL" sz="1000" dirty="0">
                <a:solidFill>
                  <a:srgbClr val="3A3A3A"/>
                </a:solidFill>
                <a:latin typeface="Calibri"/>
                <a:cs typeface="Calibri"/>
              </a:rPr>
              <a:t>de 8 actividades, 3 completadas, 3 en curso y 2 no iniciadas. Atraso principal: levantamiento de MP21.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cias"/>
          <p:cNvSpPr txBox="1"/>
          <p:nvPr/>
        </p:nvSpPr>
        <p:spPr>
          <a:xfrm>
            <a:off x="731520" y="3017520"/>
            <a:ext cx="768096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2600" dirty="0" b="1">
                <a:solidFill>
                  <a:srgbClr val="17375E"/>
                </a:solidFill>
                <a:latin typeface="Calibri"/>
                <a:cs typeface="Calibri"/>
              </a:rPr>
              <a:t>Gracias por su atención</a:t>
            </a:r>
          </a:p>
        </p:txBody>
      </p:sp>
      <p:sp>
        <p:nvSpPr>
          <p:cNvPr id="3" name="Preguntas"/>
          <p:cNvSpPr txBox="1"/>
          <p:nvPr/>
        </p:nvSpPr>
        <p:spPr>
          <a:xfrm>
            <a:off x="731520" y="3639312"/>
            <a:ext cx="76809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400" dirty="0">
                <a:solidFill>
                  <a:srgbClr val="3A3A3A"/>
                </a:solidFill>
                <a:latin typeface="Calibri"/>
                <a:cs typeface="Calibri"/>
              </a:rPr>
              <a:t>Preguntas y comentarios</a:t>
            </a:r>
          </a:p>
        </p:txBody>
      </p:sp>
      <p:sp>
        <p:nvSpPr>
          <p:cNvPr id="4" name="Autoria"/>
          <p:cNvSpPr txBox="1"/>
          <p:nvPr/>
        </p:nvSpPr>
        <p:spPr>
          <a:xfrm>
            <a:off x="731520" y="5815584"/>
            <a:ext cx="7680960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es-CL" sz="1200" dirty="0" b="1">
                <a:solidFill>
                  <a:srgbClr val="17375E"/>
                </a:solidFill>
                <a:latin typeface="Calibri"/>
                <a:cs typeface="Calibri"/>
              </a:rPr>
              <a:t>Bastián Darwit Vera</a:t>
            </a:r>
          </a:p>
          <a:p>
            <a:pPr algn="ctr">
              <a:spcBef>
                <a:spcPts val="200"/>
              </a:spcBef>
              <a:buNone/>
            </a:pPr>
            <a:r>
              <a:rPr lang="es-CL" sz="950" dirty="0">
                <a:solidFill>
                  <a:srgbClr val="6B6B6B"/>
                </a:solidFill>
                <a:latin typeface="Calibri"/>
                <a:cs typeface="Calibri"/>
              </a:rPr>
              <a:t>Magíster en Sistemas de Gestión Integral de la Calidad · Universidad de La Frontera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2 TFG - Bastián Darwit Vera</dc:title>
  <dc:creator>Bastián Darwit Vera</dc:creator>
  <cp:lastModifiedBy>Bastián Darwit Vera</cp:lastModifiedBy>
  <cp:revision>1</cp:revision>
</cp:coreProperties>
</file>