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0" r:id="rId2"/>
    <p:sldMasterId id="2147483682" r:id="rId3"/>
    <p:sldMasterId id="2147483694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7" r:id="rId14"/>
    <p:sldId id="268" r:id="rId15"/>
    <p:sldId id="269" r:id="rId16"/>
    <p:sldId id="265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s-CL"/>
    </a:defPPr>
    <a:lvl1pPr marL="0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761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521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281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042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798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0564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7322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082" algn="l" defTabSz="9135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42"/>
    <p:restoredTop sz="95687"/>
  </p:normalViewPr>
  <p:slideViewPr>
    <p:cSldViewPr>
      <p:cViewPr>
        <p:scale>
          <a:sx n="159" d="100"/>
          <a:sy n="159" d="100"/>
        </p:scale>
        <p:origin x="112" y="-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21A57-C3E6-4136-869B-C1C4DA318885}" type="datetimeFigureOut">
              <a:rPr lang="es-CL" smtClean="0"/>
              <a:t>08-08-26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FB45B-0388-4BF1-AE79-E6A2536ED20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857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</a:t>
            </a:fld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2</a:t>
            </a:fld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3</a:t>
            </a:fld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4</a:t>
            </a:fld>
            <a:endParaRPr lang="es-C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5</a:t>
            </a:fld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6</a:t>
            </a:fld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7</a:t>
            </a:fld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8</a:t>
            </a:fld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9</a:t>
            </a:fld>
            <a:endParaRPr lang="es-C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10</a:t>
            </a:fld>
            <a:endParaRPr lang="es-C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11</a:t>
            </a:fld>
            <a:endParaRPr lang="es-C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12</a:t>
            </a:fld>
            <a:endParaRPr lang="es-C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13</a:t>
            </a:fld>
            <a:endParaRPr lang="es-C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14</a:t>
            </a:fld>
            <a:endParaRPr lang="es-C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15</a:t>
            </a:fld>
            <a:endParaRPr lang="es-C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16</a:t>
            </a:fld>
            <a:endParaRPr lang="es-C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17</a:t>
            </a:fld>
            <a:endParaRPr lang="es-C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Marcador de numero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FB45B-0388-4BF1-AE79-E6A2536ED20E}" type="slidenum">
              <a:rPr lang="es-CL" smtClean="0"/>
              <a:t>18</a:t>
            </a:fld>
            <a:endParaRPr lang="es-C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5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46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8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6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50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3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1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0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78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46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4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34" indent="0">
              <a:buNone/>
              <a:defRPr sz="2000" b="1"/>
            </a:lvl2pPr>
            <a:lvl3pPr marL="913667" indent="0">
              <a:buNone/>
              <a:defRPr sz="1800" b="1"/>
            </a:lvl3pPr>
            <a:lvl4pPr marL="1370501" indent="0">
              <a:buNone/>
              <a:defRPr sz="1600" b="1"/>
            </a:lvl4pPr>
            <a:lvl5pPr marL="1827335" indent="0">
              <a:buNone/>
              <a:defRPr sz="1600" b="1"/>
            </a:lvl5pPr>
            <a:lvl6pPr marL="2284165" indent="0">
              <a:buNone/>
              <a:defRPr sz="1600" b="1"/>
            </a:lvl6pPr>
            <a:lvl7pPr marL="2741003" indent="0">
              <a:buNone/>
              <a:defRPr sz="1600" b="1"/>
            </a:lvl7pPr>
            <a:lvl8pPr marL="3197835" indent="0">
              <a:buNone/>
              <a:defRPr sz="1600" b="1"/>
            </a:lvl8pPr>
            <a:lvl9pPr marL="3654668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34" indent="0">
              <a:buNone/>
              <a:defRPr sz="2000" b="1"/>
            </a:lvl2pPr>
            <a:lvl3pPr marL="913667" indent="0">
              <a:buNone/>
              <a:defRPr sz="1800" b="1"/>
            </a:lvl3pPr>
            <a:lvl4pPr marL="1370501" indent="0">
              <a:buNone/>
              <a:defRPr sz="1600" b="1"/>
            </a:lvl4pPr>
            <a:lvl5pPr marL="1827335" indent="0">
              <a:buNone/>
              <a:defRPr sz="1600" b="1"/>
            </a:lvl5pPr>
            <a:lvl6pPr marL="2284165" indent="0">
              <a:buNone/>
              <a:defRPr sz="1600" b="1"/>
            </a:lvl6pPr>
            <a:lvl7pPr marL="2741003" indent="0">
              <a:buNone/>
              <a:defRPr sz="1600" b="1"/>
            </a:lvl7pPr>
            <a:lvl8pPr marL="3197835" indent="0">
              <a:buNone/>
              <a:defRPr sz="1600" b="1"/>
            </a:lvl8pPr>
            <a:lvl9pPr marL="3654668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5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3" y="27305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834" indent="0">
              <a:buNone/>
              <a:defRPr sz="1200"/>
            </a:lvl2pPr>
            <a:lvl3pPr marL="913667" indent="0">
              <a:buNone/>
              <a:defRPr sz="1000"/>
            </a:lvl3pPr>
            <a:lvl4pPr marL="1370501" indent="0">
              <a:buNone/>
              <a:defRPr sz="900"/>
            </a:lvl4pPr>
            <a:lvl5pPr marL="1827335" indent="0">
              <a:buNone/>
              <a:defRPr sz="900"/>
            </a:lvl5pPr>
            <a:lvl6pPr marL="2284165" indent="0">
              <a:buNone/>
              <a:defRPr sz="900"/>
            </a:lvl6pPr>
            <a:lvl7pPr marL="2741003" indent="0">
              <a:buNone/>
              <a:defRPr sz="900"/>
            </a:lvl7pPr>
            <a:lvl8pPr marL="3197835" indent="0">
              <a:buNone/>
              <a:defRPr sz="900"/>
            </a:lvl8pPr>
            <a:lvl9pPr marL="3654668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834" indent="0">
              <a:buNone/>
              <a:defRPr sz="2800"/>
            </a:lvl2pPr>
            <a:lvl3pPr marL="913667" indent="0">
              <a:buNone/>
              <a:defRPr sz="2400"/>
            </a:lvl3pPr>
            <a:lvl4pPr marL="1370501" indent="0">
              <a:buNone/>
              <a:defRPr sz="2000"/>
            </a:lvl4pPr>
            <a:lvl5pPr marL="1827335" indent="0">
              <a:buNone/>
              <a:defRPr sz="2000"/>
            </a:lvl5pPr>
            <a:lvl6pPr marL="2284165" indent="0">
              <a:buNone/>
              <a:defRPr sz="2000"/>
            </a:lvl6pPr>
            <a:lvl7pPr marL="2741003" indent="0">
              <a:buNone/>
              <a:defRPr sz="2000"/>
            </a:lvl7pPr>
            <a:lvl8pPr marL="3197835" indent="0">
              <a:buNone/>
              <a:defRPr sz="2000"/>
            </a:lvl8pPr>
            <a:lvl9pPr marL="3654668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834" indent="0">
              <a:buNone/>
              <a:defRPr sz="1200"/>
            </a:lvl2pPr>
            <a:lvl3pPr marL="913667" indent="0">
              <a:buNone/>
              <a:defRPr sz="1000"/>
            </a:lvl3pPr>
            <a:lvl4pPr marL="1370501" indent="0">
              <a:buNone/>
              <a:defRPr sz="900"/>
            </a:lvl4pPr>
            <a:lvl5pPr marL="1827335" indent="0">
              <a:buNone/>
              <a:defRPr sz="900"/>
            </a:lvl5pPr>
            <a:lvl6pPr marL="2284165" indent="0">
              <a:buNone/>
              <a:defRPr sz="900"/>
            </a:lvl6pPr>
            <a:lvl7pPr marL="2741003" indent="0">
              <a:buNone/>
              <a:defRPr sz="900"/>
            </a:lvl7pPr>
            <a:lvl8pPr marL="3197835" indent="0">
              <a:buNone/>
              <a:defRPr sz="900"/>
            </a:lvl8pPr>
            <a:lvl9pPr marL="3654668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7"/>
            <a:ext cx="7773193" cy="1470472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51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9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98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9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9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59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69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7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6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99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19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2981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3974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4968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5962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6955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7949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6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6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21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09936" indent="0">
              <a:buNone/>
              <a:defRPr sz="1800" b="1"/>
            </a:lvl2pPr>
            <a:lvl3pPr marL="819876" indent="0">
              <a:buNone/>
              <a:defRPr sz="1600" b="1"/>
            </a:lvl3pPr>
            <a:lvl4pPr marL="1229812" indent="0">
              <a:buNone/>
              <a:defRPr sz="1400" b="1"/>
            </a:lvl4pPr>
            <a:lvl5pPr marL="1639747" indent="0">
              <a:buNone/>
              <a:defRPr sz="1400" b="1"/>
            </a:lvl5pPr>
            <a:lvl6pPr marL="2049684" indent="0">
              <a:buNone/>
              <a:defRPr sz="1400" b="1"/>
            </a:lvl6pPr>
            <a:lvl7pPr marL="2459622" indent="0">
              <a:buNone/>
              <a:defRPr sz="1400" b="1"/>
            </a:lvl7pPr>
            <a:lvl8pPr marL="2869558" indent="0">
              <a:buNone/>
              <a:defRPr sz="1400" b="1"/>
            </a:lvl8pPr>
            <a:lvl9pPr marL="3279495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21" y="2174902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2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09936" indent="0">
              <a:buNone/>
              <a:defRPr sz="1800" b="1"/>
            </a:lvl2pPr>
            <a:lvl3pPr marL="819876" indent="0">
              <a:buNone/>
              <a:defRPr sz="1600" b="1"/>
            </a:lvl3pPr>
            <a:lvl4pPr marL="1229812" indent="0">
              <a:buNone/>
              <a:defRPr sz="1400" b="1"/>
            </a:lvl4pPr>
            <a:lvl5pPr marL="1639747" indent="0">
              <a:buNone/>
              <a:defRPr sz="1400" b="1"/>
            </a:lvl5pPr>
            <a:lvl6pPr marL="2049684" indent="0">
              <a:buNone/>
              <a:defRPr sz="1400" b="1"/>
            </a:lvl6pPr>
            <a:lvl7pPr marL="2459622" indent="0">
              <a:buNone/>
              <a:defRPr sz="1400" b="1"/>
            </a:lvl7pPr>
            <a:lvl8pPr marL="2869558" indent="0">
              <a:buNone/>
              <a:defRPr sz="1400" b="1"/>
            </a:lvl8pPr>
            <a:lvl9pPr marL="3279495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2" y="2174902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21" y="273092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5" y="273090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21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09936" indent="0">
              <a:buNone/>
              <a:defRPr sz="1100"/>
            </a:lvl2pPr>
            <a:lvl3pPr marL="819876" indent="0">
              <a:buNone/>
              <a:defRPr sz="900"/>
            </a:lvl3pPr>
            <a:lvl4pPr marL="1229812" indent="0">
              <a:buNone/>
              <a:defRPr sz="800"/>
            </a:lvl4pPr>
            <a:lvl5pPr marL="1639747" indent="0">
              <a:buNone/>
              <a:defRPr sz="800"/>
            </a:lvl5pPr>
            <a:lvl6pPr marL="2049684" indent="0">
              <a:buNone/>
              <a:defRPr sz="800"/>
            </a:lvl6pPr>
            <a:lvl7pPr marL="2459622" indent="0">
              <a:buNone/>
              <a:defRPr sz="800"/>
            </a:lvl7pPr>
            <a:lvl8pPr marL="2869558" indent="0">
              <a:buNone/>
              <a:defRPr sz="800"/>
            </a:lvl8pPr>
            <a:lvl9pPr marL="3279495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3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3" y="613401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09936" indent="0">
              <a:buNone/>
              <a:defRPr sz="2500"/>
            </a:lvl2pPr>
            <a:lvl3pPr marL="819876" indent="0">
              <a:buNone/>
              <a:defRPr sz="2200"/>
            </a:lvl3pPr>
            <a:lvl4pPr marL="1229812" indent="0">
              <a:buNone/>
              <a:defRPr sz="1800"/>
            </a:lvl4pPr>
            <a:lvl5pPr marL="1639747" indent="0">
              <a:buNone/>
              <a:defRPr sz="1800"/>
            </a:lvl5pPr>
            <a:lvl6pPr marL="2049684" indent="0">
              <a:buNone/>
              <a:defRPr sz="1800"/>
            </a:lvl6pPr>
            <a:lvl7pPr marL="2459622" indent="0">
              <a:buNone/>
              <a:defRPr sz="1800"/>
            </a:lvl7pPr>
            <a:lvl8pPr marL="2869558" indent="0">
              <a:buNone/>
              <a:defRPr sz="1800"/>
            </a:lvl8pPr>
            <a:lvl9pPr marL="3279495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3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09936" indent="0">
              <a:buNone/>
              <a:defRPr sz="1100"/>
            </a:lvl2pPr>
            <a:lvl3pPr marL="819876" indent="0">
              <a:buNone/>
              <a:defRPr sz="900"/>
            </a:lvl3pPr>
            <a:lvl4pPr marL="1229812" indent="0">
              <a:buNone/>
              <a:defRPr sz="800"/>
            </a:lvl4pPr>
            <a:lvl5pPr marL="1639747" indent="0">
              <a:buNone/>
              <a:defRPr sz="800"/>
            </a:lvl5pPr>
            <a:lvl6pPr marL="2049684" indent="0">
              <a:buNone/>
              <a:defRPr sz="800"/>
            </a:lvl6pPr>
            <a:lvl7pPr marL="2459622" indent="0">
              <a:buNone/>
              <a:defRPr sz="800"/>
            </a:lvl7pPr>
            <a:lvl8pPr marL="2869558" indent="0">
              <a:buNone/>
              <a:defRPr sz="800"/>
            </a:lvl8pPr>
            <a:lvl9pPr marL="3279495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9" y="274492"/>
            <a:ext cx="2056209" cy="58510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92"/>
            <a:ext cx="6034434" cy="58510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7"/>
            <a:ext cx="7773193" cy="1470472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50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0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6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0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0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00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01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01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01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01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002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6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6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20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002" indent="0">
              <a:buNone/>
              <a:defRPr sz="1800" b="1"/>
            </a:lvl2pPr>
            <a:lvl3pPr marL="820007" indent="0">
              <a:buNone/>
              <a:defRPr sz="1600" b="1"/>
            </a:lvl3pPr>
            <a:lvl4pPr marL="1230009" indent="0">
              <a:buNone/>
              <a:defRPr sz="1400" b="1"/>
            </a:lvl4pPr>
            <a:lvl5pPr marL="1640010" indent="0">
              <a:buNone/>
              <a:defRPr sz="1400" b="1"/>
            </a:lvl5pPr>
            <a:lvl6pPr marL="2050013" indent="0">
              <a:buNone/>
              <a:defRPr sz="1400" b="1"/>
            </a:lvl6pPr>
            <a:lvl7pPr marL="2460016" indent="0">
              <a:buNone/>
              <a:defRPr sz="1400" b="1"/>
            </a:lvl7pPr>
            <a:lvl8pPr marL="2870018" indent="0">
              <a:buNone/>
              <a:defRPr sz="1400" b="1"/>
            </a:lvl8pPr>
            <a:lvl9pPr marL="3280021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20" y="2174901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2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002" indent="0">
              <a:buNone/>
              <a:defRPr sz="1800" b="1"/>
            </a:lvl2pPr>
            <a:lvl3pPr marL="820007" indent="0">
              <a:buNone/>
              <a:defRPr sz="1600" b="1"/>
            </a:lvl3pPr>
            <a:lvl4pPr marL="1230009" indent="0">
              <a:buNone/>
              <a:defRPr sz="1400" b="1"/>
            </a:lvl4pPr>
            <a:lvl5pPr marL="1640010" indent="0">
              <a:buNone/>
              <a:defRPr sz="1400" b="1"/>
            </a:lvl5pPr>
            <a:lvl6pPr marL="2050013" indent="0">
              <a:buNone/>
              <a:defRPr sz="1400" b="1"/>
            </a:lvl6pPr>
            <a:lvl7pPr marL="2460016" indent="0">
              <a:buNone/>
              <a:defRPr sz="1400" b="1"/>
            </a:lvl7pPr>
            <a:lvl8pPr marL="2870018" indent="0">
              <a:buNone/>
              <a:defRPr sz="1400" b="1"/>
            </a:lvl8pPr>
            <a:lvl9pPr marL="3280021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2" y="2174901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20" y="273091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4" y="273090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20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002" indent="0">
              <a:buNone/>
              <a:defRPr sz="1100"/>
            </a:lvl2pPr>
            <a:lvl3pPr marL="820007" indent="0">
              <a:buNone/>
              <a:defRPr sz="900"/>
            </a:lvl3pPr>
            <a:lvl4pPr marL="1230009" indent="0">
              <a:buNone/>
              <a:defRPr sz="800"/>
            </a:lvl4pPr>
            <a:lvl5pPr marL="1640010" indent="0">
              <a:buNone/>
              <a:defRPr sz="800"/>
            </a:lvl5pPr>
            <a:lvl6pPr marL="2050013" indent="0">
              <a:buNone/>
              <a:defRPr sz="800"/>
            </a:lvl6pPr>
            <a:lvl7pPr marL="2460016" indent="0">
              <a:buNone/>
              <a:defRPr sz="800"/>
            </a:lvl7pPr>
            <a:lvl8pPr marL="2870018" indent="0">
              <a:buNone/>
              <a:defRPr sz="800"/>
            </a:lvl8pPr>
            <a:lvl9pPr marL="3280021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2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2" y="613400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002" indent="0">
              <a:buNone/>
              <a:defRPr sz="2500"/>
            </a:lvl2pPr>
            <a:lvl3pPr marL="820007" indent="0">
              <a:buNone/>
              <a:defRPr sz="2200"/>
            </a:lvl3pPr>
            <a:lvl4pPr marL="1230009" indent="0">
              <a:buNone/>
              <a:defRPr sz="1800"/>
            </a:lvl4pPr>
            <a:lvl5pPr marL="1640010" indent="0">
              <a:buNone/>
              <a:defRPr sz="1800"/>
            </a:lvl5pPr>
            <a:lvl6pPr marL="2050013" indent="0">
              <a:buNone/>
              <a:defRPr sz="1800"/>
            </a:lvl6pPr>
            <a:lvl7pPr marL="2460016" indent="0">
              <a:buNone/>
              <a:defRPr sz="1800"/>
            </a:lvl7pPr>
            <a:lvl8pPr marL="2870018" indent="0">
              <a:buNone/>
              <a:defRPr sz="1800"/>
            </a:lvl8pPr>
            <a:lvl9pPr marL="3280021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2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002" indent="0">
              <a:buNone/>
              <a:defRPr sz="1100"/>
            </a:lvl2pPr>
            <a:lvl3pPr marL="820007" indent="0">
              <a:buNone/>
              <a:defRPr sz="900"/>
            </a:lvl3pPr>
            <a:lvl4pPr marL="1230009" indent="0">
              <a:buNone/>
              <a:defRPr sz="800"/>
            </a:lvl4pPr>
            <a:lvl5pPr marL="1640010" indent="0">
              <a:buNone/>
              <a:defRPr sz="800"/>
            </a:lvl5pPr>
            <a:lvl6pPr marL="2050013" indent="0">
              <a:buNone/>
              <a:defRPr sz="800"/>
            </a:lvl6pPr>
            <a:lvl7pPr marL="2460016" indent="0">
              <a:buNone/>
              <a:defRPr sz="800"/>
            </a:lvl7pPr>
            <a:lvl8pPr marL="2870018" indent="0">
              <a:buNone/>
              <a:defRPr sz="800"/>
            </a:lvl8pPr>
            <a:lvl9pPr marL="3280021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8" y="274491"/>
            <a:ext cx="2056209" cy="58510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91"/>
            <a:ext cx="6034434" cy="58510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325202" y="6356640"/>
            <a:ext cx="2132686" cy="365517"/>
          </a:xfrm>
        </p:spPr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0253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6568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5796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8489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6657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15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1218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6439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20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263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539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5" y="274639"/>
            <a:ext cx="8229600" cy="1143000"/>
          </a:xfrm>
          <a:prstGeom prst="rect">
            <a:avLst/>
          </a:prstGeom>
        </p:spPr>
        <p:txBody>
          <a:bodyPr vert="horz" lIns="91367" tIns="45683" rIns="91367" bIns="45683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5" y="1600205"/>
            <a:ext cx="8229600" cy="4525963"/>
          </a:xfrm>
          <a:prstGeom prst="rect">
            <a:avLst/>
          </a:prstGeom>
        </p:spPr>
        <p:txBody>
          <a:bodyPr vert="horz" lIns="91367" tIns="45683" rIns="91367" bIns="45683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367" tIns="45683" rIns="91367" bIns="4568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66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3667"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5" y="6356355"/>
            <a:ext cx="2895600" cy="365125"/>
          </a:xfrm>
          <a:prstGeom prst="rect">
            <a:avLst/>
          </a:prstGeom>
        </p:spPr>
        <p:txBody>
          <a:bodyPr vert="horz" lIns="91367" tIns="45683" rIns="91367" bIns="4568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66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5"/>
            <a:ext cx="2133600" cy="365125"/>
          </a:xfrm>
          <a:prstGeom prst="rect">
            <a:avLst/>
          </a:prstGeom>
        </p:spPr>
        <p:txBody>
          <a:bodyPr vert="horz" lIns="91367" tIns="45683" rIns="91367" bIns="4568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66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366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92" y="5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41"/>
          </a:xfrm>
          <a:prstGeom prst="rect">
            <a:avLst/>
          </a:prstGeom>
          <a:noFill/>
        </p:spPr>
        <p:txBody>
          <a:bodyPr wrap="square" lIns="81987" tIns="40993" rIns="81987" bIns="40993" rtlCol="0">
            <a:spAutoFit/>
          </a:bodyPr>
          <a:lstStyle/>
          <a:p>
            <a:pPr algn="ctr" defTabSz="913667"/>
            <a:r>
              <a:rPr lang="es-ES" sz="1300" b="1" dirty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366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625" indent="-342625" algn="l" defTabSz="91366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354" indent="-285521" algn="l" defTabSz="91366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084" indent="-228416" algn="l" defTabSz="91366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919" indent="-228416" algn="l" defTabSz="91366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752" indent="-228416" algn="l" defTabSz="91366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585" indent="-228416" algn="l" defTabSz="91366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418" indent="-228416" algn="l" defTabSz="91366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252" indent="-228416" algn="l" defTabSz="91366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085" indent="-228416" algn="l" defTabSz="91366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34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67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501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335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165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003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835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668" algn="l" defTabSz="9136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92"/>
            <a:ext cx="8229166" cy="1142767"/>
          </a:xfrm>
          <a:prstGeom prst="rect">
            <a:avLst/>
          </a:prstGeom>
        </p:spPr>
        <p:txBody>
          <a:bodyPr vert="horz" lIns="81987" tIns="40993" rIns="81987" bIns="40993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6"/>
            <a:ext cx="8229166" cy="4524851"/>
          </a:xfrm>
          <a:prstGeom prst="rect">
            <a:avLst/>
          </a:prstGeom>
        </p:spPr>
        <p:txBody>
          <a:bodyPr vert="horz" lIns="81987" tIns="40993" rIns="81987" bIns="40993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4"/>
            <a:ext cx="2132686" cy="365517"/>
          </a:xfrm>
          <a:prstGeom prst="rect">
            <a:avLst/>
          </a:prstGeom>
        </p:spPr>
        <p:txBody>
          <a:bodyPr vert="horz" lIns="81987" tIns="40993" rIns="81987" bIns="40993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66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3667"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4"/>
            <a:ext cx="2896008" cy="365517"/>
          </a:xfrm>
          <a:prstGeom prst="rect">
            <a:avLst/>
          </a:prstGeom>
        </p:spPr>
        <p:txBody>
          <a:bodyPr vert="horz" lIns="81987" tIns="40993" rIns="81987" bIns="40993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66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4"/>
            <a:ext cx="2132686" cy="365517"/>
          </a:xfrm>
          <a:prstGeom prst="rect">
            <a:avLst/>
          </a:prstGeom>
        </p:spPr>
        <p:txBody>
          <a:bodyPr vert="horz" lIns="81987" tIns="40993" rIns="81987" bIns="40993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66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366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5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41"/>
          </a:xfrm>
          <a:prstGeom prst="rect">
            <a:avLst/>
          </a:prstGeom>
          <a:noFill/>
        </p:spPr>
        <p:txBody>
          <a:bodyPr wrap="square" lIns="81987" tIns="40993" rIns="81987" bIns="40993" rtlCol="0">
            <a:spAutoFit/>
          </a:bodyPr>
          <a:lstStyle/>
          <a:p>
            <a:pPr algn="ctr" defTabSz="913667"/>
            <a:r>
              <a:rPr lang="es-ES" sz="1300" b="1" dirty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19876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453" indent="-307453" algn="l" defTabSz="819876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147" indent="-256211" algn="l" defTabSz="819876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41" indent="-204968" algn="l" defTabSz="81987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4779" indent="-204968" algn="l" defTabSz="819876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4715" indent="-204968" algn="l" defTabSz="819876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4653" indent="-204968" algn="l" defTabSz="81987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4591" indent="-204968" algn="l" defTabSz="81987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4526" indent="-204968" algn="l" defTabSz="81987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4464" indent="-204968" algn="l" defTabSz="81987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9936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876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9812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9747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9684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59622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69558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79495" algn="l" defTabSz="8198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91"/>
            <a:ext cx="8229166" cy="1142767"/>
          </a:xfrm>
          <a:prstGeom prst="rect">
            <a:avLst/>
          </a:prstGeom>
        </p:spPr>
        <p:txBody>
          <a:bodyPr vert="horz" lIns="82000" tIns="41000" rIns="82000" bIns="4100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6"/>
            <a:ext cx="8229166" cy="4524851"/>
          </a:xfrm>
          <a:prstGeom prst="rect">
            <a:avLst/>
          </a:prstGeom>
        </p:spPr>
        <p:txBody>
          <a:bodyPr vert="horz" lIns="82000" tIns="41000" rIns="82000" bIns="4100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3"/>
            <a:ext cx="2132686" cy="365517"/>
          </a:xfrm>
          <a:prstGeom prst="rect">
            <a:avLst/>
          </a:prstGeom>
        </p:spPr>
        <p:txBody>
          <a:bodyPr vert="horz" lIns="82000" tIns="41000" rIns="82000" bIns="4100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814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3814"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3"/>
            <a:ext cx="2896008" cy="365517"/>
          </a:xfrm>
          <a:prstGeom prst="rect">
            <a:avLst/>
          </a:prstGeom>
        </p:spPr>
        <p:txBody>
          <a:bodyPr vert="horz" lIns="82000" tIns="41000" rIns="82000" bIns="4100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814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3"/>
            <a:ext cx="2132686" cy="365517"/>
          </a:xfrm>
          <a:prstGeom prst="rect">
            <a:avLst/>
          </a:prstGeom>
        </p:spPr>
        <p:txBody>
          <a:bodyPr vert="horz" lIns="82000" tIns="41000" rIns="82000" bIns="4100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814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3814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4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56"/>
          </a:xfrm>
          <a:prstGeom prst="rect">
            <a:avLst/>
          </a:prstGeom>
          <a:noFill/>
        </p:spPr>
        <p:txBody>
          <a:bodyPr wrap="square" lIns="82000" tIns="41000" rIns="82000" bIns="41000" rtlCol="0">
            <a:spAutoFit/>
          </a:bodyPr>
          <a:lstStyle/>
          <a:p>
            <a:pPr algn="ctr" defTabSz="913814"/>
            <a:r>
              <a:rPr lang="es-ES" sz="1300" b="1" dirty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007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503" indent="-307503" algn="l" defTabSz="820007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254" indent="-256252" algn="l" defTabSz="820007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005" indent="-205001" algn="l" defTabSz="82000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009" indent="-205001" algn="l" defTabSz="820007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011" indent="-205001" algn="l" defTabSz="820007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014" indent="-205001" algn="l" defTabSz="820007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018" indent="-205001" algn="l" defTabSz="820007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5019" indent="-205001" algn="l" defTabSz="820007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5022" indent="-205001" algn="l" defTabSz="820007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002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007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009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010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013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016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018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0021" algn="l" defTabSz="82000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08-08-26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-10439"/>
            <a:ext cx="9143998" cy="6868438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584935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5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etitulo"/>
          <p:cNvSpPr txBox="1"/>
          <p:nvPr/>
        </p:nvSpPr>
        <p:spPr>
          <a:xfrm>
            <a:off x="640080" y="2852928"/>
            <a:ext cx="786384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CL" sz="1200" dirty="0">
                <a:solidFill>
                  <a:srgbClr val="4F81BD"/>
                </a:solidFill>
                <a:latin typeface="Calibri"/>
                <a:cs typeface="Calibri"/>
              </a:rPr>
              <a:t>Defensa de anteproyecto · Actividad Formativa Equivalente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731520" y="3127248"/>
            <a:ext cx="768096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7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4" name="Regla"/>
          <p:cNvSpPr/>
          <p:nvPr/>
        </p:nvSpPr>
        <p:spPr>
          <a:xfrm>
            <a:off x="4160520" y="4443984"/>
            <a:ext cx="822960" cy="18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" name="Programa"/>
          <p:cNvSpPr txBox="1"/>
          <p:nvPr/>
        </p:nvSpPr>
        <p:spPr>
          <a:xfrm>
            <a:off x="731520" y="4553712"/>
            <a:ext cx="7680960" cy="4937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CL" sz="1150" b="1" dirty="0">
                <a:solidFill>
                  <a:srgbClr val="3A3A3A"/>
                </a:solidFill>
                <a:latin typeface="Calibri"/>
                <a:cs typeface="Calibri"/>
              </a:rPr>
              <a:t>Magíster en Sistemas de Gestión Integral de la Calidad</a:t>
            </a:r>
          </a:p>
          <a:p>
            <a:pPr algn="ctr">
              <a:buNone/>
            </a:pPr>
            <a:r>
              <a:rPr lang="es-CL" sz="1050" dirty="0">
                <a:solidFill>
                  <a:srgbClr val="6B6B6B"/>
                </a:solidFill>
                <a:latin typeface="Calibri"/>
                <a:cs typeface="Calibri"/>
              </a:rPr>
              <a:t>Facultad de Ingeniería y Ciencias · Universidad de La Frontera</a:t>
            </a:r>
          </a:p>
        </p:txBody>
      </p:sp>
      <p:sp>
        <p:nvSpPr>
          <p:cNvPr id="6" name="Autoria"/>
          <p:cNvSpPr txBox="1"/>
          <p:nvPr/>
        </p:nvSpPr>
        <p:spPr>
          <a:xfrm>
            <a:off x="731520" y="5413248"/>
            <a:ext cx="7680960" cy="8046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</a:p>
          <a:p>
            <a:pPr algn="ctr">
              <a:spcBef>
                <a:spcPts val="3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Profesor guía: Carlos Muñoz P.·  Profesor co-guía: Manuel Echiburú Fuenzalida</a:t>
            </a:r>
          </a:p>
          <a:p>
            <a:pPr algn="ctr">
              <a:spcBef>
                <a:spcPts val="300"/>
              </a:spcBef>
              <a:buNone/>
            </a:pPr>
            <a:r>
              <a:rPr lang="es-CL" sz="1000" dirty="0">
                <a:solidFill>
                  <a:srgbClr val="6B6B6B"/>
                </a:solidFill>
                <a:latin typeface="Calibri"/>
                <a:cs typeface="Calibri"/>
              </a:rPr>
              <a:t>Temuco, 8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Contenidos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" name="Indice"/>
          <p:cNvSpPr txBox="1"/>
          <p:nvPr/>
        </p:nvSpPr>
        <p:spPr>
          <a:xfrm>
            <a:off x="1280160" y="1975104"/>
            <a:ext cx="6583680" cy="3840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s-CL" sz="1700" b="1" dirty="0">
                <a:solidFill>
                  <a:srgbClr val="4F81BD"/>
                </a:solidFill>
                <a:latin typeface="Calibri"/>
                <a:cs typeface="Calibri"/>
              </a:rPr>
              <a:t>1   </a:t>
            </a:r>
            <a:r>
              <a:rPr lang="es-CL" sz="1700" dirty="0">
                <a:solidFill>
                  <a:srgbClr val="17375E"/>
                </a:solidFill>
                <a:latin typeface="Calibri"/>
                <a:cs typeface="Calibri"/>
              </a:rPr>
              <a:t>Problema</a:t>
            </a:r>
          </a:p>
          <a:p>
            <a:pPr algn="l">
              <a:spcAft>
                <a:spcPts val="900"/>
              </a:spcAft>
              <a:buNone/>
            </a:pPr>
            <a:r>
              <a:rPr lang="es-CL" sz="1700" b="1" dirty="0">
                <a:solidFill>
                  <a:srgbClr val="4F81BD"/>
                </a:solidFill>
                <a:latin typeface="Calibri"/>
                <a:cs typeface="Calibri"/>
              </a:rPr>
              <a:t>2   </a:t>
            </a:r>
            <a:r>
              <a:rPr lang="es-CL" sz="1700" dirty="0">
                <a:solidFill>
                  <a:srgbClr val="17375E"/>
                </a:solidFill>
                <a:latin typeface="Calibri"/>
                <a:cs typeface="Calibri"/>
              </a:rPr>
              <a:t>Marco teórico</a:t>
            </a:r>
          </a:p>
          <a:p>
            <a:pPr algn="l">
              <a:spcAft>
                <a:spcPts val="900"/>
              </a:spcAft>
              <a:buNone/>
            </a:pPr>
            <a:r>
              <a:rPr lang="es-CL" sz="1700" b="1" dirty="0">
                <a:solidFill>
                  <a:srgbClr val="4F81BD"/>
                </a:solidFill>
                <a:latin typeface="Calibri"/>
                <a:cs typeface="Calibri"/>
              </a:rPr>
              <a:t>3   </a:t>
            </a:r>
            <a:r>
              <a:rPr lang="es-CL" sz="1700" dirty="0">
                <a:solidFill>
                  <a:srgbClr val="17375E"/>
                </a:solidFill>
                <a:latin typeface="Calibri"/>
                <a:cs typeface="Calibri"/>
              </a:rPr>
              <a:t>Brecha en la literatura</a:t>
            </a:r>
          </a:p>
          <a:p>
            <a:pPr algn="l">
              <a:spcAft>
                <a:spcPts val="900"/>
              </a:spcAft>
              <a:buNone/>
            </a:pPr>
            <a:r>
              <a:rPr lang="es-CL" sz="1700" b="1" dirty="0">
                <a:solidFill>
                  <a:srgbClr val="4F81BD"/>
                </a:solidFill>
                <a:latin typeface="Calibri"/>
                <a:cs typeface="Calibri"/>
              </a:rPr>
              <a:t>4   </a:t>
            </a:r>
            <a:r>
              <a:rPr lang="es-CL" sz="1700" dirty="0">
                <a:solidFill>
                  <a:srgbClr val="17375E"/>
                </a:solidFill>
                <a:latin typeface="Calibri"/>
                <a:cs typeface="Calibri"/>
              </a:rPr>
              <a:t>Del problema general al caso único</a:t>
            </a:r>
          </a:p>
          <a:p>
            <a:pPr algn="l">
              <a:spcAft>
                <a:spcPts val="900"/>
              </a:spcAft>
              <a:buNone/>
            </a:pPr>
            <a:r>
              <a:rPr lang="es-CL" sz="1700" b="1" dirty="0">
                <a:solidFill>
                  <a:srgbClr val="4F81BD"/>
                </a:solidFill>
                <a:latin typeface="Calibri"/>
                <a:cs typeface="Calibri"/>
              </a:rPr>
              <a:t>5   </a:t>
            </a:r>
            <a:r>
              <a:rPr lang="es-CL" sz="1700" dirty="0">
                <a:solidFill>
                  <a:srgbClr val="17375E"/>
                </a:solidFill>
                <a:latin typeface="Calibri"/>
                <a:cs typeface="Calibri"/>
              </a:rPr>
              <a:t>Objetivos y alcance</a:t>
            </a:r>
          </a:p>
          <a:p>
            <a:pPr algn="l">
              <a:spcAft>
                <a:spcPts val="900"/>
              </a:spcAft>
              <a:buNone/>
            </a:pPr>
            <a:r>
              <a:rPr lang="es-CL" sz="1700" b="1" dirty="0">
                <a:solidFill>
                  <a:srgbClr val="4F81BD"/>
                </a:solidFill>
                <a:latin typeface="Calibri"/>
                <a:cs typeface="Calibri"/>
              </a:rPr>
              <a:t>6   </a:t>
            </a:r>
            <a:r>
              <a:rPr lang="es-CL" sz="1700" dirty="0">
                <a:solidFill>
                  <a:srgbClr val="17375E"/>
                </a:solidFill>
                <a:latin typeface="Calibri"/>
                <a:cs typeface="Calibri"/>
              </a:rPr>
              <a:t>Metodología</a:t>
            </a:r>
          </a:p>
          <a:p>
            <a:pPr algn="l">
              <a:spcAft>
                <a:spcPts val="900"/>
              </a:spcAft>
              <a:buNone/>
            </a:pPr>
            <a:r>
              <a:rPr lang="es-CL" sz="1700" b="1" dirty="0">
                <a:solidFill>
                  <a:srgbClr val="4F81BD"/>
                </a:solidFill>
                <a:latin typeface="Calibri"/>
                <a:cs typeface="Calibri"/>
              </a:rPr>
              <a:t>7   </a:t>
            </a:r>
            <a:r>
              <a:rPr lang="es-CL" sz="1700" dirty="0">
                <a:solidFill>
                  <a:srgbClr val="17375E"/>
                </a:solidFill>
                <a:latin typeface="Calibri"/>
                <a:cs typeface="Calibri"/>
              </a:rPr>
              <a:t>Plan de trabajo</a:t>
            </a:r>
          </a:p>
          <a:p>
            <a:pPr algn="l">
              <a:spcAft>
                <a:spcPts val="900"/>
              </a:spcAft>
              <a:buNone/>
            </a:pPr>
            <a:r>
              <a:rPr lang="es-CL" sz="1700" b="1" dirty="0">
                <a:solidFill>
                  <a:srgbClr val="4F81BD"/>
                </a:solidFill>
                <a:latin typeface="Calibri"/>
                <a:cs typeface="Calibri"/>
              </a:rPr>
              <a:t>8   </a:t>
            </a:r>
            <a:r>
              <a:rPr lang="es-CL" sz="1700" dirty="0">
                <a:solidFill>
                  <a:srgbClr val="17375E"/>
                </a:solidFill>
                <a:latin typeface="Calibri"/>
                <a:cs typeface="Calibri"/>
              </a:rPr>
              <a:t>Aportes esperados</a:t>
            </a:r>
          </a:p>
        </p:txBody>
      </p:sp>
      <p:sp>
        <p:nvSpPr>
          <p:cNvPr id="6" name="Titulo">
            <a:extLst>
              <a:ext uri="{FF2B5EF4-FFF2-40B4-BE49-F238E27FC236}">
                <a16:creationId xmlns:a16="http://schemas.microsoft.com/office/drawing/2014/main" id="{EBCBEB53-AAA5-2A31-AC41-8DB82187EB3F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7" name="Numero">
            <a:extLst>
              <a:ext uri="{FF2B5EF4-FFF2-40B4-BE49-F238E27FC236}">
                <a16:creationId xmlns:a16="http://schemas.microsoft.com/office/drawing/2014/main" id="{728409B8-16E4-7A93-8022-FAE8446E0BB0}"/>
              </a:ext>
            </a:extLst>
          </p:cNvPr>
          <p:cNvSpPr txBox="1"/>
          <p:nvPr/>
        </p:nvSpPr>
        <p:spPr>
          <a:xfrm>
            <a:off x="8820472" y="6035040"/>
            <a:ext cx="2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2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Problema de investigación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" name="Numero"/>
          <p:cNvSpPr txBox="1"/>
          <p:nvPr/>
        </p:nvSpPr>
        <p:spPr>
          <a:xfrm>
            <a:off x="8820472" y="6035040"/>
            <a:ext cx="2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3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6" name="Parrafo"/>
          <p:cNvSpPr txBox="1"/>
          <p:nvPr/>
        </p:nvSpPr>
        <p:spPr>
          <a:xfrm>
            <a:off x="548640" y="1810512"/>
            <a:ext cx="8046720" cy="9141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>
              <a:lnSpc>
                <a:spcPct val="118000"/>
              </a:lnSpc>
            </a:pPr>
            <a:r>
              <a:rPr lang="es-CL" sz="1550" dirty="0">
                <a:latin typeface="Calibri"/>
                <a:cs typeface="Calibri"/>
              </a:rPr>
              <a:t>La gestión de riesgos se ha consolidado como una capacidad crítica para sostener la continuidad y el desempeño de </a:t>
            </a:r>
            <a:r>
              <a:rPr lang="es-CL" sz="1550" dirty="0">
                <a:cs typeface="Calibri"/>
              </a:rPr>
              <a:t>las organizaciones (</a:t>
            </a:r>
            <a:r>
              <a:rPr lang="es-CL" sz="1550" dirty="0" err="1">
                <a:cs typeface="Calibri"/>
              </a:rPr>
              <a:t>Anton</a:t>
            </a:r>
            <a:r>
              <a:rPr lang="es-CL" sz="1550" dirty="0">
                <a:cs typeface="Calibri"/>
              </a:rPr>
              <a:t> y </a:t>
            </a:r>
            <a:r>
              <a:rPr lang="es-CL" sz="1550" dirty="0" err="1">
                <a:cs typeface="Calibri"/>
              </a:rPr>
              <a:t>Nucu</a:t>
            </a:r>
            <a:r>
              <a:rPr lang="es-CL" sz="1550" dirty="0">
                <a:cs typeface="Calibri"/>
              </a:rPr>
              <a:t>, 2020; </a:t>
            </a:r>
            <a:r>
              <a:rPr lang="es-CL" sz="1550" dirty="0" err="1">
                <a:cs typeface="Calibri"/>
              </a:rPr>
              <a:t>Jagrič</a:t>
            </a:r>
            <a:r>
              <a:rPr lang="es-CL" sz="1550" dirty="0">
                <a:cs typeface="Calibri"/>
              </a:rPr>
              <a:t> et al., 2026). </a:t>
            </a:r>
            <a:r>
              <a:rPr lang="es-CL" sz="1550" dirty="0">
                <a:latin typeface="Calibri"/>
                <a:cs typeface="Calibri"/>
              </a:rPr>
              <a:t>En los procesos de apoyo, sin embargo, esa gestión suele permanecer informal, pese a que sostienen la operación.</a:t>
            </a:r>
          </a:p>
        </p:txBody>
      </p:sp>
      <p:sp>
        <p:nvSpPr>
          <p:cNvPr id="7" name="Regla"/>
          <p:cNvSpPr/>
          <p:nvPr/>
        </p:nvSpPr>
        <p:spPr>
          <a:xfrm>
            <a:off x="548640" y="3072384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" name="Parrafo"/>
          <p:cNvSpPr txBox="1"/>
          <p:nvPr/>
        </p:nvSpPr>
        <p:spPr>
          <a:xfrm>
            <a:off x="548640" y="3200400"/>
            <a:ext cx="804672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50" dirty="0">
                <a:solidFill>
                  <a:srgbClr val="3A3A3A"/>
                </a:solidFill>
                <a:latin typeface="Calibri"/>
                <a:cs typeface="Calibri"/>
              </a:rPr>
              <a:t>Esto se manifiesta en tres carencias encadenadas:</a:t>
            </a:r>
          </a:p>
        </p:txBody>
      </p:sp>
      <p:sp>
        <p:nvSpPr>
          <p:cNvPr id="9" name="Etiqueta"/>
          <p:cNvSpPr txBox="1"/>
          <p:nvPr/>
        </p:nvSpPr>
        <p:spPr>
          <a:xfrm>
            <a:off x="548640" y="3749040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" name="Texto lista"/>
          <p:cNvSpPr txBox="1"/>
          <p:nvPr/>
        </p:nvSpPr>
        <p:spPr>
          <a:xfrm>
            <a:off x="1078992" y="3749040"/>
            <a:ext cx="7516368" cy="5302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00" b="1" dirty="0">
                <a:solidFill>
                  <a:srgbClr val="17375E"/>
                </a:solidFill>
                <a:latin typeface="Calibri"/>
                <a:cs typeface="Calibri"/>
              </a:rPr>
              <a:t>Sin arquitectura formalizada. </a:t>
            </a:r>
            <a:r>
              <a:rPr lang="es-CL" sz="1300" dirty="0">
                <a:solidFill>
                  <a:srgbClr val="3A3A3A"/>
                </a:solidFill>
                <a:latin typeface="Calibri"/>
                <a:cs typeface="Calibri"/>
              </a:rPr>
              <a:t>Los macroprocesos de apoyo no están modelados en sus niveles jerárquicos, base para analizar riesgos.</a:t>
            </a:r>
          </a:p>
        </p:txBody>
      </p:sp>
      <p:sp>
        <p:nvSpPr>
          <p:cNvPr id="11" name="Etiqueta"/>
          <p:cNvSpPr txBox="1"/>
          <p:nvPr/>
        </p:nvSpPr>
        <p:spPr>
          <a:xfrm>
            <a:off x="548640" y="4480428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2" name="Texto lista"/>
          <p:cNvSpPr txBox="1"/>
          <p:nvPr/>
        </p:nvSpPr>
        <p:spPr>
          <a:xfrm>
            <a:off x="1078992" y="4480428"/>
            <a:ext cx="7516368" cy="5302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00" b="1" dirty="0">
                <a:solidFill>
                  <a:srgbClr val="17375E"/>
                </a:solidFill>
                <a:latin typeface="Calibri"/>
                <a:cs typeface="Calibri"/>
              </a:rPr>
              <a:t>Sin evaluación estructurada. </a:t>
            </a:r>
            <a:r>
              <a:rPr lang="es-CL" sz="1300" dirty="0">
                <a:solidFill>
                  <a:srgbClr val="3A3A3A"/>
                </a:solidFill>
                <a:latin typeface="Calibri"/>
                <a:cs typeface="Calibri"/>
              </a:rPr>
              <a:t>Los riesgos de las tareas no han sido identificados ni valorados con una metodología reconocida.</a:t>
            </a:r>
          </a:p>
        </p:txBody>
      </p:sp>
      <p:sp>
        <p:nvSpPr>
          <p:cNvPr id="13" name="Etiqueta"/>
          <p:cNvSpPr txBox="1"/>
          <p:nvPr/>
        </p:nvSpPr>
        <p:spPr>
          <a:xfrm>
            <a:off x="548640" y="5211816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" name="Texto lista"/>
          <p:cNvSpPr txBox="1"/>
          <p:nvPr/>
        </p:nvSpPr>
        <p:spPr>
          <a:xfrm>
            <a:off x="1043608" y="5211816"/>
            <a:ext cx="7516368" cy="5302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00" b="1" dirty="0">
                <a:solidFill>
                  <a:srgbClr val="17375E"/>
                </a:solidFill>
                <a:latin typeface="Calibri"/>
                <a:cs typeface="Calibri"/>
              </a:rPr>
              <a:t>Sin un sistema que los integre. </a:t>
            </a:r>
            <a:r>
              <a:rPr lang="es-CL" sz="1300" dirty="0">
                <a:solidFill>
                  <a:srgbClr val="3A3A3A"/>
                </a:solidFill>
                <a:latin typeface="Calibri"/>
                <a:cs typeface="Calibri"/>
              </a:rPr>
              <a:t>No hay integración entre los riesgos, sus planes de mitigación, responsables y monitoreo.</a:t>
            </a:r>
          </a:p>
        </p:txBody>
      </p:sp>
      <p:sp>
        <p:nvSpPr>
          <p:cNvPr id="17" name="Titulo">
            <a:extLst>
              <a:ext uri="{FF2B5EF4-FFF2-40B4-BE49-F238E27FC236}">
                <a16:creationId xmlns:a16="http://schemas.microsoft.com/office/drawing/2014/main" id="{82411499-A778-B139-2504-4E8A4C3F62CF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8" name="Fuente">
            <a:extLst>
              <a:ext uri="{FF2B5EF4-FFF2-40B4-BE49-F238E27FC236}">
                <a16:creationId xmlns:a16="http://schemas.microsoft.com/office/drawing/2014/main" id="{8A935D33-BF23-FE86-2F2A-B2A882D93D67}"/>
              </a:ext>
            </a:extLst>
          </p:cNvPr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Fuentes: Anton y Nucu (2020); Jagrič et al. (2026); APQC (2023); COSO (2004, 2017). Formulación analítica propia.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Relevancia del problema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" name="Rotulo figura"/>
          <p:cNvSpPr txBox="1"/>
          <p:nvPr/>
        </p:nvSpPr>
        <p:spPr>
          <a:xfrm>
            <a:off x="548640" y="1810512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50" b="1" dirty="0">
                <a:solidFill>
                  <a:srgbClr val="17375E"/>
                </a:solidFill>
                <a:latin typeface="Calibri"/>
                <a:cs typeface="Calibri"/>
              </a:rPr>
              <a:t>Tabla 1. </a:t>
            </a:r>
            <a:r>
              <a:rPr lang="es-CL" sz="1050" i="1" dirty="0">
                <a:solidFill>
                  <a:srgbClr val="6B6B6B"/>
                </a:solidFill>
                <a:latin typeface="Calibri"/>
                <a:cs typeface="Calibri"/>
              </a:rPr>
              <a:t>Evidencia sobre el costo del riesgo operacional y el valor de su gestión estructurada</a:t>
            </a:r>
          </a:p>
        </p:txBody>
      </p:sp>
      <p:sp>
        <p:nvSpPr>
          <p:cNvPr id="7" name="Nota"/>
          <p:cNvSpPr txBox="1"/>
          <p:nvPr/>
        </p:nvSpPr>
        <p:spPr>
          <a:xfrm>
            <a:off x="524409" y="4992624"/>
            <a:ext cx="804672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CL" sz="1050" dirty="0">
                <a:solidFill>
                  <a:srgbClr val="6B6B6B"/>
                </a:solidFill>
                <a:latin typeface="Calibri"/>
                <a:cs typeface="Calibri"/>
              </a:rPr>
              <a:t>Elaboración propia a partir de la sección II.1 del anteproyecto.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5398B4-6751-6239-5010-F4EBEE3B1FC7}"/>
              </a:ext>
            </a:extLst>
          </p:cNvPr>
          <p:cNvSpPr txBox="1"/>
          <p:nvPr/>
        </p:nvSpPr>
        <p:spPr>
          <a:xfrm>
            <a:off x="548640" y="5413248"/>
            <a:ext cx="8022487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50" dirty="0">
                <a:latin typeface="Calibri"/>
                <a:cs typeface="Calibri"/>
              </a:rPr>
              <a:t>La evidencia se refiere a la organización en su conjunto. Los procesos de apoyo suelen quedar fuera del alcance de estos marcos.</a:t>
            </a:r>
            <a:endParaRPr lang="es-CL" sz="1450" dirty="0"/>
          </a:p>
        </p:txBody>
      </p:sp>
      <p:graphicFrame>
        <p:nvGraphicFramePr>
          <p:cNvPr id="11" name="Tabla">
            <a:extLst>
              <a:ext uri="{FF2B5EF4-FFF2-40B4-BE49-F238E27FC236}">
                <a16:creationId xmlns:a16="http://schemas.microsoft.com/office/drawing/2014/main" id="{56612A80-DDB2-DDD2-3470-A384FE3A8090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2139696"/>
          <a:ext cx="8046720" cy="28163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es-CL" sz="1200" b="1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Dato</a:t>
                      </a:r>
                    </a:p>
                  </a:txBody>
                  <a:tcPr marL="54864" marR="54864" marT="27432" marB="27432" anchor="b"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es-CL" sz="1200" b="1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Hallazgo</a:t>
                      </a:r>
                    </a:p>
                  </a:txBody>
                  <a:tcPr marL="54864" marR="54864" marT="27432" marB="27432" anchor="b"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es-CL" sz="1200" b="1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Fuente</a:t>
                      </a:r>
                    </a:p>
                  </a:txBody>
                  <a:tcPr marL="54864" marR="54864" marT="27432" marB="27432" anchor="b"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USD 222 mil MM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B8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Costos y pérdidas anuales asociados al mantenimiento de maquinaria en la manufactura estadounidense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B8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Thomas y Weiss (2021)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B8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≈ 20 %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Prima de valor de mercado en aseguradoras que adoptan marcos de gestión de riesgos empresariales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Hoyt y Liebenberg (2011)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Hasta 25 %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Prima de valoración, medida con la Q de Tobin, en organizaciones con madurez en gestión de riesgos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Farrell y Gallagher (2015)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Relación positiva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Entre la calidad de la gestión de riesgos corporativos y los resultados de la firma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Jagrič et al. (2026)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ulo">
            <a:extLst>
              <a:ext uri="{FF2B5EF4-FFF2-40B4-BE49-F238E27FC236}">
                <a16:creationId xmlns:a16="http://schemas.microsoft.com/office/drawing/2014/main" id="{0ED52713-5163-8059-01F3-7149BF448044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8" name="Numero">
            <a:extLst>
              <a:ext uri="{FF2B5EF4-FFF2-40B4-BE49-F238E27FC236}">
                <a16:creationId xmlns:a16="http://schemas.microsoft.com/office/drawing/2014/main" id="{83DDE082-69A5-3399-7F86-58DD77285105}"/>
              </a:ext>
            </a:extLst>
          </p:cNvPr>
          <p:cNvSpPr txBox="1"/>
          <p:nvPr/>
        </p:nvSpPr>
        <p:spPr>
          <a:xfrm>
            <a:off x="8820472" y="6035040"/>
            <a:ext cx="2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4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Marco teórico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Sección II.2 del anteproyecto.</a:t>
            </a:r>
          </a:p>
        </p:txBody>
      </p:sp>
      <p:sp>
        <p:nvSpPr>
          <p:cNvPr id="6" name="Etiqueta"/>
          <p:cNvSpPr txBox="1"/>
          <p:nvPr/>
        </p:nvSpPr>
        <p:spPr>
          <a:xfrm>
            <a:off x="548640" y="1810512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Texto lista"/>
          <p:cNvSpPr txBox="1"/>
          <p:nvPr/>
        </p:nvSpPr>
        <p:spPr>
          <a:xfrm>
            <a:off x="1078992" y="1810512"/>
            <a:ext cx="7516368" cy="8501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Gestión por procesos.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Ordena las actividades en flujos de valor que cruzan las fronteras funcionales y aporta trazabilidad y control (Davenport, 1993; Teixeira et al., 2024).</a:t>
            </a:r>
          </a:p>
        </p:txBody>
      </p:sp>
      <p:sp>
        <p:nvSpPr>
          <p:cNvPr id="8" name="Etiqueta"/>
          <p:cNvSpPr txBox="1"/>
          <p:nvPr/>
        </p:nvSpPr>
        <p:spPr>
          <a:xfrm>
            <a:off x="548640" y="2898427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9" name="Texto lista"/>
          <p:cNvSpPr txBox="1"/>
          <p:nvPr/>
        </p:nvSpPr>
        <p:spPr>
          <a:xfrm>
            <a:off x="1078992" y="2898427"/>
            <a:ext cx="7516368" cy="8501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Marcos de referencia.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El Process Classification Framework de APQC permite describir y comparar procesos con un lenguaje común, y detectar brechas de documentación (APQC, 2023).</a:t>
            </a:r>
          </a:p>
        </p:txBody>
      </p:sp>
      <p:sp>
        <p:nvSpPr>
          <p:cNvPr id="10" name="Etiqueta"/>
          <p:cNvSpPr txBox="1"/>
          <p:nvPr/>
        </p:nvSpPr>
        <p:spPr>
          <a:xfrm>
            <a:off x="548640" y="3986342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" name="Texto lista"/>
          <p:cNvSpPr txBox="1"/>
          <p:nvPr/>
        </p:nvSpPr>
        <p:spPr>
          <a:xfrm>
            <a:off x="1088080" y="3986342"/>
            <a:ext cx="7516368" cy="8501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Madurez operativa.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Describe la progresión desde procesos informales hasta procesos definidos y gestionados con datos (SEI, 2010; Szelągowski y Berniak-Woźny, 2022).</a:t>
            </a:r>
          </a:p>
        </p:txBody>
      </p:sp>
      <p:sp>
        <p:nvSpPr>
          <p:cNvPr id="12" name="Etiqueta"/>
          <p:cNvSpPr txBox="1"/>
          <p:nvPr/>
        </p:nvSpPr>
        <p:spPr>
          <a:xfrm>
            <a:off x="548640" y="5074257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3" name="Texto lista"/>
          <p:cNvSpPr txBox="1"/>
          <p:nvPr/>
        </p:nvSpPr>
        <p:spPr>
          <a:xfrm>
            <a:off x="1078992" y="5074257"/>
            <a:ext cx="7516368" cy="8501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Gestión de riesgos empresariales.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Evolución desde un manejo aislado de los riesgos hacia un enfoque integrado con la estrategia y el desempeño (Anton y Nucu, 2020).</a:t>
            </a:r>
          </a:p>
        </p:txBody>
      </p:sp>
      <p:sp>
        <p:nvSpPr>
          <p:cNvPr id="14" name="Titulo">
            <a:extLst>
              <a:ext uri="{FF2B5EF4-FFF2-40B4-BE49-F238E27FC236}">
                <a16:creationId xmlns:a16="http://schemas.microsoft.com/office/drawing/2014/main" id="{9E9EA7FF-3B11-E406-064A-A597AC28A18F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5" name="Numero">
            <a:extLst>
              <a:ext uri="{FF2B5EF4-FFF2-40B4-BE49-F238E27FC236}">
                <a16:creationId xmlns:a16="http://schemas.microsoft.com/office/drawing/2014/main" id="{DA4CE437-69C4-10D9-BAC7-5A8BF3855A5C}"/>
              </a:ext>
            </a:extLst>
          </p:cNvPr>
          <p:cNvSpPr txBox="1"/>
          <p:nvPr/>
        </p:nvSpPr>
        <p:spPr>
          <a:xfrm>
            <a:off x="8820472" y="6035040"/>
            <a:ext cx="2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5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COSO II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Secciones II.2.4 y II.2.5 del anteproyecto.</a:t>
            </a:r>
          </a:p>
        </p:txBody>
      </p:sp>
      <p:sp>
        <p:nvSpPr>
          <p:cNvPr id="6" name="Parrafo"/>
          <p:cNvSpPr txBox="1"/>
          <p:nvPr/>
        </p:nvSpPr>
        <p:spPr>
          <a:xfrm>
            <a:off x="569400" y="2818520"/>
            <a:ext cx="804672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>
              <a:lnSpc>
                <a:spcPct val="118000"/>
              </a:lnSpc>
            </a:pPr>
            <a:r>
              <a:rPr lang="es-CL" sz="1350" dirty="0">
                <a:latin typeface="Calibri"/>
                <a:cs typeface="Calibri"/>
              </a:rPr>
              <a:t>Marco adoptado por ser el </a:t>
            </a:r>
            <a:r>
              <a:rPr lang="es-CL" sz="1350" dirty="0">
                <a:solidFill>
                  <a:srgbClr val="000000"/>
                </a:solidFill>
                <a:cs typeface="Calibri"/>
              </a:rPr>
              <a:t>más consolidado en la práctica industrial para el riesgo </a:t>
            </a:r>
            <a:endParaRPr lang="es-CL" sz="1350" dirty="0">
              <a:latin typeface="Calibri"/>
              <a:cs typeface="Calibri"/>
            </a:endParaRPr>
          </a:p>
        </p:txBody>
      </p:sp>
      <p:sp>
        <p:nvSpPr>
          <p:cNvPr id="7" name="Regla"/>
          <p:cNvSpPr/>
          <p:nvPr/>
        </p:nvSpPr>
        <p:spPr>
          <a:xfrm>
            <a:off x="541379" y="2690921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Encabezado"/>
          <p:cNvSpPr txBox="1"/>
          <p:nvPr/>
        </p:nvSpPr>
        <p:spPr>
          <a:xfrm>
            <a:off x="548640" y="3273552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Aplicación</a:t>
            </a:r>
          </a:p>
        </p:txBody>
      </p:sp>
      <p:sp>
        <p:nvSpPr>
          <p:cNvPr id="14" name="Etapa 1"/>
          <p:cNvSpPr/>
          <p:nvPr/>
        </p:nvSpPr>
        <p:spPr>
          <a:xfrm>
            <a:off x="992124" y="3657600"/>
            <a:ext cx="1143000" cy="60350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  <a:cs typeface="Calibri"/>
              </a:rPr>
              <a:t>Evento</a:t>
            </a:r>
          </a:p>
        </p:txBody>
      </p:sp>
      <p:sp>
        <p:nvSpPr>
          <p:cNvPr id="15" name="Flecha"/>
          <p:cNvSpPr/>
          <p:nvPr/>
        </p:nvSpPr>
        <p:spPr>
          <a:xfrm>
            <a:off x="2162556" y="3858768"/>
            <a:ext cx="146304" cy="18288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pPr algn="ctr"/>
            <a:endParaRPr lang="es-CL"/>
          </a:p>
        </p:txBody>
      </p:sp>
      <p:sp>
        <p:nvSpPr>
          <p:cNvPr id="16" name="Etapa 2"/>
          <p:cNvSpPr/>
          <p:nvPr/>
        </p:nvSpPr>
        <p:spPr>
          <a:xfrm>
            <a:off x="2336292" y="3657600"/>
            <a:ext cx="1417320" cy="603504"/>
          </a:xfrm>
          <a:prstGeom prst="rect">
            <a:avLst/>
          </a:prstGeom>
          <a:solidFill>
            <a:srgbClr val="2E5F92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  <a:cs typeface="Calibri"/>
              </a:rPr>
              <a:t>Probabilidad e impacto</a:t>
            </a:r>
          </a:p>
        </p:txBody>
      </p:sp>
      <p:sp>
        <p:nvSpPr>
          <p:cNvPr id="17" name="Flecha"/>
          <p:cNvSpPr/>
          <p:nvPr/>
        </p:nvSpPr>
        <p:spPr>
          <a:xfrm>
            <a:off x="3781044" y="3858768"/>
            <a:ext cx="146304" cy="18288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pPr algn="ctr"/>
            <a:endParaRPr lang="es-CL"/>
          </a:p>
        </p:txBody>
      </p:sp>
      <p:sp>
        <p:nvSpPr>
          <p:cNvPr id="18" name="Etapa 3"/>
          <p:cNvSpPr/>
          <p:nvPr/>
        </p:nvSpPr>
        <p:spPr>
          <a:xfrm>
            <a:off x="3954780" y="3657600"/>
            <a:ext cx="1234440" cy="60350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  <a:cs typeface="Calibri"/>
              </a:rPr>
              <a:t>Riesgo inherente</a:t>
            </a:r>
          </a:p>
        </p:txBody>
      </p:sp>
      <p:sp>
        <p:nvSpPr>
          <p:cNvPr id="19" name="Flecha"/>
          <p:cNvSpPr/>
          <p:nvPr/>
        </p:nvSpPr>
        <p:spPr>
          <a:xfrm>
            <a:off x="5216652" y="3858768"/>
            <a:ext cx="146304" cy="18288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pPr algn="ctr"/>
            <a:endParaRPr lang="es-CL"/>
          </a:p>
        </p:txBody>
      </p:sp>
      <p:sp>
        <p:nvSpPr>
          <p:cNvPr id="20" name="Etapa 4"/>
          <p:cNvSpPr/>
          <p:nvPr/>
        </p:nvSpPr>
        <p:spPr>
          <a:xfrm>
            <a:off x="5390388" y="3657600"/>
            <a:ext cx="1417320" cy="603504"/>
          </a:xfrm>
          <a:prstGeom prst="rect">
            <a:avLst/>
          </a:prstGeom>
          <a:solidFill>
            <a:srgbClr val="2E5F92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  <a:cs typeface="Calibri"/>
              </a:rPr>
              <a:t>Controles existentes</a:t>
            </a:r>
          </a:p>
        </p:txBody>
      </p:sp>
      <p:sp>
        <p:nvSpPr>
          <p:cNvPr id="21" name="Flecha"/>
          <p:cNvSpPr/>
          <p:nvPr/>
        </p:nvSpPr>
        <p:spPr>
          <a:xfrm>
            <a:off x="6835140" y="3858768"/>
            <a:ext cx="146304" cy="18288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pPr algn="ctr"/>
            <a:endParaRPr lang="es-CL"/>
          </a:p>
        </p:txBody>
      </p:sp>
      <p:sp>
        <p:nvSpPr>
          <p:cNvPr id="22" name="Etapa 5"/>
          <p:cNvSpPr/>
          <p:nvPr/>
        </p:nvSpPr>
        <p:spPr>
          <a:xfrm>
            <a:off x="7008876" y="3657600"/>
            <a:ext cx="1234440" cy="60350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  <a:cs typeface="Calibri"/>
              </a:rPr>
              <a:t>Riesgo residual</a:t>
            </a:r>
          </a:p>
        </p:txBody>
      </p:sp>
      <p:sp>
        <p:nvSpPr>
          <p:cNvPr id="23" name="Parrafo"/>
          <p:cNvSpPr txBox="1"/>
          <p:nvPr/>
        </p:nvSpPr>
        <p:spPr>
          <a:xfrm>
            <a:off x="548640" y="4425696"/>
            <a:ext cx="804672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s-CL" sz="1350" dirty="0">
                <a:solidFill>
                  <a:srgbClr val="17375E"/>
                </a:solidFill>
                <a:latin typeface="Calibri"/>
                <a:cs typeface="Calibri"/>
              </a:rPr>
              <a:t>El riesgo residual orienta la respuesta y el plan de mitigación.</a:t>
            </a:r>
          </a:p>
        </p:txBody>
      </p:sp>
      <p:sp>
        <p:nvSpPr>
          <p:cNvPr id="24" name="Regla"/>
          <p:cNvSpPr/>
          <p:nvPr/>
        </p:nvSpPr>
        <p:spPr>
          <a:xfrm>
            <a:off x="548640" y="4828032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" name="Encabezado"/>
          <p:cNvSpPr txBox="1"/>
          <p:nvPr/>
        </p:nvSpPr>
        <p:spPr>
          <a:xfrm>
            <a:off x="548640" y="4974336"/>
            <a:ext cx="356616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Catálogo de riesgos</a:t>
            </a:r>
          </a:p>
        </p:txBody>
      </p:sp>
      <p:sp>
        <p:nvSpPr>
          <p:cNvPr id="26" name="Parrafo"/>
          <p:cNvSpPr txBox="1"/>
          <p:nvPr/>
        </p:nvSpPr>
        <p:spPr>
          <a:xfrm>
            <a:off x="548640" y="5285232"/>
            <a:ext cx="356616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Registra eventos, valoraciones y controles.</a:t>
            </a:r>
          </a:p>
        </p:txBody>
      </p:sp>
      <p:sp>
        <p:nvSpPr>
          <p:cNvPr id="27" name="Flecha"/>
          <p:cNvSpPr/>
          <p:nvPr/>
        </p:nvSpPr>
        <p:spPr>
          <a:xfrm>
            <a:off x="3899613" y="5126758"/>
            <a:ext cx="521814" cy="408898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8" name="Encabezado"/>
          <p:cNvSpPr txBox="1"/>
          <p:nvPr/>
        </p:nvSpPr>
        <p:spPr>
          <a:xfrm>
            <a:off x="4736592" y="4974336"/>
            <a:ext cx="39319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Sistema de gestión de riesgos</a:t>
            </a:r>
          </a:p>
        </p:txBody>
      </p:sp>
      <p:sp>
        <p:nvSpPr>
          <p:cNvPr id="29" name="Parrafo"/>
          <p:cNvSpPr txBox="1"/>
          <p:nvPr/>
        </p:nvSpPr>
        <p:spPr>
          <a:xfrm>
            <a:off x="4736592" y="5285232"/>
            <a:ext cx="393192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Integra el catálogo con planes de mitigación, gobernanza y monitoreo.</a:t>
            </a:r>
          </a:p>
        </p:txBody>
      </p:sp>
      <p:sp>
        <p:nvSpPr>
          <p:cNvPr id="30" name="Titulo">
            <a:extLst>
              <a:ext uri="{FF2B5EF4-FFF2-40B4-BE49-F238E27FC236}">
                <a16:creationId xmlns:a16="http://schemas.microsoft.com/office/drawing/2014/main" id="{6578A528-A15F-0FB9-782F-F6ABC8CA83B7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1" name="Numero">
            <a:extLst>
              <a:ext uri="{FF2B5EF4-FFF2-40B4-BE49-F238E27FC236}">
                <a16:creationId xmlns:a16="http://schemas.microsoft.com/office/drawing/2014/main" id="{807953EA-CB3F-1E87-433B-B6BAB7D333B7}"/>
              </a:ext>
            </a:extLst>
          </p:cNvPr>
          <p:cNvSpPr txBox="1"/>
          <p:nvPr/>
        </p:nvSpPr>
        <p:spPr>
          <a:xfrm>
            <a:off x="8820472" y="6035040"/>
            <a:ext cx="2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6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2" name="Encabezado">
            <a:extLst>
              <a:ext uri="{FF2B5EF4-FFF2-40B4-BE49-F238E27FC236}">
                <a16:creationId xmlns:a16="http://schemas.microsoft.com/office/drawing/2014/main" id="{176EA046-0AF6-2BB7-799F-18E1ABF421CB}"/>
              </a:ext>
            </a:extLst>
          </p:cNvPr>
          <p:cNvSpPr txBox="1"/>
          <p:nvPr/>
        </p:nvSpPr>
        <p:spPr>
          <a:xfrm>
            <a:off x="548640" y="1814849"/>
            <a:ext cx="361188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2004 · COSO II</a:t>
            </a:r>
          </a:p>
        </p:txBody>
      </p:sp>
      <p:sp>
        <p:nvSpPr>
          <p:cNvPr id="33" name="Parrafo">
            <a:extLst>
              <a:ext uri="{FF2B5EF4-FFF2-40B4-BE49-F238E27FC236}">
                <a16:creationId xmlns:a16="http://schemas.microsoft.com/office/drawing/2014/main" id="{C134AA4D-43AD-2A3B-DD90-261743B996C7}"/>
              </a:ext>
            </a:extLst>
          </p:cNvPr>
          <p:cNvSpPr txBox="1"/>
          <p:nvPr/>
        </p:nvSpPr>
        <p:spPr>
          <a:xfrm>
            <a:off x="548640" y="2125745"/>
            <a:ext cx="36118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Enterprise Risk Management - Integrated Framework. Ocho componentes.</a:t>
            </a:r>
          </a:p>
        </p:txBody>
      </p:sp>
      <p:sp>
        <p:nvSpPr>
          <p:cNvPr id="34" name="Regla vertical">
            <a:extLst>
              <a:ext uri="{FF2B5EF4-FFF2-40B4-BE49-F238E27FC236}">
                <a16:creationId xmlns:a16="http://schemas.microsoft.com/office/drawing/2014/main" id="{37A8E441-744F-4C28-37D6-D90DAC0A75E7}"/>
              </a:ext>
            </a:extLst>
          </p:cNvPr>
          <p:cNvSpPr/>
          <p:nvPr/>
        </p:nvSpPr>
        <p:spPr>
          <a:xfrm>
            <a:off x="4370832" y="1796561"/>
            <a:ext cx="12802" cy="84124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Encabezado">
            <a:extLst>
              <a:ext uri="{FF2B5EF4-FFF2-40B4-BE49-F238E27FC236}">
                <a16:creationId xmlns:a16="http://schemas.microsoft.com/office/drawing/2014/main" id="{6CB9232E-736B-4236-AE8C-C53DEBB5C30B}"/>
              </a:ext>
            </a:extLst>
          </p:cNvPr>
          <p:cNvSpPr txBox="1"/>
          <p:nvPr/>
        </p:nvSpPr>
        <p:spPr>
          <a:xfrm>
            <a:off x="4663440" y="1814849"/>
            <a:ext cx="39319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2017 · actualización ERM</a:t>
            </a:r>
          </a:p>
        </p:txBody>
      </p:sp>
      <p:sp>
        <p:nvSpPr>
          <p:cNvPr id="36" name="Parrafo">
            <a:extLst>
              <a:ext uri="{FF2B5EF4-FFF2-40B4-BE49-F238E27FC236}">
                <a16:creationId xmlns:a16="http://schemas.microsoft.com/office/drawing/2014/main" id="{AA6F62C3-40A2-258D-32F2-658CAB3AF3F9}"/>
              </a:ext>
            </a:extLst>
          </p:cNvPr>
          <p:cNvSpPr txBox="1"/>
          <p:nvPr/>
        </p:nvSpPr>
        <p:spPr>
          <a:xfrm>
            <a:off x="4663440" y="2125745"/>
            <a:ext cx="393192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Integrating with Strategy and Performance. Cinco componentes y veinte principios.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Brecha en la literatura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Sección II.2.4 del anteproyecto.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548640" y="1810512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LITERATURA</a:t>
            </a:r>
          </a:p>
        </p:txBody>
      </p:sp>
      <p:sp>
        <p:nvSpPr>
          <p:cNvPr id="7" name="Parrafo"/>
          <p:cNvSpPr txBox="1"/>
          <p:nvPr/>
        </p:nvSpPr>
        <p:spPr>
          <a:xfrm>
            <a:off x="548640" y="2084832"/>
            <a:ext cx="8046720" cy="10424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50" dirty="0">
                <a:latin typeface="Calibri"/>
                <a:cs typeface="Calibri"/>
              </a:rPr>
              <a:t>La gestión de riesgos empresariales cuenta con marcos consolidados y con evidencia que la asocia a un mejor desempeño. Existen además modelos de madurez e índices para valorar su grado de desarrollo (Anton y Nucu, 2020; Tubis y Werbińska-Wojciechowska, 2021; Soner y Karadag, 2026).</a:t>
            </a:r>
          </a:p>
        </p:txBody>
      </p:sp>
      <p:sp>
        <p:nvSpPr>
          <p:cNvPr id="8" name="Regla"/>
          <p:cNvSpPr/>
          <p:nvPr/>
        </p:nvSpPr>
        <p:spPr>
          <a:xfrm>
            <a:off x="548640" y="3200400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548640" y="3310128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SECTOR FORESTAL</a:t>
            </a:r>
          </a:p>
        </p:txBody>
      </p:sp>
      <p:sp>
        <p:nvSpPr>
          <p:cNvPr id="10" name="Parrafo"/>
          <p:cNvSpPr txBox="1"/>
          <p:nvPr/>
        </p:nvSpPr>
        <p:spPr>
          <a:xfrm>
            <a:off x="548640" y="3584448"/>
            <a:ext cx="8046720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50" dirty="0">
                <a:latin typeface="Calibri"/>
                <a:cs typeface="Calibri"/>
              </a:rPr>
              <a:t>La aplicación de COSO II para los procesos de apoyo, sigue siendo escasa. En el sector forestal no se identificaron estudios que la documenten.</a:t>
            </a:r>
          </a:p>
        </p:txBody>
      </p:sp>
      <p:sp>
        <p:nvSpPr>
          <p:cNvPr id="11" name="Regla"/>
          <p:cNvSpPr/>
          <p:nvPr/>
        </p:nvSpPr>
        <p:spPr>
          <a:xfrm>
            <a:off x="548640" y="4462272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Titulo">
            <a:extLst>
              <a:ext uri="{FF2B5EF4-FFF2-40B4-BE49-F238E27FC236}">
                <a16:creationId xmlns:a16="http://schemas.microsoft.com/office/drawing/2014/main" id="{4D32C53F-1B4A-E92F-2E88-C2521B8544D3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5" name="Numero">
            <a:extLst>
              <a:ext uri="{FF2B5EF4-FFF2-40B4-BE49-F238E27FC236}">
                <a16:creationId xmlns:a16="http://schemas.microsoft.com/office/drawing/2014/main" id="{6BF9CE42-2CAE-06F6-90D6-B25E18786BBD}"/>
              </a:ext>
            </a:extLst>
          </p:cNvPr>
          <p:cNvSpPr txBox="1"/>
          <p:nvPr/>
        </p:nvSpPr>
        <p:spPr>
          <a:xfrm>
            <a:off x="8820472" y="6035040"/>
            <a:ext cx="2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7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Estudio de caso único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Secciones II.3 y II.4 del anteproyecto.</a:t>
            </a:r>
          </a:p>
        </p:txBody>
      </p:sp>
      <p:sp>
        <p:nvSpPr>
          <p:cNvPr id="6" name="Rotulo figura"/>
          <p:cNvSpPr txBox="1"/>
          <p:nvPr/>
        </p:nvSpPr>
        <p:spPr>
          <a:xfrm>
            <a:off x="548640" y="1792224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50" b="1" dirty="0">
                <a:solidFill>
                  <a:srgbClr val="17375E"/>
                </a:solidFill>
                <a:latin typeface="Calibri"/>
                <a:cs typeface="Calibri"/>
              </a:rPr>
              <a:t>Figura 1. </a:t>
            </a:r>
            <a:r>
              <a:rPr lang="es-CL" sz="1050" i="1" dirty="0">
                <a:solidFill>
                  <a:srgbClr val="6B6B6B"/>
                </a:solidFill>
                <a:latin typeface="Calibri"/>
                <a:cs typeface="Calibri"/>
              </a:rPr>
              <a:t>Delimitación del problema de investigación</a:t>
            </a:r>
          </a:p>
        </p:txBody>
      </p:sp>
      <p:sp>
        <p:nvSpPr>
          <p:cNvPr id="7" name="Nivel 1"/>
          <p:cNvSpPr/>
          <p:nvPr/>
        </p:nvSpPr>
        <p:spPr>
          <a:xfrm>
            <a:off x="548640" y="2084832"/>
            <a:ext cx="8046720" cy="566928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17375E"/>
                </a:solidFill>
                <a:latin typeface="Calibri"/>
                <a:cs typeface="Calibri"/>
              </a:rPr>
              <a:t>Gestión del riesgo operacional en las organizaciones</a:t>
            </a:r>
          </a:p>
        </p:txBody>
      </p:sp>
      <p:sp>
        <p:nvSpPr>
          <p:cNvPr id="8" name="Nivel 2"/>
          <p:cNvSpPr/>
          <p:nvPr/>
        </p:nvSpPr>
        <p:spPr>
          <a:xfrm>
            <a:off x="1143000" y="2724912"/>
            <a:ext cx="6858000" cy="566928"/>
          </a:xfrm>
          <a:prstGeom prst="rect">
            <a:avLst/>
          </a:prstGeom>
          <a:solidFill>
            <a:srgbClr val="7FA6D0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Gestión de riesgos en procesos de apoyo</a:t>
            </a:r>
          </a:p>
        </p:txBody>
      </p:sp>
      <p:sp>
        <p:nvSpPr>
          <p:cNvPr id="9" name="Nivel 3"/>
          <p:cNvSpPr/>
          <p:nvPr/>
        </p:nvSpPr>
        <p:spPr>
          <a:xfrm>
            <a:off x="1737360" y="3364992"/>
            <a:ext cx="5669280" cy="5669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COSO II</a:t>
            </a:r>
          </a:p>
        </p:txBody>
      </p:sp>
      <p:sp>
        <p:nvSpPr>
          <p:cNvPr id="10" name="Nivel 4"/>
          <p:cNvSpPr/>
          <p:nvPr/>
        </p:nvSpPr>
        <p:spPr>
          <a:xfrm>
            <a:off x="2331720" y="4005072"/>
            <a:ext cx="4480560" cy="56692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Caso único: Celulosa Arauco y Constitución S.A.</a:t>
            </a:r>
          </a:p>
        </p:txBody>
      </p:sp>
      <p:sp>
        <p:nvSpPr>
          <p:cNvPr id="11" name="Regla"/>
          <p:cNvSpPr/>
          <p:nvPr/>
        </p:nvSpPr>
        <p:spPr>
          <a:xfrm>
            <a:off x="548640" y="4700016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" name="Parrafo"/>
          <p:cNvSpPr txBox="1"/>
          <p:nvPr/>
        </p:nvSpPr>
        <p:spPr>
          <a:xfrm>
            <a:off x="548640" y="4828032"/>
            <a:ext cx="8046720" cy="10789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00" dirty="0">
                <a:latin typeface="Calibri"/>
                <a:cs typeface="Calibri"/>
              </a:rPr>
              <a:t>El caso se selecciona por la relevancia del sector: el forestal es uno de los principales sectores exportadores del país y la producción de celulosa se concentra en dos actores (Marca Chile, 2024). MP8 y MP21 se definen a nivel corporativo, por lo que la unidad de análisis es la compañía y no una planta.</a:t>
            </a:r>
          </a:p>
        </p:txBody>
      </p:sp>
      <p:sp>
        <p:nvSpPr>
          <p:cNvPr id="13" name="Titulo">
            <a:extLst>
              <a:ext uri="{FF2B5EF4-FFF2-40B4-BE49-F238E27FC236}">
                <a16:creationId xmlns:a16="http://schemas.microsoft.com/office/drawing/2014/main" id="{3840248A-E9A7-A1C2-DB80-139C6BE80A8D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4" name="Numero">
            <a:extLst>
              <a:ext uri="{FF2B5EF4-FFF2-40B4-BE49-F238E27FC236}">
                <a16:creationId xmlns:a16="http://schemas.microsoft.com/office/drawing/2014/main" id="{47A0AD62-426F-DB48-F894-E30A402040D0}"/>
              </a:ext>
            </a:extLst>
          </p:cNvPr>
          <p:cNvSpPr txBox="1"/>
          <p:nvPr/>
        </p:nvSpPr>
        <p:spPr>
          <a:xfrm>
            <a:off x="8820472" y="6035040"/>
            <a:ext cx="2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8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Objetivos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Sección III del anteproyecto.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548640" y="1810512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chemeClr val="tx2"/>
                </a:solidFill>
                <a:latin typeface="Calibri"/>
                <a:cs typeface="Calibri"/>
              </a:rPr>
              <a:t>Objetivo general</a:t>
            </a:r>
          </a:p>
        </p:txBody>
      </p:sp>
      <p:sp>
        <p:nvSpPr>
          <p:cNvPr id="7" name="Parrafo"/>
          <p:cNvSpPr txBox="1"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550" dirty="0">
                <a:latin typeface="Calibri"/>
                <a:cs typeface="Calibri"/>
              </a:rPr>
              <a:t>Estructurar un sistema de gestión de riesgos según COSO II para los macroprocesos de Gestión de Personas (MP8) y Servicios Generales (MP21) de Celulosa Arauco y Constitución S.A.</a:t>
            </a:r>
          </a:p>
        </p:txBody>
      </p:sp>
      <p:sp>
        <p:nvSpPr>
          <p:cNvPr id="8" name="Regla"/>
          <p:cNvSpPr/>
          <p:nvPr/>
        </p:nvSpPr>
        <p:spPr>
          <a:xfrm>
            <a:off x="548640" y="3145536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548640" y="3310128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Objetivos específicos</a:t>
            </a:r>
          </a:p>
        </p:txBody>
      </p:sp>
      <p:sp>
        <p:nvSpPr>
          <p:cNvPr id="10" name="Etiqueta"/>
          <p:cNvSpPr txBox="1"/>
          <p:nvPr/>
        </p:nvSpPr>
        <p:spPr>
          <a:xfrm>
            <a:off x="548640" y="3621024"/>
            <a:ext cx="658368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00" b="1" dirty="0">
                <a:solidFill>
                  <a:srgbClr val="4F81BD"/>
                </a:solidFill>
                <a:latin typeface="Calibri"/>
                <a:cs typeface="Calibri"/>
              </a:rPr>
              <a:t>OE1</a:t>
            </a:r>
          </a:p>
        </p:txBody>
      </p:sp>
      <p:sp>
        <p:nvSpPr>
          <p:cNvPr id="11" name="Texto lista"/>
          <p:cNvSpPr txBox="1"/>
          <p:nvPr/>
        </p:nvSpPr>
        <p:spPr>
          <a:xfrm>
            <a:off x="1207008" y="3621024"/>
            <a:ext cx="7388352" cy="5667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00" b="1" dirty="0">
                <a:solidFill>
                  <a:srgbClr val="17375E"/>
                </a:solidFill>
                <a:latin typeface="Calibri"/>
                <a:cs typeface="Calibri"/>
              </a:rPr>
              <a:t>Modelar. </a:t>
            </a:r>
            <a:r>
              <a:rPr lang="es-CL" sz="1400" dirty="0">
                <a:solidFill>
                  <a:srgbClr val="3A3A3A"/>
                </a:solidFill>
                <a:latin typeface="Calibri"/>
                <a:cs typeface="Calibri"/>
              </a:rPr>
              <a:t>la arquitectura de procesos de MP8 y MP21, desde sus procesos hasta sus tareas, según el marco del Modelo de Gestión Operacional.</a:t>
            </a:r>
          </a:p>
        </p:txBody>
      </p:sp>
      <p:sp>
        <p:nvSpPr>
          <p:cNvPr id="12" name="Etiqueta"/>
          <p:cNvSpPr txBox="1"/>
          <p:nvPr/>
        </p:nvSpPr>
        <p:spPr>
          <a:xfrm>
            <a:off x="548640" y="4388978"/>
            <a:ext cx="658368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00" b="1" dirty="0">
                <a:solidFill>
                  <a:srgbClr val="4F81BD"/>
                </a:solidFill>
                <a:latin typeface="Calibri"/>
                <a:cs typeface="Calibri"/>
              </a:rPr>
              <a:t>OE2</a:t>
            </a:r>
          </a:p>
        </p:txBody>
      </p:sp>
      <p:sp>
        <p:nvSpPr>
          <p:cNvPr id="13" name="Texto lista"/>
          <p:cNvSpPr txBox="1"/>
          <p:nvPr/>
        </p:nvSpPr>
        <p:spPr>
          <a:xfrm>
            <a:off x="1207008" y="4388978"/>
            <a:ext cx="7388352" cy="5667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00" b="1" dirty="0">
                <a:solidFill>
                  <a:srgbClr val="17375E"/>
                </a:solidFill>
                <a:latin typeface="Calibri"/>
                <a:cs typeface="Calibri"/>
              </a:rPr>
              <a:t>Evaluar. </a:t>
            </a:r>
            <a:r>
              <a:rPr lang="es-CL" sz="1400" dirty="0">
                <a:solidFill>
                  <a:srgbClr val="3A3A3A"/>
                </a:solidFill>
                <a:latin typeface="Calibri"/>
                <a:cs typeface="Calibri"/>
              </a:rPr>
              <a:t>los riesgos operacionales asociados a las tareas modeladas de ambos macroprocesos mediante la metodología COSO II.</a:t>
            </a:r>
          </a:p>
        </p:txBody>
      </p:sp>
      <p:sp>
        <p:nvSpPr>
          <p:cNvPr id="14" name="Etiqueta"/>
          <p:cNvSpPr txBox="1"/>
          <p:nvPr/>
        </p:nvSpPr>
        <p:spPr>
          <a:xfrm>
            <a:off x="548640" y="5156932"/>
            <a:ext cx="658368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00" b="1" dirty="0">
                <a:solidFill>
                  <a:srgbClr val="4F81BD"/>
                </a:solidFill>
                <a:latin typeface="Calibri"/>
                <a:cs typeface="Calibri"/>
              </a:rPr>
              <a:t>OE3</a:t>
            </a:r>
          </a:p>
        </p:txBody>
      </p:sp>
      <p:sp>
        <p:nvSpPr>
          <p:cNvPr id="15" name="Texto lista"/>
          <p:cNvSpPr txBox="1"/>
          <p:nvPr/>
        </p:nvSpPr>
        <p:spPr>
          <a:xfrm>
            <a:off x="1207008" y="5156932"/>
            <a:ext cx="7388352" cy="5667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00" b="1" dirty="0">
                <a:solidFill>
                  <a:srgbClr val="17375E"/>
                </a:solidFill>
                <a:latin typeface="Calibri"/>
                <a:cs typeface="Calibri"/>
              </a:rPr>
              <a:t>Elaborar. </a:t>
            </a:r>
            <a:r>
              <a:rPr lang="es-CL" sz="1400" dirty="0">
                <a:solidFill>
                  <a:srgbClr val="3A3A3A"/>
                </a:solidFill>
                <a:latin typeface="Calibri"/>
                <a:cs typeface="Calibri"/>
              </a:rPr>
              <a:t>el sistema de gestión de riesgos, integrando el catálogo de riesgos evaluados y sus planes de mitigación.</a:t>
            </a:r>
          </a:p>
        </p:txBody>
      </p:sp>
      <p:sp>
        <p:nvSpPr>
          <p:cNvPr id="16" name="Titulo">
            <a:extLst>
              <a:ext uri="{FF2B5EF4-FFF2-40B4-BE49-F238E27FC236}">
                <a16:creationId xmlns:a16="http://schemas.microsoft.com/office/drawing/2014/main" id="{B41207D7-7327-C118-3451-B6D4CCA6A8B1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7" name="Numero">
            <a:extLst>
              <a:ext uri="{FF2B5EF4-FFF2-40B4-BE49-F238E27FC236}">
                <a16:creationId xmlns:a16="http://schemas.microsoft.com/office/drawing/2014/main" id="{505536F2-FBF4-17D6-8984-9BF6B375B161}"/>
              </a:ext>
            </a:extLst>
          </p:cNvPr>
          <p:cNvSpPr txBox="1"/>
          <p:nvPr/>
        </p:nvSpPr>
        <p:spPr>
          <a:xfrm>
            <a:off x="8820472" y="6035040"/>
            <a:ext cx="2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9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200" b="1" dirty="0">
                <a:solidFill>
                  <a:srgbClr val="17375E"/>
                </a:solidFill>
                <a:latin typeface="Calibri"/>
                <a:cs typeface="Calibri"/>
              </a:rPr>
              <a:t>METODOLOGÍA - OE1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Sección IV (OE1) y actividades A1.1 a A1.6 del anteproyecto.</a:t>
            </a:r>
          </a:p>
        </p:txBody>
      </p:sp>
      <p:sp>
        <p:nvSpPr>
          <p:cNvPr id="7" name="Regla"/>
          <p:cNvSpPr/>
          <p:nvPr/>
        </p:nvSpPr>
        <p:spPr>
          <a:xfrm>
            <a:off x="548640" y="2141524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" name="Etiqueta"/>
          <p:cNvSpPr txBox="1"/>
          <p:nvPr/>
        </p:nvSpPr>
        <p:spPr>
          <a:xfrm>
            <a:off x="548640" y="2287828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50" b="1" dirty="0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9" name="Texto lista"/>
          <p:cNvSpPr txBox="1"/>
          <p:nvPr/>
        </p:nvSpPr>
        <p:spPr>
          <a:xfrm>
            <a:off x="1078992" y="2287828"/>
            <a:ext cx="7516368" cy="5485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50" b="1" dirty="0">
                <a:solidFill>
                  <a:srgbClr val="17375E"/>
                </a:solidFill>
                <a:latin typeface="Calibri"/>
                <a:cs typeface="Calibri"/>
              </a:rPr>
              <a:t>Revisión documental. </a:t>
            </a:r>
            <a:r>
              <a:rPr lang="es-CL" sz="1350" dirty="0">
                <a:solidFill>
                  <a:srgbClr val="3A3A3A"/>
                </a:solidFill>
                <a:latin typeface="Calibri"/>
                <a:cs typeface="Calibri"/>
              </a:rPr>
              <a:t>Organigramas, descripciones de cargo, procedimientos y registros disponibles, para diagnosticar el grado de formalización actual.</a:t>
            </a:r>
          </a:p>
        </p:txBody>
      </p:sp>
      <p:sp>
        <p:nvSpPr>
          <p:cNvPr id="10" name="Etiqueta"/>
          <p:cNvSpPr txBox="1"/>
          <p:nvPr/>
        </p:nvSpPr>
        <p:spPr>
          <a:xfrm>
            <a:off x="548640" y="2982635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50" b="1" dirty="0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Texto lista"/>
          <p:cNvSpPr txBox="1"/>
          <p:nvPr/>
        </p:nvSpPr>
        <p:spPr>
          <a:xfrm>
            <a:off x="1078992" y="2982635"/>
            <a:ext cx="7516368" cy="5485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50" b="1" dirty="0">
                <a:solidFill>
                  <a:srgbClr val="17375E"/>
                </a:solidFill>
                <a:latin typeface="Calibri"/>
                <a:cs typeface="Calibri"/>
              </a:rPr>
              <a:t>Contraste con APQC. </a:t>
            </a:r>
            <a:r>
              <a:rPr lang="es-CL" sz="1350" dirty="0">
                <a:solidFill>
                  <a:srgbClr val="3A3A3A"/>
                </a:solidFill>
                <a:latin typeface="Calibri"/>
                <a:cs typeface="Calibri"/>
              </a:rPr>
              <a:t>El PCF v8.0 permite comparar los procesos que deberían existir con los efectivamente documentados (APQC, 2023).</a:t>
            </a:r>
          </a:p>
        </p:txBody>
      </p:sp>
      <p:sp>
        <p:nvSpPr>
          <p:cNvPr id="12" name="Etiqueta"/>
          <p:cNvSpPr txBox="1"/>
          <p:nvPr/>
        </p:nvSpPr>
        <p:spPr>
          <a:xfrm>
            <a:off x="548640" y="3677442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50" b="1" dirty="0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Texto lista"/>
          <p:cNvSpPr txBox="1"/>
          <p:nvPr/>
        </p:nvSpPr>
        <p:spPr>
          <a:xfrm>
            <a:off x="1078992" y="3677442"/>
            <a:ext cx="7516368" cy="5485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50" b="1" dirty="0">
                <a:solidFill>
                  <a:srgbClr val="17375E"/>
                </a:solidFill>
                <a:latin typeface="Calibri"/>
                <a:cs typeface="Calibri"/>
              </a:rPr>
              <a:t>Entrevistas y modelamiento. </a:t>
            </a:r>
            <a:r>
              <a:rPr lang="es-CL" sz="1350" dirty="0">
                <a:solidFill>
                  <a:srgbClr val="3A3A3A"/>
                </a:solidFill>
                <a:latin typeface="Calibri"/>
                <a:cs typeface="Calibri"/>
              </a:rPr>
              <a:t>Sesiones con los dueños de proceso corporativos, documentando entradas, salidas, responsables (RACI), sistemas y frecuencia.</a:t>
            </a:r>
          </a:p>
        </p:txBody>
      </p:sp>
      <p:sp>
        <p:nvSpPr>
          <p:cNvPr id="14" name="Etiqueta"/>
          <p:cNvSpPr txBox="1"/>
          <p:nvPr/>
        </p:nvSpPr>
        <p:spPr>
          <a:xfrm>
            <a:off x="548640" y="4372249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50" b="1" dirty="0">
                <a:solidFill>
                  <a:srgbClr val="4F81BD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5" name="Texto lista"/>
          <p:cNvSpPr txBox="1"/>
          <p:nvPr/>
        </p:nvSpPr>
        <p:spPr>
          <a:xfrm>
            <a:off x="1115616" y="4372249"/>
            <a:ext cx="7516368" cy="54850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50" b="1" dirty="0">
                <a:solidFill>
                  <a:srgbClr val="17375E"/>
                </a:solidFill>
                <a:latin typeface="Calibri"/>
                <a:cs typeface="Calibri"/>
              </a:rPr>
              <a:t>Consolidación y validación. </a:t>
            </a:r>
            <a:r>
              <a:rPr lang="es-CL" sz="1350" dirty="0">
                <a:solidFill>
                  <a:srgbClr val="3A3A3A"/>
                </a:solidFill>
                <a:latin typeface="Calibri"/>
                <a:cs typeface="Calibri"/>
              </a:rPr>
              <a:t>Dos manuales bajo el formato del MGO, con diagramas de flujo y matrices RACI, validados mediante acta.</a:t>
            </a:r>
          </a:p>
        </p:txBody>
      </p:sp>
      <p:sp>
        <p:nvSpPr>
          <p:cNvPr id="16" name="Regla"/>
          <p:cNvSpPr/>
          <p:nvPr/>
        </p:nvSpPr>
        <p:spPr>
          <a:xfrm>
            <a:off x="548640" y="5048767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Parrafo"/>
          <p:cNvSpPr txBox="1"/>
          <p:nvPr/>
        </p:nvSpPr>
        <p:spPr>
          <a:xfrm>
            <a:off x="548640" y="5577291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00" dirty="0">
                <a:solidFill>
                  <a:srgbClr val="17375E"/>
                </a:solidFill>
                <a:latin typeface="Calibri"/>
                <a:cs typeface="Calibri"/>
              </a:rPr>
              <a:t>Indicador de logro: CAP, cobertura de arquitectura de procesos.</a:t>
            </a:r>
          </a:p>
        </p:txBody>
      </p:sp>
      <p:sp>
        <p:nvSpPr>
          <p:cNvPr id="18" name="Titulo">
            <a:extLst>
              <a:ext uri="{FF2B5EF4-FFF2-40B4-BE49-F238E27FC236}">
                <a16:creationId xmlns:a16="http://schemas.microsoft.com/office/drawing/2014/main" id="{319317F1-3762-B9A9-25BA-0DB24EC55ACB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9" name="Numero">
            <a:extLst>
              <a:ext uri="{FF2B5EF4-FFF2-40B4-BE49-F238E27FC236}">
                <a16:creationId xmlns:a16="http://schemas.microsoft.com/office/drawing/2014/main" id="{50B0A23F-778F-3CE4-0D3B-15DE752D8AEF}"/>
              </a:ext>
            </a:extLst>
          </p:cNvPr>
          <p:cNvSpPr txBox="1"/>
          <p:nvPr/>
        </p:nvSpPr>
        <p:spPr>
          <a:xfrm>
            <a:off x="8676456" y="6035040"/>
            <a:ext cx="369264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10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200" b="1" dirty="0">
                <a:solidFill>
                  <a:srgbClr val="17375E"/>
                </a:solidFill>
                <a:latin typeface="Calibri"/>
                <a:cs typeface="Calibri"/>
              </a:rPr>
              <a:t>METODOLOGÍA - OE2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Sección IV (OE2) y actividades A2.1 a A2.4 del anteproyecto.</a:t>
            </a:r>
          </a:p>
        </p:txBody>
      </p:sp>
      <p:sp>
        <p:nvSpPr>
          <p:cNvPr id="6" name="Rotulo figura"/>
          <p:cNvSpPr txBox="1"/>
          <p:nvPr/>
        </p:nvSpPr>
        <p:spPr>
          <a:xfrm>
            <a:off x="546656" y="2638111"/>
            <a:ext cx="7695768" cy="23011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50" b="1" dirty="0">
                <a:solidFill>
                  <a:srgbClr val="17375E"/>
                </a:solidFill>
                <a:latin typeface="Calibri"/>
                <a:cs typeface="Calibri"/>
              </a:rPr>
              <a:t>Tabla 2. </a:t>
            </a:r>
            <a:r>
              <a:rPr lang="es-CL" sz="1050" i="1" dirty="0">
                <a:solidFill>
                  <a:srgbClr val="6B6B6B"/>
                </a:solidFill>
                <a:latin typeface="Calibri"/>
                <a:cs typeface="Calibri"/>
              </a:rPr>
              <a:t>Atributos determinados para cada tarea modelada, según COSO II</a:t>
            </a:r>
          </a:p>
        </p:txBody>
      </p:sp>
      <p:graphicFrame>
        <p:nvGraphicFramePr>
          <p:cNvPr id="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345681"/>
              </p:ext>
            </p:extLst>
          </p:nvPr>
        </p:nvGraphicFramePr>
        <p:xfrm>
          <a:off x="548640" y="2927113"/>
          <a:ext cx="7448284" cy="230866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5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2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es-CL" sz="1250" b="1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Atributo</a:t>
                      </a:r>
                    </a:p>
                  </a:txBody>
                  <a:tcPr marL="54864" marR="54864" marT="27432" marB="27432" anchor="b"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es-CL" sz="1250" b="1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Descripción</a:t>
                      </a:r>
                    </a:p>
                  </a:txBody>
                  <a:tcPr marL="54864" marR="54864" marT="27432" marB="27432" anchor="b"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1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Evento de riesgo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B8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Suceso que puede afectar el logro del objetivo de la tarea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B8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021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Categoría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Clasificación del evento según la taxonomía de riesgos adoptada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021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Probabilidad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Verosimilitud de ocurrencia del evento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21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Impacto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Consecuencia potencial sobre la operación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021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Riesgo inherente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Nivel de riesgo antes de considerar los controles existentes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021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Controles existentes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Actividades de control ya vigentes en la organización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21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Riesgo residual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lang="es-CL" sz="12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Nivel de riesgo remanente; determina la respuesta al riesgo (OE3)</a:t>
                      </a:r>
                    </a:p>
                  </a:txBody>
                  <a:tcPr marL="54864" marR="54864" marT="27432" marB="27432"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gla"/>
          <p:cNvSpPr/>
          <p:nvPr/>
        </p:nvSpPr>
        <p:spPr>
          <a:xfrm>
            <a:off x="548640" y="5446711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Parrafo"/>
          <p:cNvSpPr txBox="1"/>
          <p:nvPr/>
        </p:nvSpPr>
        <p:spPr>
          <a:xfrm>
            <a:off x="548640" y="5577291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00" dirty="0">
                <a:solidFill>
                  <a:srgbClr val="17375E"/>
                </a:solidFill>
                <a:latin typeface="Calibri"/>
                <a:cs typeface="Calibri"/>
              </a:rPr>
              <a:t>Indicador de logro: TCER, tasa de cobertura de evaluación de riesgos.</a:t>
            </a:r>
          </a:p>
        </p:txBody>
      </p:sp>
      <p:sp>
        <p:nvSpPr>
          <p:cNvPr id="10" name="Titulo">
            <a:extLst>
              <a:ext uri="{FF2B5EF4-FFF2-40B4-BE49-F238E27FC236}">
                <a16:creationId xmlns:a16="http://schemas.microsoft.com/office/drawing/2014/main" id="{6E48364D-E660-5CAA-F6F8-76B48DF75BE2}"/>
              </a:ext>
            </a:extLst>
          </p:cNvPr>
          <p:cNvSpPr txBox="1"/>
          <p:nvPr/>
        </p:nvSpPr>
        <p:spPr>
          <a:xfrm>
            <a:off x="169168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1" name="Numero">
            <a:extLst>
              <a:ext uri="{FF2B5EF4-FFF2-40B4-BE49-F238E27FC236}">
                <a16:creationId xmlns:a16="http://schemas.microsoft.com/office/drawing/2014/main" id="{62587D52-B774-C31C-E8E3-A570F824891E}"/>
              </a:ext>
            </a:extLst>
          </p:cNvPr>
          <p:cNvSpPr txBox="1"/>
          <p:nvPr/>
        </p:nvSpPr>
        <p:spPr>
          <a:xfrm>
            <a:off x="8676456" y="6035040"/>
            <a:ext cx="369264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11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5" name="Parrafo">
            <a:extLst>
              <a:ext uri="{FF2B5EF4-FFF2-40B4-BE49-F238E27FC236}">
                <a16:creationId xmlns:a16="http://schemas.microsoft.com/office/drawing/2014/main" id="{ADC3836A-CBA1-9530-9BB2-9CA808916BCE}"/>
              </a:ext>
            </a:extLst>
          </p:cNvPr>
          <p:cNvSpPr txBox="1"/>
          <p:nvPr/>
        </p:nvSpPr>
        <p:spPr>
          <a:xfrm>
            <a:off x="546656" y="1910161"/>
            <a:ext cx="8046720" cy="507537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r>
              <a:rPr lang="es-CL" sz="1350" dirty="0"/>
              <a:t>Se evalúa los riesgos operacionales sobre la totalidad de las tareas modeladas y se determinan los siete atributos para cada tarea.</a:t>
            </a:r>
          </a:p>
          <a:p>
            <a:endParaRPr lang="es-CL" dirty="0"/>
          </a:p>
        </p:txBody>
      </p:sp>
      <p:sp>
        <p:nvSpPr>
          <p:cNvPr id="12" name="Regla">
            <a:extLst>
              <a:ext uri="{FF2B5EF4-FFF2-40B4-BE49-F238E27FC236}">
                <a16:creationId xmlns:a16="http://schemas.microsoft.com/office/drawing/2014/main" id="{0EEB55D2-7E9D-6AAB-55F8-6699D17A875C}"/>
              </a:ext>
            </a:extLst>
          </p:cNvPr>
          <p:cNvSpPr/>
          <p:nvPr/>
        </p:nvSpPr>
        <p:spPr>
          <a:xfrm>
            <a:off x="546656" y="2535476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200" b="1" dirty="0">
                <a:solidFill>
                  <a:srgbClr val="17375E"/>
                </a:solidFill>
                <a:latin typeface="Calibri"/>
                <a:cs typeface="Calibri"/>
              </a:rPr>
              <a:t>METODOLOGÍA - OE3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Sección IV (OE3) y actividades A3.1 a A3.4 del anteproyecto.</a:t>
            </a:r>
          </a:p>
        </p:txBody>
      </p:sp>
      <p:sp>
        <p:nvSpPr>
          <p:cNvPr id="6" name="Parrafo"/>
          <p:cNvSpPr txBox="1"/>
          <p:nvPr/>
        </p:nvSpPr>
        <p:spPr>
          <a:xfrm>
            <a:off x="548640" y="1810512"/>
            <a:ext cx="80467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>
              <a:lnSpc>
                <a:spcPct val="118000"/>
              </a:lnSpc>
            </a:pPr>
            <a:r>
              <a:rPr lang="es-CL" sz="1450" dirty="0">
                <a:latin typeface="Calibri"/>
                <a:cs typeface="Calibri"/>
              </a:rPr>
              <a:t>Elaborar el sistema de gestión de riesgos para MP8 y MP21, integrando el catálogo de riesgos evaluados y sus planes de mitigación.</a:t>
            </a:r>
          </a:p>
        </p:txBody>
      </p:sp>
      <p:sp>
        <p:nvSpPr>
          <p:cNvPr id="7" name="Rotulo figura"/>
          <p:cNvSpPr txBox="1"/>
          <p:nvPr/>
        </p:nvSpPr>
        <p:spPr>
          <a:xfrm>
            <a:off x="548640" y="2487168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50" b="1" dirty="0">
                <a:solidFill>
                  <a:srgbClr val="17375E"/>
                </a:solidFill>
                <a:latin typeface="Calibri"/>
                <a:cs typeface="Calibri"/>
              </a:rPr>
              <a:t>Figura 2. </a:t>
            </a:r>
            <a:r>
              <a:rPr lang="es-CL" sz="1050" i="1" dirty="0">
                <a:solidFill>
                  <a:srgbClr val="6B6B6B"/>
                </a:solidFill>
                <a:latin typeface="Calibri"/>
                <a:cs typeface="Calibri"/>
              </a:rPr>
              <a:t>Composición del sistema de gestión de riesgos</a:t>
            </a:r>
          </a:p>
        </p:txBody>
      </p:sp>
      <p:sp>
        <p:nvSpPr>
          <p:cNvPr id="8" name="Marco gobernanza"/>
          <p:cNvSpPr/>
          <p:nvPr/>
        </p:nvSpPr>
        <p:spPr>
          <a:xfrm>
            <a:off x="548640" y="2779776"/>
            <a:ext cx="5349240" cy="1773936"/>
          </a:xfrm>
          <a:prstGeom prst="rect">
            <a:avLst/>
          </a:prstGeom>
          <a:solidFill>
            <a:srgbClr val="EDF2F8"/>
          </a:solidFill>
          <a:ln w="12700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Rotulo gobernanza"/>
          <p:cNvSpPr txBox="1"/>
          <p:nvPr/>
        </p:nvSpPr>
        <p:spPr>
          <a:xfrm>
            <a:off x="676656" y="2871216"/>
            <a:ext cx="5093208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150" b="1" dirty="0">
                <a:solidFill>
                  <a:srgbClr val="1F497D"/>
                </a:solidFill>
                <a:latin typeface="Calibri"/>
                <a:cs typeface="Calibri"/>
              </a:rPr>
              <a:t>Capa de gobernanza: roles, taxonomía, indicadores y monitoreo</a:t>
            </a:r>
          </a:p>
        </p:txBody>
      </p:sp>
      <p:sp>
        <p:nvSpPr>
          <p:cNvPr id="10" name="Catalogo"/>
          <p:cNvSpPr/>
          <p:nvPr/>
        </p:nvSpPr>
        <p:spPr>
          <a:xfrm>
            <a:off x="731520" y="3218688"/>
            <a:ext cx="22677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9"/>
            </a:solidFill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00" b="1" dirty="0">
                <a:solidFill>
                  <a:srgbClr val="17375E"/>
                </a:solidFill>
                <a:latin typeface="Calibri"/>
                <a:cs typeface="Calibri"/>
              </a:rPr>
              <a:t>Catálogo de riesgos evaluados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Insumo de OE2</a:t>
            </a:r>
          </a:p>
        </p:txBody>
      </p:sp>
      <p:sp>
        <p:nvSpPr>
          <p:cNvPr id="11" name="Mas"/>
          <p:cNvSpPr txBox="1"/>
          <p:nvPr/>
        </p:nvSpPr>
        <p:spPr>
          <a:xfrm>
            <a:off x="3054096" y="3639312"/>
            <a:ext cx="292608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CL" sz="1800" b="1" dirty="0">
                <a:solidFill>
                  <a:srgbClr val="1F497D"/>
                </a:solidFill>
                <a:latin typeface="Calibri"/>
                <a:cs typeface="Calibri"/>
              </a:rPr>
              <a:t>+</a:t>
            </a:r>
          </a:p>
        </p:txBody>
      </p:sp>
      <p:sp>
        <p:nvSpPr>
          <p:cNvPr id="12" name="Planes"/>
          <p:cNvSpPr/>
          <p:nvPr/>
        </p:nvSpPr>
        <p:spPr>
          <a:xfrm>
            <a:off x="3401568" y="3218688"/>
            <a:ext cx="22677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9"/>
            </a:solidFill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00" b="1" dirty="0">
                <a:solidFill>
                  <a:srgbClr val="17375E"/>
                </a:solidFill>
                <a:latin typeface="Calibri"/>
                <a:cs typeface="Calibri"/>
              </a:rPr>
              <a:t>Planes de mitigación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A partir del riesgo residual</a:t>
            </a:r>
          </a:p>
        </p:txBody>
      </p:sp>
      <p:sp>
        <p:nvSpPr>
          <p:cNvPr id="13" name="Flecha"/>
          <p:cNvSpPr/>
          <p:nvPr/>
        </p:nvSpPr>
        <p:spPr>
          <a:xfrm>
            <a:off x="6016752" y="3547872"/>
            <a:ext cx="365760" cy="27432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Sistema"/>
          <p:cNvSpPr/>
          <p:nvPr/>
        </p:nvSpPr>
        <p:spPr>
          <a:xfrm>
            <a:off x="6492240" y="2779776"/>
            <a:ext cx="2103120" cy="177393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Sistema de gestión de riesgos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buNone/>
            </a:pPr>
            <a:r>
              <a:rPr lang="es-CL" sz="1100" dirty="0">
                <a:solidFill>
                  <a:srgbClr val="C7D6E8"/>
                </a:solidFill>
                <a:latin typeface="Calibri"/>
                <a:cs typeface="Calibri"/>
              </a:rPr>
              <a:t>para MP8 y MP21</a:t>
            </a:r>
          </a:p>
        </p:txBody>
      </p:sp>
      <p:sp>
        <p:nvSpPr>
          <p:cNvPr id="15" name="Regla"/>
          <p:cNvSpPr/>
          <p:nvPr/>
        </p:nvSpPr>
        <p:spPr>
          <a:xfrm>
            <a:off x="548640" y="5147394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Parrafo"/>
          <p:cNvSpPr txBox="1"/>
          <p:nvPr/>
        </p:nvSpPr>
        <p:spPr>
          <a:xfrm>
            <a:off x="548640" y="5577291"/>
            <a:ext cx="8046720" cy="35295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300" dirty="0">
                <a:solidFill>
                  <a:srgbClr val="17375E"/>
                </a:solidFill>
                <a:latin typeface="Calibri"/>
                <a:cs typeface="Calibri"/>
              </a:rPr>
              <a:t>Indicador de logro: CRPM, cobertura de riesgos con plan de mitigación.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E98725F-C9EA-0FCA-B6AA-59A54322A2C8}"/>
              </a:ext>
            </a:extLst>
          </p:cNvPr>
          <p:cNvSpPr txBox="1"/>
          <p:nvPr/>
        </p:nvSpPr>
        <p:spPr>
          <a:xfrm>
            <a:off x="467544" y="4725561"/>
            <a:ext cx="8127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dirty="0">
                <a:cs typeface="Calibri"/>
              </a:rPr>
              <a:t>El sistema se valida con los dueños de proceso y se presenta a la alta gerencia. </a:t>
            </a:r>
            <a:endParaRPr lang="es-CL" dirty="0"/>
          </a:p>
        </p:txBody>
      </p:sp>
      <p:sp>
        <p:nvSpPr>
          <p:cNvPr id="17" name="Titulo">
            <a:extLst>
              <a:ext uri="{FF2B5EF4-FFF2-40B4-BE49-F238E27FC236}">
                <a16:creationId xmlns:a16="http://schemas.microsoft.com/office/drawing/2014/main" id="{5DF47155-3D09-97FE-24D9-7EF638B16BD2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9" name="Numero">
            <a:extLst>
              <a:ext uri="{FF2B5EF4-FFF2-40B4-BE49-F238E27FC236}">
                <a16:creationId xmlns:a16="http://schemas.microsoft.com/office/drawing/2014/main" id="{C6C6B7F6-371C-CDC6-33AA-3148A6DB4F11}"/>
              </a:ext>
            </a:extLst>
          </p:cNvPr>
          <p:cNvSpPr txBox="1"/>
          <p:nvPr/>
        </p:nvSpPr>
        <p:spPr>
          <a:xfrm>
            <a:off x="8676456" y="6035040"/>
            <a:ext cx="369264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12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Alcance y resultados esperados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Alcance de los objetivos, sección III del anteproyecto.</a:t>
            </a:r>
          </a:p>
        </p:txBody>
      </p:sp>
      <p:sp>
        <p:nvSpPr>
          <p:cNvPr id="6" name="Rotulo figura"/>
          <p:cNvSpPr txBox="1"/>
          <p:nvPr/>
        </p:nvSpPr>
        <p:spPr>
          <a:xfrm>
            <a:off x="548640" y="1810512"/>
            <a:ext cx="356616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50" b="1" dirty="0">
                <a:solidFill>
                  <a:srgbClr val="17375E"/>
                </a:solidFill>
                <a:latin typeface="Calibri"/>
                <a:cs typeface="Calibri"/>
              </a:rPr>
              <a:t>Figura 3. </a:t>
            </a:r>
            <a:r>
              <a:rPr lang="es-CL" sz="1050" i="1" dirty="0">
                <a:solidFill>
                  <a:srgbClr val="6B6B6B"/>
                </a:solidFill>
                <a:latin typeface="Calibri"/>
                <a:cs typeface="Calibri"/>
              </a:rPr>
              <a:t>Niveles de modelamiento (OE1)</a:t>
            </a:r>
          </a:p>
        </p:txBody>
      </p:sp>
      <p:sp>
        <p:nvSpPr>
          <p:cNvPr id="7" name="Nivel Macroproceso"/>
          <p:cNvSpPr/>
          <p:nvPr/>
        </p:nvSpPr>
        <p:spPr>
          <a:xfrm>
            <a:off x="1600200" y="2139696"/>
            <a:ext cx="1463040" cy="420624"/>
          </a:xfrm>
          <a:prstGeom prst="rect">
            <a:avLst/>
          </a:prstGeom>
          <a:solidFill>
            <a:srgbClr val="17375E"/>
          </a:solidFill>
          <a:ln w="9525">
            <a:solidFill>
              <a:srgbClr val="FFFFFF"/>
            </a:solidFill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Macroproceso</a:t>
            </a:r>
          </a:p>
        </p:txBody>
      </p:sp>
      <p:sp>
        <p:nvSpPr>
          <p:cNvPr id="8" name="Nivel Proceso"/>
          <p:cNvSpPr/>
          <p:nvPr/>
        </p:nvSpPr>
        <p:spPr>
          <a:xfrm>
            <a:off x="1394460" y="2633472"/>
            <a:ext cx="1874520" cy="420624"/>
          </a:xfrm>
          <a:prstGeom prst="rect">
            <a:avLst/>
          </a:prstGeom>
          <a:solidFill>
            <a:srgbClr val="1F497D"/>
          </a:solidFill>
          <a:ln w="9525">
            <a:solidFill>
              <a:srgbClr val="FFFFFF"/>
            </a:solidFill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Proceso</a:t>
            </a:r>
          </a:p>
        </p:txBody>
      </p:sp>
      <p:sp>
        <p:nvSpPr>
          <p:cNvPr id="9" name="Nivel Subproceso"/>
          <p:cNvSpPr/>
          <p:nvPr/>
        </p:nvSpPr>
        <p:spPr>
          <a:xfrm>
            <a:off x="1188720" y="3127248"/>
            <a:ext cx="2286000" cy="420624"/>
          </a:xfrm>
          <a:prstGeom prst="rect">
            <a:avLst/>
          </a:prstGeom>
          <a:solidFill>
            <a:srgbClr val="2E5F92"/>
          </a:solidFill>
          <a:ln w="9525">
            <a:solidFill>
              <a:srgbClr val="FFFFFF"/>
            </a:solidFill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Subproceso</a:t>
            </a:r>
          </a:p>
        </p:txBody>
      </p:sp>
      <p:sp>
        <p:nvSpPr>
          <p:cNvPr id="10" name="Nivel Actividad"/>
          <p:cNvSpPr/>
          <p:nvPr/>
        </p:nvSpPr>
        <p:spPr>
          <a:xfrm>
            <a:off x="982980" y="3621024"/>
            <a:ext cx="2697480" cy="420624"/>
          </a:xfrm>
          <a:prstGeom prst="rect">
            <a:avLst/>
          </a:prstGeom>
          <a:solidFill>
            <a:srgbClr val="4F81BD"/>
          </a:solidFill>
          <a:ln w="9525">
            <a:solidFill>
              <a:srgbClr val="FFFFFF"/>
            </a:solidFill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Actividad</a:t>
            </a:r>
          </a:p>
        </p:txBody>
      </p:sp>
      <p:sp>
        <p:nvSpPr>
          <p:cNvPr id="11" name="Nivel Tarea"/>
          <p:cNvSpPr/>
          <p:nvPr/>
        </p:nvSpPr>
        <p:spPr>
          <a:xfrm>
            <a:off x="777240" y="4114800"/>
            <a:ext cx="3108960" cy="420624"/>
          </a:xfrm>
          <a:prstGeom prst="rect">
            <a:avLst/>
          </a:prstGeom>
          <a:solidFill>
            <a:srgbClr val="7FA6D0"/>
          </a:solidFill>
          <a:ln w="9525">
            <a:solidFill>
              <a:srgbClr val="FFFFFF"/>
            </a:solidFill>
          </a:ln>
        </p:spPr>
        <p:txBody>
          <a:bodyPr wrap="square" lIns="109728" tIns="54864" rIns="109728" bIns="54864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250" b="1" dirty="0">
                <a:solidFill>
                  <a:srgbClr val="FFFFFF"/>
                </a:solidFill>
                <a:latin typeface="Calibri"/>
                <a:cs typeface="Calibri"/>
              </a:rPr>
              <a:t>Tarea</a:t>
            </a:r>
          </a:p>
        </p:txBody>
      </p:sp>
      <p:sp>
        <p:nvSpPr>
          <p:cNvPr id="12" name="Parrafo"/>
          <p:cNvSpPr txBox="1"/>
          <p:nvPr/>
        </p:nvSpPr>
        <p:spPr>
          <a:xfrm>
            <a:off x="548640" y="4700016"/>
            <a:ext cx="35661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Cinco niveles bajo el MGO, con APQC PCF v8.0 como referencia de clasificación de apoyo.</a:t>
            </a:r>
          </a:p>
        </p:txBody>
      </p:sp>
      <p:sp>
        <p:nvSpPr>
          <p:cNvPr id="13" name="Regla vertical"/>
          <p:cNvSpPr/>
          <p:nvPr/>
        </p:nvSpPr>
        <p:spPr>
          <a:xfrm>
            <a:off x="4297680" y="1810512"/>
            <a:ext cx="12802" cy="393192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Encabezado"/>
          <p:cNvSpPr txBox="1"/>
          <p:nvPr/>
        </p:nvSpPr>
        <p:spPr>
          <a:xfrm>
            <a:off x="4590288" y="1810512"/>
            <a:ext cx="4005072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1F497D"/>
                </a:solidFill>
                <a:latin typeface="Calibri"/>
                <a:cs typeface="Calibri"/>
              </a:rPr>
              <a:t>Resultados esperados por objetivos</a:t>
            </a:r>
          </a:p>
        </p:txBody>
      </p:sp>
      <p:sp>
        <p:nvSpPr>
          <p:cNvPr id="15" name="Etiqueta"/>
          <p:cNvSpPr txBox="1"/>
          <p:nvPr/>
        </p:nvSpPr>
        <p:spPr>
          <a:xfrm>
            <a:off x="4590288" y="2194560"/>
            <a:ext cx="566928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250" b="1" dirty="0">
                <a:solidFill>
                  <a:srgbClr val="4F81BD"/>
                </a:solidFill>
                <a:latin typeface="Calibri"/>
                <a:cs typeface="Calibri"/>
              </a:rPr>
              <a:t>OE1</a:t>
            </a:r>
          </a:p>
        </p:txBody>
      </p:sp>
      <p:sp>
        <p:nvSpPr>
          <p:cNvPr id="16" name="Texto lista"/>
          <p:cNvSpPr txBox="1"/>
          <p:nvPr/>
        </p:nvSpPr>
        <p:spPr>
          <a:xfrm>
            <a:off x="5157216" y="2194560"/>
            <a:ext cx="3438144" cy="7404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Arquitectura modelada en cinco niveles y consolidada en dos manuales validados</a:t>
            </a:r>
          </a:p>
        </p:txBody>
      </p:sp>
      <p:sp>
        <p:nvSpPr>
          <p:cNvPr id="17" name="Etiqueta"/>
          <p:cNvSpPr txBox="1"/>
          <p:nvPr/>
        </p:nvSpPr>
        <p:spPr>
          <a:xfrm>
            <a:off x="4590288" y="3063050"/>
            <a:ext cx="566928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250" b="1" dirty="0">
                <a:solidFill>
                  <a:srgbClr val="4F81BD"/>
                </a:solidFill>
                <a:latin typeface="Calibri"/>
                <a:cs typeface="Calibri"/>
              </a:rPr>
              <a:t>OE2</a:t>
            </a:r>
          </a:p>
        </p:txBody>
      </p:sp>
      <p:sp>
        <p:nvSpPr>
          <p:cNvPr id="18" name="Texto lista"/>
          <p:cNvSpPr txBox="1"/>
          <p:nvPr/>
        </p:nvSpPr>
        <p:spPr>
          <a:xfrm>
            <a:off x="5157216" y="3063050"/>
            <a:ext cx="3438144" cy="7404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Matriz de riesgos por tarea, con riesgo inherente, controles y riesgo residual</a:t>
            </a:r>
          </a:p>
        </p:txBody>
      </p:sp>
      <p:sp>
        <p:nvSpPr>
          <p:cNvPr id="19" name="Etiqueta"/>
          <p:cNvSpPr txBox="1"/>
          <p:nvPr/>
        </p:nvSpPr>
        <p:spPr>
          <a:xfrm>
            <a:off x="4590288" y="3931539"/>
            <a:ext cx="566928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250" b="1" dirty="0">
                <a:solidFill>
                  <a:srgbClr val="4F81BD"/>
                </a:solidFill>
                <a:latin typeface="Calibri"/>
                <a:cs typeface="Calibri"/>
              </a:rPr>
              <a:t>OE3</a:t>
            </a:r>
          </a:p>
        </p:txBody>
      </p:sp>
      <p:sp>
        <p:nvSpPr>
          <p:cNvPr id="20" name="Texto lista"/>
          <p:cNvSpPr txBox="1"/>
          <p:nvPr/>
        </p:nvSpPr>
        <p:spPr>
          <a:xfrm>
            <a:off x="5157216" y="3931539"/>
            <a:ext cx="3438144" cy="511937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Sistema con planes de mitigación y capa de gobernanza</a:t>
            </a:r>
          </a:p>
        </p:txBody>
      </p:sp>
      <p:sp>
        <p:nvSpPr>
          <p:cNvPr id="24" name="Titulo">
            <a:extLst>
              <a:ext uri="{FF2B5EF4-FFF2-40B4-BE49-F238E27FC236}">
                <a16:creationId xmlns:a16="http://schemas.microsoft.com/office/drawing/2014/main" id="{8529989F-EBE3-1998-1DB8-94F932CE6B1C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26" name="Numero">
            <a:extLst>
              <a:ext uri="{FF2B5EF4-FFF2-40B4-BE49-F238E27FC236}">
                <a16:creationId xmlns:a16="http://schemas.microsoft.com/office/drawing/2014/main" id="{B0E1A71B-6EC2-77F2-E805-9D11DC7DD786}"/>
              </a:ext>
            </a:extLst>
          </p:cNvPr>
          <p:cNvSpPr txBox="1"/>
          <p:nvPr/>
        </p:nvSpPr>
        <p:spPr>
          <a:xfrm>
            <a:off x="8676456" y="6035040"/>
            <a:ext cx="369264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13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Plan de trabajo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" name="Rotulo figura"/>
          <p:cNvSpPr txBox="1"/>
          <p:nvPr/>
        </p:nvSpPr>
        <p:spPr>
          <a:xfrm>
            <a:off x="548640" y="1792224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50" b="1" dirty="0">
                <a:solidFill>
                  <a:srgbClr val="17375E"/>
                </a:solidFill>
                <a:latin typeface="Calibri"/>
                <a:cs typeface="Calibri"/>
              </a:rPr>
              <a:t>Figura 4. </a:t>
            </a:r>
            <a:r>
              <a:rPr lang="es-CL" sz="1050" i="1" dirty="0">
                <a:solidFill>
                  <a:srgbClr val="6B6B6B"/>
                </a:solidFill>
                <a:latin typeface="Calibri"/>
                <a:cs typeface="Calibri"/>
              </a:rPr>
              <a:t>Carta Gantt del plan de trabajo (20 semanas, agosto 2026 a enero 2027)</a:t>
            </a:r>
          </a:p>
        </p:txBody>
      </p:sp>
      <p:sp>
        <p:nvSpPr>
          <p:cNvPr id="6" name="Semana 1"/>
          <p:cNvSpPr/>
          <p:nvPr/>
        </p:nvSpPr>
        <p:spPr>
          <a:xfrm>
            <a:off x="3273552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Semana 2"/>
          <p:cNvSpPr/>
          <p:nvPr/>
        </p:nvSpPr>
        <p:spPr>
          <a:xfrm>
            <a:off x="3539642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" name="Semana 3"/>
          <p:cNvSpPr/>
          <p:nvPr/>
        </p:nvSpPr>
        <p:spPr>
          <a:xfrm>
            <a:off x="3805733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9" name="Semana 4"/>
          <p:cNvSpPr/>
          <p:nvPr/>
        </p:nvSpPr>
        <p:spPr>
          <a:xfrm>
            <a:off x="4071823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0" name="Semana 5"/>
          <p:cNvSpPr/>
          <p:nvPr/>
        </p:nvSpPr>
        <p:spPr>
          <a:xfrm>
            <a:off x="4337914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1" name="Semana 6"/>
          <p:cNvSpPr/>
          <p:nvPr/>
        </p:nvSpPr>
        <p:spPr>
          <a:xfrm>
            <a:off x="4604004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2" name="Semana 7"/>
          <p:cNvSpPr/>
          <p:nvPr/>
        </p:nvSpPr>
        <p:spPr>
          <a:xfrm>
            <a:off x="4870094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13" name="Semana 8"/>
          <p:cNvSpPr/>
          <p:nvPr/>
        </p:nvSpPr>
        <p:spPr>
          <a:xfrm>
            <a:off x="5136185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14" name="Semana 9"/>
          <p:cNvSpPr/>
          <p:nvPr/>
        </p:nvSpPr>
        <p:spPr>
          <a:xfrm>
            <a:off x="5402275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15" name="Semana 10"/>
          <p:cNvSpPr/>
          <p:nvPr/>
        </p:nvSpPr>
        <p:spPr>
          <a:xfrm>
            <a:off x="5668366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16" name="Semana 11"/>
          <p:cNvSpPr/>
          <p:nvPr/>
        </p:nvSpPr>
        <p:spPr>
          <a:xfrm>
            <a:off x="5934456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17" name="Semana 12"/>
          <p:cNvSpPr/>
          <p:nvPr/>
        </p:nvSpPr>
        <p:spPr>
          <a:xfrm>
            <a:off x="6200546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18" name="Semana 13"/>
          <p:cNvSpPr/>
          <p:nvPr/>
        </p:nvSpPr>
        <p:spPr>
          <a:xfrm>
            <a:off x="6466637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19" name="Semana 14"/>
          <p:cNvSpPr/>
          <p:nvPr/>
        </p:nvSpPr>
        <p:spPr>
          <a:xfrm>
            <a:off x="6732727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20" name="Semana 15"/>
          <p:cNvSpPr/>
          <p:nvPr/>
        </p:nvSpPr>
        <p:spPr>
          <a:xfrm>
            <a:off x="6998818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21" name="Semana 16"/>
          <p:cNvSpPr/>
          <p:nvPr/>
        </p:nvSpPr>
        <p:spPr>
          <a:xfrm>
            <a:off x="7264908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22" name="Semana 17"/>
          <p:cNvSpPr/>
          <p:nvPr/>
        </p:nvSpPr>
        <p:spPr>
          <a:xfrm>
            <a:off x="7530998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17</a:t>
            </a:r>
          </a:p>
        </p:txBody>
      </p:sp>
      <p:sp>
        <p:nvSpPr>
          <p:cNvPr id="23" name="Semana 18"/>
          <p:cNvSpPr/>
          <p:nvPr/>
        </p:nvSpPr>
        <p:spPr>
          <a:xfrm>
            <a:off x="7797089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18</a:t>
            </a:r>
          </a:p>
        </p:txBody>
      </p:sp>
      <p:sp>
        <p:nvSpPr>
          <p:cNvPr id="24" name="Semana 19"/>
          <p:cNvSpPr/>
          <p:nvPr/>
        </p:nvSpPr>
        <p:spPr>
          <a:xfrm>
            <a:off x="8063179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25" name="Semana 20"/>
          <p:cNvSpPr/>
          <p:nvPr/>
        </p:nvSpPr>
        <p:spPr>
          <a:xfrm>
            <a:off x="8329270" y="2103120"/>
            <a:ext cx="26609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rmAutofit/>
          </a:bodyPr>
          <a:lstStyle/>
          <a:p>
            <a:pPr algn="ctr">
              <a:buNone/>
            </a:pPr>
            <a:r>
              <a:rPr lang="es-CL" sz="750" dirty="0">
                <a:solidFill>
                  <a:srgbClr val="6B6B6B"/>
                </a:solidFill>
                <a:latin typeface="Calibri"/>
                <a:cs typeface="Calibri"/>
              </a:rPr>
              <a:t>20</a:t>
            </a:r>
          </a:p>
        </p:txBody>
      </p:sp>
      <p:sp>
        <p:nvSpPr>
          <p:cNvPr id="26" name="Regla semanas"/>
          <p:cNvSpPr/>
          <p:nvPr/>
        </p:nvSpPr>
        <p:spPr>
          <a:xfrm>
            <a:off x="3273552" y="2359152"/>
            <a:ext cx="5321808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7" name="Guia S5"/>
          <p:cNvSpPr/>
          <p:nvPr/>
        </p:nvSpPr>
        <p:spPr>
          <a:xfrm>
            <a:off x="4604004" y="2359152"/>
            <a:ext cx="6401" cy="3346704"/>
          </a:xfrm>
          <a:prstGeom prst="rect">
            <a:avLst/>
          </a:prstGeom>
          <a:solidFill>
            <a:srgbClr val="E4EAF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8" name="Guia S10"/>
          <p:cNvSpPr/>
          <p:nvPr/>
        </p:nvSpPr>
        <p:spPr>
          <a:xfrm>
            <a:off x="5934456" y="2359152"/>
            <a:ext cx="6401" cy="3346704"/>
          </a:xfrm>
          <a:prstGeom prst="rect">
            <a:avLst/>
          </a:prstGeom>
          <a:solidFill>
            <a:srgbClr val="E4EAF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9" name="Guia S15"/>
          <p:cNvSpPr/>
          <p:nvPr/>
        </p:nvSpPr>
        <p:spPr>
          <a:xfrm>
            <a:off x="7264908" y="2359152"/>
            <a:ext cx="6401" cy="3346704"/>
          </a:xfrm>
          <a:prstGeom prst="rect">
            <a:avLst/>
          </a:prstGeom>
          <a:solidFill>
            <a:srgbClr val="E4EAF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" name="Act 0"/>
          <p:cNvSpPr txBox="1"/>
          <p:nvPr/>
        </p:nvSpPr>
        <p:spPr>
          <a:xfrm>
            <a:off x="548640" y="2395728"/>
            <a:ext cx="2651760" cy="27889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A1.1–A1.2  Diagnóstico y entrevistas</a:t>
            </a:r>
          </a:p>
        </p:txBody>
      </p:sp>
      <p:sp>
        <p:nvSpPr>
          <p:cNvPr id="31" name="Barra 0"/>
          <p:cNvSpPr/>
          <p:nvPr/>
        </p:nvSpPr>
        <p:spPr>
          <a:xfrm>
            <a:off x="3273552" y="2441448"/>
            <a:ext cx="1064362" cy="18745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Act 1"/>
          <p:cNvSpPr txBox="1"/>
          <p:nvPr/>
        </p:nvSpPr>
        <p:spPr>
          <a:xfrm>
            <a:off x="548640" y="2674620"/>
            <a:ext cx="2651760" cy="27889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A1.3  Modelamiento MP8</a:t>
            </a:r>
          </a:p>
        </p:txBody>
      </p:sp>
      <p:sp>
        <p:nvSpPr>
          <p:cNvPr id="33" name="Barra 1"/>
          <p:cNvSpPr/>
          <p:nvPr/>
        </p:nvSpPr>
        <p:spPr>
          <a:xfrm>
            <a:off x="4071823" y="2720340"/>
            <a:ext cx="1064362" cy="18745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Act 2"/>
          <p:cNvSpPr txBox="1"/>
          <p:nvPr/>
        </p:nvSpPr>
        <p:spPr>
          <a:xfrm>
            <a:off x="548640" y="2953512"/>
            <a:ext cx="2651760" cy="27889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A1.4  Modelamiento MP21</a:t>
            </a:r>
          </a:p>
        </p:txBody>
      </p:sp>
      <p:sp>
        <p:nvSpPr>
          <p:cNvPr id="35" name="Barra 2"/>
          <p:cNvSpPr/>
          <p:nvPr/>
        </p:nvSpPr>
        <p:spPr>
          <a:xfrm>
            <a:off x="4604004" y="2999232"/>
            <a:ext cx="1064362" cy="18745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Act 3"/>
          <p:cNvSpPr txBox="1"/>
          <p:nvPr/>
        </p:nvSpPr>
        <p:spPr>
          <a:xfrm>
            <a:off x="548640" y="3232404"/>
            <a:ext cx="2651760" cy="27889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A1.5–A1.6  Manuales y validación</a:t>
            </a:r>
          </a:p>
        </p:txBody>
      </p:sp>
      <p:sp>
        <p:nvSpPr>
          <p:cNvPr id="37" name="Barra 3"/>
          <p:cNvSpPr/>
          <p:nvPr/>
        </p:nvSpPr>
        <p:spPr>
          <a:xfrm>
            <a:off x="5136185" y="3278124"/>
            <a:ext cx="1064362" cy="18745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Act 4"/>
          <p:cNvSpPr txBox="1"/>
          <p:nvPr/>
        </p:nvSpPr>
        <p:spPr>
          <a:xfrm>
            <a:off x="548640" y="3511296"/>
            <a:ext cx="2651760" cy="2788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A2.1  Identificación de eventos</a:t>
            </a:r>
          </a:p>
        </p:txBody>
      </p:sp>
      <p:sp>
        <p:nvSpPr>
          <p:cNvPr id="39" name="Barra 4"/>
          <p:cNvSpPr/>
          <p:nvPr/>
        </p:nvSpPr>
        <p:spPr>
          <a:xfrm>
            <a:off x="5402275" y="3557016"/>
            <a:ext cx="1064362" cy="18745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softEdge rad="0"/>
          </a:effectLst>
        </p:spPr>
        <p:txBody>
          <a:bodyPr/>
          <a:lstStyle/>
          <a:p>
            <a:endParaRPr lang="es-CL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Act 5"/>
          <p:cNvSpPr txBox="1"/>
          <p:nvPr/>
        </p:nvSpPr>
        <p:spPr>
          <a:xfrm>
            <a:off x="548640" y="3790188"/>
            <a:ext cx="2651760" cy="2788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A2.2  Valoración de riesgos</a:t>
            </a:r>
          </a:p>
        </p:txBody>
      </p:sp>
      <p:sp>
        <p:nvSpPr>
          <p:cNvPr id="41" name="Barra 5"/>
          <p:cNvSpPr/>
          <p:nvPr/>
        </p:nvSpPr>
        <p:spPr>
          <a:xfrm>
            <a:off x="6200546" y="3835908"/>
            <a:ext cx="798271" cy="18745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softEdge rad="0"/>
          </a:effectLst>
        </p:spPr>
        <p:txBody>
          <a:bodyPr/>
          <a:lstStyle/>
          <a:p>
            <a:endParaRPr lang="es-CL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Act 6"/>
          <p:cNvSpPr txBox="1"/>
          <p:nvPr/>
        </p:nvSpPr>
        <p:spPr>
          <a:xfrm>
            <a:off x="548640" y="4069080"/>
            <a:ext cx="2651760" cy="2788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A2.3–A2.4  Matriz y validación</a:t>
            </a:r>
          </a:p>
        </p:txBody>
      </p:sp>
      <p:sp>
        <p:nvSpPr>
          <p:cNvPr id="43" name="Barra 6"/>
          <p:cNvSpPr/>
          <p:nvPr/>
        </p:nvSpPr>
        <p:spPr>
          <a:xfrm>
            <a:off x="6732727" y="4114800"/>
            <a:ext cx="798271" cy="18745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softEdge rad="0"/>
          </a:effectLst>
        </p:spPr>
        <p:txBody>
          <a:bodyPr/>
          <a:lstStyle/>
          <a:p>
            <a:endParaRPr lang="es-CL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Act 7"/>
          <p:cNvSpPr txBox="1"/>
          <p:nvPr/>
        </p:nvSpPr>
        <p:spPr>
          <a:xfrm>
            <a:off x="548640" y="4347972"/>
            <a:ext cx="2651760" cy="278892"/>
          </a:xfrm>
          <a:prstGeom prst="roundRect">
            <a:avLst/>
          </a:prstGeom>
          <a:solidFill>
            <a:schemeClr val="bg2">
              <a:lumMod val="75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A3.1  Planes de mitigación</a:t>
            </a:r>
          </a:p>
        </p:txBody>
      </p:sp>
      <p:sp>
        <p:nvSpPr>
          <p:cNvPr id="45" name="Barra 7"/>
          <p:cNvSpPr/>
          <p:nvPr/>
        </p:nvSpPr>
        <p:spPr>
          <a:xfrm>
            <a:off x="6998818" y="4393692"/>
            <a:ext cx="798271" cy="18745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46" name="Act 8"/>
          <p:cNvSpPr txBox="1"/>
          <p:nvPr/>
        </p:nvSpPr>
        <p:spPr>
          <a:xfrm>
            <a:off x="548640" y="4626864"/>
            <a:ext cx="2651760" cy="278892"/>
          </a:xfrm>
          <a:prstGeom prst="roundRect">
            <a:avLst/>
          </a:prstGeom>
          <a:solidFill>
            <a:schemeClr val="bg2">
              <a:lumMod val="75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A3.2  Capa de gobernanza</a:t>
            </a:r>
          </a:p>
        </p:txBody>
      </p:sp>
      <p:sp>
        <p:nvSpPr>
          <p:cNvPr id="47" name="Barra 8"/>
          <p:cNvSpPr/>
          <p:nvPr/>
        </p:nvSpPr>
        <p:spPr>
          <a:xfrm>
            <a:off x="7264908" y="4672584"/>
            <a:ext cx="798271" cy="18745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48" name="Act 9"/>
          <p:cNvSpPr txBox="1"/>
          <p:nvPr/>
        </p:nvSpPr>
        <p:spPr>
          <a:xfrm>
            <a:off x="548640" y="4905756"/>
            <a:ext cx="2651760" cy="278892"/>
          </a:xfrm>
          <a:prstGeom prst="roundRect">
            <a:avLst/>
          </a:prstGeom>
          <a:solidFill>
            <a:schemeClr val="bg2">
              <a:lumMod val="75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latin typeface="Calibri"/>
                <a:cs typeface="Calibri"/>
              </a:rPr>
              <a:t>A3.3–A3.4  Integración y entrega</a:t>
            </a:r>
          </a:p>
        </p:txBody>
      </p:sp>
      <p:sp>
        <p:nvSpPr>
          <p:cNvPr id="49" name="Barra 9"/>
          <p:cNvSpPr/>
          <p:nvPr/>
        </p:nvSpPr>
        <p:spPr>
          <a:xfrm>
            <a:off x="7797089" y="4951476"/>
            <a:ext cx="798271" cy="18745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50" name="Transversal"/>
          <p:cNvSpPr txBox="1"/>
          <p:nvPr/>
        </p:nvSpPr>
        <p:spPr>
          <a:xfrm>
            <a:off x="548640" y="5184648"/>
            <a:ext cx="2651760" cy="27889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0"/>
          </a:effectLst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A-G  Documentación del AFE</a:t>
            </a:r>
          </a:p>
        </p:txBody>
      </p:sp>
      <p:sp>
        <p:nvSpPr>
          <p:cNvPr id="51" name="Barra A-G"/>
          <p:cNvSpPr/>
          <p:nvPr/>
        </p:nvSpPr>
        <p:spPr>
          <a:xfrm>
            <a:off x="3273552" y="5239847"/>
            <a:ext cx="5321808" cy="18745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52" name="Titulo">
            <a:extLst>
              <a:ext uri="{FF2B5EF4-FFF2-40B4-BE49-F238E27FC236}">
                <a16:creationId xmlns:a16="http://schemas.microsoft.com/office/drawing/2014/main" id="{BC6C47AB-A9A6-734B-C6CC-C73B419F5186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53" name="Numero">
            <a:extLst>
              <a:ext uri="{FF2B5EF4-FFF2-40B4-BE49-F238E27FC236}">
                <a16:creationId xmlns:a16="http://schemas.microsoft.com/office/drawing/2014/main" id="{D210BF70-D449-2BF2-DA66-9F7EA76CF449}"/>
              </a:ext>
            </a:extLst>
          </p:cNvPr>
          <p:cNvSpPr txBox="1"/>
          <p:nvPr/>
        </p:nvSpPr>
        <p:spPr>
          <a:xfrm>
            <a:off x="8676456" y="6035040"/>
            <a:ext cx="369264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14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Recursos disponibles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rgbClr val="6B6B6B"/>
                </a:solidFill>
                <a:latin typeface="Calibri"/>
                <a:cs typeface="Calibri"/>
              </a:rPr>
              <a:t>Sección VI del anteproyecto.</a:t>
            </a:r>
          </a:p>
        </p:txBody>
      </p:sp>
      <p:sp>
        <p:nvSpPr>
          <p:cNvPr id="6" name="Etiqueta"/>
          <p:cNvSpPr txBox="1"/>
          <p:nvPr/>
        </p:nvSpPr>
        <p:spPr>
          <a:xfrm>
            <a:off x="548640" y="2072711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Texto lista"/>
          <p:cNvSpPr txBox="1"/>
          <p:nvPr/>
        </p:nvSpPr>
        <p:spPr>
          <a:xfrm>
            <a:off x="1078992" y="2072712"/>
            <a:ext cx="7516368" cy="754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Acceso a la información.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Archivos internos y sistemas de gestión documental de la organización.</a:t>
            </a:r>
          </a:p>
        </p:txBody>
      </p:sp>
      <p:sp>
        <p:nvSpPr>
          <p:cNvPr id="8" name="Etiqueta"/>
          <p:cNvSpPr txBox="1"/>
          <p:nvPr/>
        </p:nvSpPr>
        <p:spPr>
          <a:xfrm>
            <a:off x="548640" y="2578829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9" name="Texto lista"/>
          <p:cNvSpPr txBox="1"/>
          <p:nvPr/>
        </p:nvSpPr>
        <p:spPr>
          <a:xfrm>
            <a:off x="1078992" y="2578829"/>
            <a:ext cx="7516368" cy="8501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Disposición de los informantes.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Los dueños de proceso de MP8 y MP21 a nivel corporativo manifestaron formalmente su disposición a participar mediante correo. Se adjunta carta de compromiso.</a:t>
            </a:r>
          </a:p>
        </p:txBody>
      </p:sp>
      <p:sp>
        <p:nvSpPr>
          <p:cNvPr id="10" name="Etiqueta"/>
          <p:cNvSpPr txBox="1"/>
          <p:nvPr/>
        </p:nvSpPr>
        <p:spPr>
          <a:xfrm>
            <a:off x="548640" y="3584181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" name="Texto lista"/>
          <p:cNvSpPr txBox="1"/>
          <p:nvPr/>
        </p:nvSpPr>
        <p:spPr>
          <a:xfrm>
            <a:off x="1078992" y="3584181"/>
            <a:ext cx="7516368" cy="585069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Recursos metodológicos.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APQC PCF v8.0 de acceso público, marcos COSO y MGO de la empresa.</a:t>
            </a:r>
          </a:p>
        </p:txBody>
      </p:sp>
      <p:sp>
        <p:nvSpPr>
          <p:cNvPr id="12" name="Etiqueta"/>
          <p:cNvSpPr txBox="1"/>
          <p:nvPr/>
        </p:nvSpPr>
        <p:spPr>
          <a:xfrm>
            <a:off x="534328" y="4913633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3" name="Texto lista"/>
          <p:cNvSpPr txBox="1"/>
          <p:nvPr/>
        </p:nvSpPr>
        <p:spPr>
          <a:xfrm>
            <a:off x="1064680" y="4913633"/>
            <a:ext cx="7516368" cy="585069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Resguardo de la información.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Los datos y entregables se tratan con carácter confidencial; el informe final se marcará como reservado.</a:t>
            </a:r>
          </a:p>
        </p:txBody>
      </p:sp>
      <p:sp>
        <p:nvSpPr>
          <p:cNvPr id="14" name="Titulo">
            <a:extLst>
              <a:ext uri="{FF2B5EF4-FFF2-40B4-BE49-F238E27FC236}">
                <a16:creationId xmlns:a16="http://schemas.microsoft.com/office/drawing/2014/main" id="{4C06B9B1-0CB0-04B9-DB95-F412588DD17C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5" name="Numero">
            <a:extLst>
              <a:ext uri="{FF2B5EF4-FFF2-40B4-BE49-F238E27FC236}">
                <a16:creationId xmlns:a16="http://schemas.microsoft.com/office/drawing/2014/main" id="{7918E030-D86B-CA05-91E4-AE518929FEDE}"/>
              </a:ext>
            </a:extLst>
          </p:cNvPr>
          <p:cNvSpPr txBox="1"/>
          <p:nvPr/>
        </p:nvSpPr>
        <p:spPr>
          <a:xfrm>
            <a:off x="8676456" y="6035040"/>
            <a:ext cx="369264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15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7" name="Etiqueta">
            <a:extLst>
              <a:ext uri="{FF2B5EF4-FFF2-40B4-BE49-F238E27FC236}">
                <a16:creationId xmlns:a16="http://schemas.microsoft.com/office/drawing/2014/main" id="{4AE77B40-B3BF-4157-B383-ED78AFE93A09}"/>
              </a:ext>
            </a:extLst>
          </p:cNvPr>
          <p:cNvSpPr txBox="1"/>
          <p:nvPr/>
        </p:nvSpPr>
        <p:spPr>
          <a:xfrm>
            <a:off x="534328" y="4152158"/>
            <a:ext cx="530352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450" b="1" dirty="0">
                <a:solidFill>
                  <a:srgbClr val="4F81BD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Texto lista">
            <a:extLst>
              <a:ext uri="{FF2B5EF4-FFF2-40B4-BE49-F238E27FC236}">
                <a16:creationId xmlns:a16="http://schemas.microsoft.com/office/drawing/2014/main" id="{576027EE-7035-7AF0-B20C-8315324EEC82}"/>
              </a:ext>
            </a:extLst>
          </p:cNvPr>
          <p:cNvSpPr txBox="1"/>
          <p:nvPr/>
        </p:nvSpPr>
        <p:spPr>
          <a:xfrm>
            <a:off x="1064680" y="4152158"/>
            <a:ext cx="7516368" cy="585069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50" b="1" dirty="0">
                <a:solidFill>
                  <a:srgbClr val="17375E"/>
                </a:solidFill>
                <a:latin typeface="Calibri"/>
                <a:cs typeface="Calibri"/>
              </a:rPr>
              <a:t>Recursos de software. </a:t>
            </a:r>
            <a:r>
              <a:rPr lang="es-CL" sz="1450" dirty="0">
                <a:solidFill>
                  <a:srgbClr val="3A3A3A"/>
                </a:solidFill>
                <a:latin typeface="Calibri"/>
                <a:cs typeface="Calibri"/>
              </a:rPr>
              <a:t>Licencias gratuitas de softwares de modelamiento de procesos, herramientas de de Microsoft Office.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chemeClr val="tx2"/>
                </a:solidFill>
                <a:latin typeface="Calibri"/>
                <a:cs typeface="Calibri"/>
              </a:rPr>
              <a:t>Aportes esperados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Fuente"/>
          <p:cNvSpPr txBox="1"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buNone/>
            </a:pPr>
            <a:r>
              <a:rPr lang="es-CL" sz="9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Resumen y secciones II.2.4 y IV del anteproyecto.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548640" y="1810512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lnSpcReduction="10000"/>
          </a:bodyPr>
          <a:lstStyle/>
          <a:p>
            <a:pPr algn="l">
              <a:buNone/>
            </a:pPr>
            <a:r>
              <a:rPr lang="es-CL" sz="1300" b="1" dirty="0">
                <a:solidFill>
                  <a:schemeClr val="tx2"/>
                </a:solidFill>
                <a:latin typeface="Calibri"/>
                <a:cs typeface="Calibri"/>
              </a:rPr>
              <a:t>Aporte al </a:t>
            </a:r>
            <a:r>
              <a:rPr lang="es-CL" sz="1450" b="1" dirty="0">
                <a:solidFill>
                  <a:schemeClr val="tx2"/>
                </a:solidFill>
                <a:latin typeface="Calibri"/>
                <a:cs typeface="Calibri"/>
              </a:rPr>
              <a:t>conocimiento</a:t>
            </a:r>
          </a:p>
        </p:txBody>
      </p:sp>
      <p:sp>
        <p:nvSpPr>
          <p:cNvPr id="7" name="Parrafo"/>
          <p:cNvSpPr txBox="1"/>
          <p:nvPr/>
        </p:nvSpPr>
        <p:spPr>
          <a:xfrm>
            <a:off x="548640" y="2103120"/>
            <a:ext cx="8046720" cy="8412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00" dirty="0">
                <a:latin typeface="Calibri"/>
                <a:cs typeface="Calibri"/>
              </a:rPr>
              <a:t>Documenta una aplicación de COSO II sobre procesos de apoyo de una empresa del sector forestal, ámbito en que la literatura revisada no registra estudios. La metodología queda explicitada y es transferible a otros casos.</a:t>
            </a:r>
          </a:p>
        </p:txBody>
      </p:sp>
      <p:sp>
        <p:nvSpPr>
          <p:cNvPr id="8" name="Regla"/>
          <p:cNvSpPr/>
          <p:nvPr/>
        </p:nvSpPr>
        <p:spPr>
          <a:xfrm>
            <a:off x="548640" y="3035808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548640" y="3182112"/>
            <a:ext cx="8046720" cy="2560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1300" b="1" dirty="0">
                <a:solidFill>
                  <a:schemeClr val="tx2"/>
                </a:solidFill>
                <a:latin typeface="Calibri"/>
                <a:cs typeface="Calibri"/>
              </a:rPr>
              <a:t>Aporte aplicado</a:t>
            </a:r>
          </a:p>
        </p:txBody>
      </p:sp>
      <p:sp>
        <p:nvSpPr>
          <p:cNvPr id="10" name="Parrafo"/>
          <p:cNvSpPr txBox="1"/>
          <p:nvPr/>
        </p:nvSpPr>
        <p:spPr>
          <a:xfrm>
            <a:off x="548640" y="3474720"/>
            <a:ext cx="804672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1400" dirty="0">
                <a:latin typeface="Calibri"/>
                <a:cs typeface="Calibri"/>
              </a:rPr>
              <a:t>Al sustentarse en la arquitectura de procesos modelada, el sistema resulta replicable en los distintos negocios de la empres.</a:t>
            </a:r>
          </a:p>
        </p:txBody>
      </p:sp>
      <p:sp>
        <p:nvSpPr>
          <p:cNvPr id="11" name="Regla"/>
          <p:cNvSpPr/>
          <p:nvPr/>
        </p:nvSpPr>
        <p:spPr>
          <a:xfrm>
            <a:off x="548640" y="4279392"/>
            <a:ext cx="804672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Titulo">
            <a:extLst>
              <a:ext uri="{FF2B5EF4-FFF2-40B4-BE49-F238E27FC236}">
                <a16:creationId xmlns:a16="http://schemas.microsoft.com/office/drawing/2014/main" id="{43853F7A-D30E-3E58-38F3-CB5D03FFB074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16" name="Numero">
            <a:extLst>
              <a:ext uri="{FF2B5EF4-FFF2-40B4-BE49-F238E27FC236}">
                <a16:creationId xmlns:a16="http://schemas.microsoft.com/office/drawing/2014/main" id="{DADA0CB2-9EF2-A487-2D2C-7DBCF25DC78D}"/>
              </a:ext>
            </a:extLst>
          </p:cNvPr>
          <p:cNvSpPr txBox="1"/>
          <p:nvPr/>
        </p:nvSpPr>
        <p:spPr>
          <a:xfrm>
            <a:off x="8676456" y="6035040"/>
            <a:ext cx="369264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r">
              <a:buNone/>
            </a:pPr>
            <a:r>
              <a:rPr lang="es-CL" sz="2400" b="1" dirty="0">
                <a:latin typeface="Calibri"/>
                <a:cs typeface="Calibri"/>
              </a:rPr>
              <a:t>16</a:t>
            </a:r>
            <a:endParaRPr lang="es-CL" sz="16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l">
              <a:buNone/>
            </a:pPr>
            <a:r>
              <a:rPr lang="es-CL" sz="2400" b="1" dirty="0">
                <a:solidFill>
                  <a:srgbClr val="17375E"/>
                </a:solidFill>
                <a:latin typeface="Calibri"/>
                <a:cs typeface="Calibri"/>
              </a:rPr>
              <a:t>Referencias</a:t>
            </a:r>
          </a:p>
        </p:txBody>
      </p:sp>
      <p:sp>
        <p:nvSpPr>
          <p:cNvPr id="3" name="Regla"/>
          <p:cNvSpPr/>
          <p:nvPr/>
        </p:nvSpPr>
        <p:spPr>
          <a:xfrm>
            <a:off x="548640" y="1609344"/>
            <a:ext cx="8046720" cy="16459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Refs 0"/>
          <p:cNvSpPr txBox="1"/>
          <p:nvPr/>
        </p:nvSpPr>
        <p:spPr>
          <a:xfrm>
            <a:off x="548640" y="1810512"/>
            <a:ext cx="388620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Anton, S. G., &amp; Nucu, A. E. A. (2020). Enterprise risk management: A literature review and agenda for future research. Journal of Risk and Financial Management, 13(11), 281.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American Productivity &amp; Quality Center. (2023). Process Classification Framework (PCF): Cross Industry. APQC.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Ato, M., López, J. J., &amp; Benavente, A. (2013). Un sistema de clasificación de los diseños de investigación en psicología. Anales de Psicología, 29(3), 1038–1059.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COSO. (2004). Enterprise Risk Management: Integrated Framework. AICPA.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COSO. (2017). Enterprise Risk Management: Integrating with Strategy and Performance. AICPA.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Davenport, T. H. (1993). Process innovation: Reengineering work through information technology. Harvard Business School Press.</a:t>
            </a:r>
          </a:p>
        </p:txBody>
      </p:sp>
      <p:sp>
        <p:nvSpPr>
          <p:cNvPr id="7" name="Refs 1"/>
          <p:cNvSpPr txBox="1"/>
          <p:nvPr/>
        </p:nvSpPr>
        <p:spPr>
          <a:xfrm>
            <a:off x="4709160" y="1810512"/>
            <a:ext cx="388620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Farrell, M., &amp; Gallagher, R. (2015). The valuation implications of enterprise risk management maturity. Journal of Risk and Insurance, 82(3), 625–657.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Hoyt, R. E., &amp; Liebenberg, A. P. (2011). The value of enterprise risk management. Journal of Risk and Insurance, 78(4), 795–822.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Jagrič, T., Malnar, A., &amp; Galun, M. (2026). From ESG risk governance to firm performance. Sustainability, 18(10), 5131.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Software Engineering Institute. (2010). CMMI for Development, Version 1.3. Carnegie Mellon University.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Soner, M., &amp; Karadag, M. (2026). A COSO-based enterprise risk management maturity in the service industry. Sustainability, 18(4), 1929.</a:t>
            </a:r>
          </a:p>
          <a:p>
            <a:pPr marL="164592" indent="-164592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Thomas, D. S., &amp; Weiss, B. A. (2021). Maintenance costs and advanced maintenance techniques in manufacturing machinery. International Journal of Prognostics and Health Management, 12(1).</a:t>
            </a:r>
          </a:p>
        </p:txBody>
      </p:sp>
      <p:sp>
        <p:nvSpPr>
          <p:cNvPr id="8" name="Titulo">
            <a:extLst>
              <a:ext uri="{FF2B5EF4-FFF2-40B4-BE49-F238E27FC236}">
                <a16:creationId xmlns:a16="http://schemas.microsoft.com/office/drawing/2014/main" id="{1D42E42E-3FFE-3483-5306-877AC115DBFA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9" name="Numero">
            <a:extLst>
              <a:ext uri="{FF2B5EF4-FFF2-40B4-BE49-F238E27FC236}">
                <a16:creationId xmlns:a16="http://schemas.microsoft.com/office/drawing/2014/main" id="{C16573C9-699F-D453-2489-F14146966E29}"/>
              </a:ext>
            </a:extLst>
          </p:cNvPr>
          <p:cNvSpPr txBox="1"/>
          <p:nvPr/>
        </p:nvSpPr>
        <p:spPr>
          <a:xfrm>
            <a:off x="8676456" y="6035040"/>
            <a:ext cx="369264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 fontScale="85000" lnSpcReduction="10000"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17</a:t>
            </a:r>
            <a:endParaRPr lang="es-CL" sz="1600" b="1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cias"/>
          <p:cNvSpPr txBox="1"/>
          <p:nvPr/>
        </p:nvSpPr>
        <p:spPr>
          <a:xfrm>
            <a:off x="731520" y="3035808"/>
            <a:ext cx="76809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CL" sz="4000" b="1" dirty="0">
                <a:solidFill>
                  <a:srgbClr val="17375E"/>
                </a:solidFill>
                <a:latin typeface="Calibri"/>
                <a:cs typeface="Calibri"/>
              </a:rPr>
              <a:t>Gracias por su atención</a:t>
            </a:r>
          </a:p>
        </p:txBody>
      </p:sp>
      <p:sp>
        <p:nvSpPr>
          <p:cNvPr id="3" name="Regla"/>
          <p:cNvSpPr/>
          <p:nvPr/>
        </p:nvSpPr>
        <p:spPr>
          <a:xfrm>
            <a:off x="4160520" y="3950208"/>
            <a:ext cx="822960" cy="18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" name="Autoria"/>
          <p:cNvSpPr txBox="1"/>
          <p:nvPr/>
        </p:nvSpPr>
        <p:spPr>
          <a:xfrm>
            <a:off x="731520" y="5413248"/>
            <a:ext cx="7680960" cy="8046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</a:p>
          <a:p>
            <a:pPr algn="ctr">
              <a:spcBef>
                <a:spcPts val="3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Magíster en Sistemas de Gestión Integral de la Calidad · Universidad de La Frontera</a:t>
            </a:r>
          </a:p>
          <a:p>
            <a:pPr algn="ctr">
              <a:spcBef>
                <a:spcPts val="300"/>
              </a:spcBef>
              <a:buNone/>
            </a:pPr>
            <a:r>
              <a:rPr lang="es-CL" sz="1000" dirty="0">
                <a:solidFill>
                  <a:srgbClr val="6B6B6B"/>
                </a:solidFill>
                <a:latin typeface="Calibri"/>
                <a:cs typeface="Calibri"/>
              </a:rPr>
              <a:t>Temuco, 8 de agosto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2671</Words>
  <Application>Microsoft Macintosh PowerPoint</Application>
  <PresentationFormat>Presentación en pantalla (4:3)</PresentationFormat>
  <Paragraphs>278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1_Tema de Office</vt:lpstr>
      <vt:lpstr>Diseño personalizado</vt:lpstr>
      <vt:lpstr>1_Diseño personalizado</vt:lpstr>
      <vt:lpstr>5_Diseño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de Anteproyecto AFE - Bastián Darwit Vera</dc:title>
  <dc:creator>Bastián Darwit Vera</dc:creator>
  <cp:lastModifiedBy>Bastian Ignacio Vera Rivera</cp:lastModifiedBy>
  <cp:revision>56</cp:revision>
  <dcterms:modified xsi:type="dcterms:W3CDTF">2026-08-08T15:20:38Z</dcterms:modified>
</cp:coreProperties>
</file>